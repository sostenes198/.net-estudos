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2433300" cy="6997700"/>
  <p:notesSz cx="12433300" cy="69977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32973" y="2169287"/>
            <a:ext cx="10573703" cy="14695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65947" y="3918712"/>
            <a:ext cx="8707755" cy="1749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Segoe UI Semilight"/>
                <a:cs typeface="Segoe UI Semilight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5"/>
              <a:t>@</a:t>
            </a:r>
            <a:r>
              <a:rPr dirty="0"/>
              <a:t>T</a:t>
            </a:r>
            <a:r>
              <a:rPr dirty="0" spc="5"/>
              <a:t>h</a:t>
            </a:r>
            <a:r>
              <a:rPr dirty="0"/>
              <a:t>eCodeTraveler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435840" cy="1213485"/>
          </a:xfrm>
          <a:custGeom>
            <a:avLst/>
            <a:gdLst/>
            <a:ahLst/>
            <a:cxnLst/>
            <a:rect l="l" t="t" r="r" b="b"/>
            <a:pathLst>
              <a:path w="12435840" h="1213485">
                <a:moveTo>
                  <a:pt x="0" y="1213104"/>
                </a:moveTo>
                <a:lnTo>
                  <a:pt x="12435840" y="1213104"/>
                </a:lnTo>
                <a:lnTo>
                  <a:pt x="12435840" y="0"/>
                </a:lnTo>
                <a:lnTo>
                  <a:pt x="0" y="0"/>
                </a:lnTo>
                <a:lnTo>
                  <a:pt x="0" y="1213104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1213103"/>
            <a:ext cx="12435840" cy="5782310"/>
          </a:xfrm>
          <a:custGeom>
            <a:avLst/>
            <a:gdLst/>
            <a:ahLst/>
            <a:cxnLst/>
            <a:rect l="l" t="t" r="r" b="b"/>
            <a:pathLst>
              <a:path w="12435840" h="5782309">
                <a:moveTo>
                  <a:pt x="0" y="5782056"/>
                </a:moveTo>
                <a:lnTo>
                  <a:pt x="12435840" y="5782056"/>
                </a:lnTo>
                <a:lnTo>
                  <a:pt x="12435840" y="0"/>
                </a:lnTo>
                <a:lnTo>
                  <a:pt x="0" y="0"/>
                </a:lnTo>
                <a:lnTo>
                  <a:pt x="0" y="57820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2125979" y="6522719"/>
            <a:ext cx="405383" cy="3703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hlink"/>
                </a:solidFill>
                <a:latin typeface="Consolas"/>
                <a:cs typeface="Consola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Segoe UI Semilight"/>
                <a:cs typeface="Segoe UI Semilight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5"/>
              <a:t>@</a:t>
            </a:r>
            <a:r>
              <a:rPr dirty="0"/>
              <a:t>T</a:t>
            </a:r>
            <a:r>
              <a:rPr dirty="0" spc="5"/>
              <a:t>h</a:t>
            </a:r>
            <a:r>
              <a:rPr dirty="0"/>
              <a:t>eCodeTraveler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435840" cy="1213485"/>
          </a:xfrm>
          <a:custGeom>
            <a:avLst/>
            <a:gdLst/>
            <a:ahLst/>
            <a:cxnLst/>
            <a:rect l="l" t="t" r="r" b="b"/>
            <a:pathLst>
              <a:path w="12435840" h="1213485">
                <a:moveTo>
                  <a:pt x="0" y="1213104"/>
                </a:moveTo>
                <a:lnTo>
                  <a:pt x="12435840" y="1213104"/>
                </a:lnTo>
                <a:lnTo>
                  <a:pt x="12435840" y="0"/>
                </a:lnTo>
                <a:lnTo>
                  <a:pt x="0" y="0"/>
                </a:lnTo>
                <a:lnTo>
                  <a:pt x="0" y="1213104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1213103"/>
            <a:ext cx="12435840" cy="5782310"/>
          </a:xfrm>
          <a:custGeom>
            <a:avLst/>
            <a:gdLst/>
            <a:ahLst/>
            <a:cxnLst/>
            <a:rect l="l" t="t" r="r" b="b"/>
            <a:pathLst>
              <a:path w="12435840" h="5782309">
                <a:moveTo>
                  <a:pt x="0" y="5782056"/>
                </a:moveTo>
                <a:lnTo>
                  <a:pt x="12435840" y="5782056"/>
                </a:lnTo>
                <a:lnTo>
                  <a:pt x="12435840" y="0"/>
                </a:lnTo>
                <a:lnTo>
                  <a:pt x="0" y="0"/>
                </a:lnTo>
                <a:lnTo>
                  <a:pt x="0" y="57820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2125979" y="6522719"/>
            <a:ext cx="405383" cy="3703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hlink"/>
                </a:solidFill>
                <a:latin typeface="Consolas"/>
                <a:cs typeface="Consola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21982" y="1609471"/>
            <a:ext cx="5411248" cy="46184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406419" y="1609471"/>
            <a:ext cx="5411248" cy="46184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Segoe UI Semilight"/>
                <a:cs typeface="Segoe UI Semilight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5"/>
              <a:t>@</a:t>
            </a:r>
            <a:r>
              <a:rPr dirty="0"/>
              <a:t>T</a:t>
            </a:r>
            <a:r>
              <a:rPr dirty="0" spc="5"/>
              <a:t>h</a:t>
            </a:r>
            <a:r>
              <a:rPr dirty="0"/>
              <a:t>eCodeTraveler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hlink"/>
                </a:solidFill>
                <a:latin typeface="Consolas"/>
                <a:cs typeface="Consola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Segoe UI Semilight"/>
                <a:cs typeface="Segoe UI Semilight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5"/>
              <a:t>@</a:t>
            </a:r>
            <a:r>
              <a:rPr dirty="0"/>
              <a:t>T</a:t>
            </a:r>
            <a:r>
              <a:rPr dirty="0" spc="5"/>
              <a:t>h</a:t>
            </a:r>
            <a:r>
              <a:rPr dirty="0"/>
              <a:t>eCodeTraveler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Segoe UI Semilight"/>
                <a:cs typeface="Segoe UI Semilight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5"/>
              <a:t>@</a:t>
            </a:r>
            <a:r>
              <a:rPr dirty="0"/>
              <a:t>T</a:t>
            </a:r>
            <a:r>
              <a:rPr dirty="0" spc="5"/>
              <a:t>h</a:t>
            </a:r>
            <a:r>
              <a:rPr dirty="0"/>
              <a:t>eCodeTraveler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8228" y="1187576"/>
            <a:ext cx="4004945" cy="1031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hlink"/>
                </a:solidFill>
                <a:latin typeface="Consolas"/>
                <a:cs typeface="Consola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00082" y="1344037"/>
            <a:ext cx="7543165" cy="2301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70179" y="6538876"/>
            <a:ext cx="1907539" cy="329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Segoe UI Semilight"/>
                <a:cs typeface="Segoe UI Semilight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5"/>
              <a:t>@</a:t>
            </a:r>
            <a:r>
              <a:rPr dirty="0"/>
              <a:t>T</a:t>
            </a:r>
            <a:r>
              <a:rPr dirty="0" spc="5"/>
              <a:t>h</a:t>
            </a:r>
            <a:r>
              <a:rPr dirty="0"/>
              <a:t>eCodeTraveler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21982" y="6507861"/>
            <a:ext cx="2861119" cy="349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956548" y="6507861"/>
            <a:ext cx="2861119" cy="349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://www.codetraveler.io/NDCOslo-AsyncAwait/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hyperlink" Target="http://www.codetraveler.io/NDCOslo-AsyncAwait/" TargetMode="Externa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hyperlink" Target="http://www.codetraveler.io/NDCOslo-AsyncAwait/" TargetMode="Externa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hyperlink" Target="http://www.codetraveler.io/NDCOslo-AsyncAwait/" TargetMode="Externa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4.png"/><Relationship Id="rId4" Type="http://schemas.openxmlformats.org/officeDocument/2006/relationships/hyperlink" Target="http://www.codetraveler.io/NDCOslo-AsyncAwait/" TargetMode="Externa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hyperlink" Target="http://www.codetraveler.io/NDCOslo-AsyncAwait/" TargetMode="Externa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hyperlink" Target="http://www.codetraveler.io/NDCOslo-AsyncAwait/" TargetMode="Externa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0.png"/><Relationship Id="rId4" Type="http://schemas.openxmlformats.org/officeDocument/2006/relationships/hyperlink" Target="http://www.codetraveler.io/NDCOslo-AsyncAwait/" TargetMode="Externa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2.png"/><Relationship Id="rId3" Type="http://schemas.openxmlformats.org/officeDocument/2006/relationships/image" Target="../media/image30.png"/><Relationship Id="rId4" Type="http://schemas.openxmlformats.org/officeDocument/2006/relationships/hyperlink" Target="http://www.codetraveler.io/NDCOslo-AsyncAwait/" TargetMode="Externa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0.png"/><Relationship Id="rId4" Type="http://schemas.openxmlformats.org/officeDocument/2006/relationships/hyperlink" Target="http://www.codetraveler.io/NDCOslo-AsyncAwait/" TargetMode="Externa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34.png"/><Relationship Id="rId4" Type="http://schemas.openxmlformats.org/officeDocument/2006/relationships/hyperlink" Target="http://www.codetraveler.io/NDCOslo-AsyncAwait/" TargetMode="Externa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codetraveler.io/NDCOslo-AsyncAwait/" TargetMode="External"/><Relationship Id="rId3" Type="http://schemas.openxmlformats.org/officeDocument/2006/relationships/image" Target="../media/image1.png"/><Relationship Id="rId4" Type="http://schemas.openxmlformats.org/officeDocument/2006/relationships/image" Target="../media/image34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34.png"/><Relationship Id="rId4" Type="http://schemas.openxmlformats.org/officeDocument/2006/relationships/hyperlink" Target="http://www.codetraveler.io/NDCOslo-AsyncAwait/" TargetMode="Externa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34.png"/><Relationship Id="rId4" Type="http://schemas.openxmlformats.org/officeDocument/2006/relationships/hyperlink" Target="http://www.codetraveler.io/NDCOslo-AsyncAwait/" TargetMode="Externa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hyperlink" Target="http://www.codetraveler.io/NDCOslo-AsyncAwait/" TargetMode="Externa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hyperlink" Target="http://www.codetraveler.io/NDCOslo-AsyncAwait/" TargetMode="Externa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image" Target="../media/image60.png"/><Relationship Id="rId13" Type="http://schemas.openxmlformats.org/officeDocument/2006/relationships/image" Target="../media/image61.png"/><Relationship Id="rId14" Type="http://schemas.openxmlformats.org/officeDocument/2006/relationships/image" Target="../media/image62.png"/><Relationship Id="rId15" Type="http://schemas.openxmlformats.org/officeDocument/2006/relationships/image" Target="../media/image63.png"/><Relationship Id="rId16" Type="http://schemas.openxmlformats.org/officeDocument/2006/relationships/image" Target="../media/image64.png"/><Relationship Id="rId17" Type="http://schemas.openxmlformats.org/officeDocument/2006/relationships/hyperlink" Target="http://www.codetraveler.io/NDCOslo-AsyncAwait/" TargetMode="Externa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51.png"/><Relationship Id="rId4" Type="http://schemas.openxmlformats.org/officeDocument/2006/relationships/image" Target="../media/image65.png"/><Relationship Id="rId5" Type="http://schemas.openxmlformats.org/officeDocument/2006/relationships/image" Target="../media/image56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hyperlink" Target="http://www.codetraveler.io/NDCOslo-AsyncAwait/" TargetMode="Externa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51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56.png"/><Relationship Id="rId7" Type="http://schemas.openxmlformats.org/officeDocument/2006/relationships/image" Target="../media/image66.png"/><Relationship Id="rId8" Type="http://schemas.openxmlformats.org/officeDocument/2006/relationships/image" Target="../media/image73.png"/><Relationship Id="rId9" Type="http://schemas.openxmlformats.org/officeDocument/2006/relationships/image" Target="../media/image74.png"/><Relationship Id="rId10" Type="http://schemas.openxmlformats.org/officeDocument/2006/relationships/image" Target="../media/image69.png"/><Relationship Id="rId11" Type="http://schemas.openxmlformats.org/officeDocument/2006/relationships/image" Target="../media/image75.png"/><Relationship Id="rId12" Type="http://schemas.openxmlformats.org/officeDocument/2006/relationships/hyperlink" Target="http://www.codetraveler.io/NDCOslo-AsyncAwait/" TargetMode="Externa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51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Relationship Id="rId8" Type="http://schemas.openxmlformats.org/officeDocument/2006/relationships/image" Target="../media/image80.png"/><Relationship Id="rId9" Type="http://schemas.openxmlformats.org/officeDocument/2006/relationships/image" Target="../media/image81.png"/><Relationship Id="rId10" Type="http://schemas.openxmlformats.org/officeDocument/2006/relationships/image" Target="../media/image82.png"/><Relationship Id="rId11" Type="http://schemas.openxmlformats.org/officeDocument/2006/relationships/image" Target="../media/image83.png"/><Relationship Id="rId12" Type="http://schemas.openxmlformats.org/officeDocument/2006/relationships/image" Target="../media/image84.png"/><Relationship Id="rId13" Type="http://schemas.openxmlformats.org/officeDocument/2006/relationships/image" Target="../media/image85.png"/><Relationship Id="rId14" Type="http://schemas.openxmlformats.org/officeDocument/2006/relationships/image" Target="../media/image86.png"/><Relationship Id="rId15" Type="http://schemas.openxmlformats.org/officeDocument/2006/relationships/image" Target="../media/image87.png"/><Relationship Id="rId16" Type="http://schemas.openxmlformats.org/officeDocument/2006/relationships/image" Target="../media/image88.png"/><Relationship Id="rId17" Type="http://schemas.openxmlformats.org/officeDocument/2006/relationships/image" Target="../media/image89.png"/><Relationship Id="rId18" Type="http://schemas.openxmlformats.org/officeDocument/2006/relationships/image" Target="../media/image90.png"/><Relationship Id="rId19" Type="http://schemas.openxmlformats.org/officeDocument/2006/relationships/hyperlink" Target="http://www.codetraveler.io/NDCOslo-AsyncAwait/" TargetMode="Externa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51.png"/><Relationship Id="rId4" Type="http://schemas.openxmlformats.org/officeDocument/2006/relationships/image" Target="../media/image91.png"/><Relationship Id="rId5" Type="http://schemas.openxmlformats.org/officeDocument/2006/relationships/image" Target="../media/image92.png"/><Relationship Id="rId6" Type="http://schemas.openxmlformats.org/officeDocument/2006/relationships/image" Target="../media/image93.png"/><Relationship Id="rId7" Type="http://schemas.openxmlformats.org/officeDocument/2006/relationships/image" Target="../media/image94.png"/><Relationship Id="rId8" Type="http://schemas.openxmlformats.org/officeDocument/2006/relationships/image" Target="../media/image95.png"/><Relationship Id="rId9" Type="http://schemas.openxmlformats.org/officeDocument/2006/relationships/hyperlink" Target="http://www.codetraveler.io/NDCOslo-AsyncAwait/" TargetMode="Externa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51.png"/><Relationship Id="rId4" Type="http://schemas.openxmlformats.org/officeDocument/2006/relationships/image" Target="../media/image96.png"/><Relationship Id="rId5" Type="http://schemas.openxmlformats.org/officeDocument/2006/relationships/image" Target="../media/image97.png"/><Relationship Id="rId6" Type="http://schemas.openxmlformats.org/officeDocument/2006/relationships/image" Target="../media/image98.png"/><Relationship Id="rId7" Type="http://schemas.openxmlformats.org/officeDocument/2006/relationships/image" Target="../media/image99.png"/><Relationship Id="rId8" Type="http://schemas.openxmlformats.org/officeDocument/2006/relationships/image" Target="../media/image100.png"/><Relationship Id="rId9" Type="http://schemas.openxmlformats.org/officeDocument/2006/relationships/image" Target="../media/image101.png"/><Relationship Id="rId10" Type="http://schemas.openxmlformats.org/officeDocument/2006/relationships/image" Target="../media/image69.png"/><Relationship Id="rId11" Type="http://schemas.openxmlformats.org/officeDocument/2006/relationships/image" Target="../media/image102.png"/><Relationship Id="rId12" Type="http://schemas.openxmlformats.org/officeDocument/2006/relationships/hyperlink" Target="http://www.codetraveler.io/NDCOslo-AsyncAwait/" TargetMode="Externa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103.png"/><Relationship Id="rId4" Type="http://schemas.openxmlformats.org/officeDocument/2006/relationships/image" Target="../media/image104.png"/><Relationship Id="rId5" Type="http://schemas.openxmlformats.org/officeDocument/2006/relationships/image" Target="../media/image105.png"/><Relationship Id="rId6" Type="http://schemas.openxmlformats.org/officeDocument/2006/relationships/image" Target="../media/image106.png"/><Relationship Id="rId7" Type="http://schemas.openxmlformats.org/officeDocument/2006/relationships/image" Target="../media/image107.png"/><Relationship Id="rId8" Type="http://schemas.openxmlformats.org/officeDocument/2006/relationships/hyperlink" Target="http://www.codetraveler.io/NDCOslo-AsyncAwait/" TargetMode="Externa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108.png"/><Relationship Id="rId4" Type="http://schemas.openxmlformats.org/officeDocument/2006/relationships/image" Target="../media/image109.png"/><Relationship Id="rId5" Type="http://schemas.openxmlformats.org/officeDocument/2006/relationships/image" Target="../media/image110.png"/><Relationship Id="rId6" Type="http://schemas.openxmlformats.org/officeDocument/2006/relationships/image" Target="../media/image106.png"/><Relationship Id="rId7" Type="http://schemas.openxmlformats.org/officeDocument/2006/relationships/image" Target="../media/image111.png"/><Relationship Id="rId8" Type="http://schemas.openxmlformats.org/officeDocument/2006/relationships/hyperlink" Target="http://www.codetraveler.io/NDCOslo-AsyncAwait/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435840" cy="6995159"/>
          </a:xfrm>
          <a:custGeom>
            <a:avLst/>
            <a:gdLst/>
            <a:ahLst/>
            <a:cxnLst/>
            <a:rect l="l" t="t" r="r" b="b"/>
            <a:pathLst>
              <a:path w="12435840" h="6995159">
                <a:moveTo>
                  <a:pt x="0" y="6995159"/>
                </a:moveTo>
                <a:lnTo>
                  <a:pt x="12435840" y="6995159"/>
                </a:lnTo>
                <a:lnTo>
                  <a:pt x="12435840" y="0"/>
                </a:lnTo>
                <a:lnTo>
                  <a:pt x="0" y="0"/>
                </a:lnTo>
                <a:lnTo>
                  <a:pt x="0" y="6995159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61537" y="528710"/>
            <a:ext cx="1048385" cy="201930"/>
          </a:xfrm>
          <a:custGeom>
            <a:avLst/>
            <a:gdLst/>
            <a:ahLst/>
            <a:cxnLst/>
            <a:rect l="l" t="t" r="r" b="b"/>
            <a:pathLst>
              <a:path w="1048385" h="201929">
                <a:moveTo>
                  <a:pt x="46002" y="13757"/>
                </a:moveTo>
                <a:lnTo>
                  <a:pt x="0" y="13757"/>
                </a:lnTo>
                <a:lnTo>
                  <a:pt x="0" y="199010"/>
                </a:lnTo>
                <a:lnTo>
                  <a:pt x="30347" y="199010"/>
                </a:lnTo>
                <a:lnTo>
                  <a:pt x="30234" y="73483"/>
                </a:lnTo>
                <a:lnTo>
                  <a:pt x="29958" y="66718"/>
                </a:lnTo>
                <a:lnTo>
                  <a:pt x="29512" y="60529"/>
                </a:lnTo>
                <a:lnTo>
                  <a:pt x="29446" y="51357"/>
                </a:lnTo>
                <a:lnTo>
                  <a:pt x="28514" y="47690"/>
                </a:lnTo>
                <a:lnTo>
                  <a:pt x="59405" y="47690"/>
                </a:lnTo>
                <a:lnTo>
                  <a:pt x="46002" y="13757"/>
                </a:lnTo>
                <a:close/>
              </a:path>
              <a:path w="1048385" h="201929">
                <a:moveTo>
                  <a:pt x="59405" y="47690"/>
                </a:moveTo>
                <a:lnTo>
                  <a:pt x="29446" y="47690"/>
                </a:lnTo>
                <a:lnTo>
                  <a:pt x="31279" y="55025"/>
                </a:lnTo>
                <a:lnTo>
                  <a:pt x="33112" y="60529"/>
                </a:lnTo>
                <a:lnTo>
                  <a:pt x="34043" y="64196"/>
                </a:lnTo>
                <a:lnTo>
                  <a:pt x="89272" y="199010"/>
                </a:lnTo>
                <a:lnTo>
                  <a:pt x="110425" y="199010"/>
                </a:lnTo>
                <a:lnTo>
                  <a:pt x="128588" y="154071"/>
                </a:lnTo>
                <a:lnTo>
                  <a:pt x="100299" y="154071"/>
                </a:lnTo>
                <a:lnTo>
                  <a:pt x="99398" y="148568"/>
                </a:lnTo>
                <a:lnTo>
                  <a:pt x="96633" y="140316"/>
                </a:lnTo>
                <a:lnTo>
                  <a:pt x="92005" y="130229"/>
                </a:lnTo>
                <a:lnTo>
                  <a:pt x="59405" y="47690"/>
                </a:lnTo>
                <a:close/>
              </a:path>
              <a:path w="1048385" h="201929">
                <a:moveTo>
                  <a:pt x="200629" y="47690"/>
                </a:moveTo>
                <a:lnTo>
                  <a:pt x="170250" y="47690"/>
                </a:lnTo>
                <a:lnTo>
                  <a:pt x="169711" y="57634"/>
                </a:lnTo>
                <a:lnTo>
                  <a:pt x="169435" y="66719"/>
                </a:lnTo>
                <a:lnTo>
                  <a:pt x="169318" y="199010"/>
                </a:lnTo>
                <a:lnTo>
                  <a:pt x="200629" y="199010"/>
                </a:lnTo>
                <a:lnTo>
                  <a:pt x="200629" y="47690"/>
                </a:lnTo>
                <a:close/>
              </a:path>
              <a:path w="1048385" h="201929">
                <a:moveTo>
                  <a:pt x="200629" y="13757"/>
                </a:moveTo>
                <a:lnTo>
                  <a:pt x="157359" y="13757"/>
                </a:lnTo>
                <a:lnTo>
                  <a:pt x="109493" y="130229"/>
                </a:lnTo>
                <a:lnTo>
                  <a:pt x="101230" y="154071"/>
                </a:lnTo>
                <a:lnTo>
                  <a:pt x="128588" y="154071"/>
                </a:lnTo>
                <a:lnTo>
                  <a:pt x="165653" y="62364"/>
                </a:lnTo>
                <a:lnTo>
                  <a:pt x="167486" y="59612"/>
                </a:lnTo>
                <a:lnTo>
                  <a:pt x="168417" y="53193"/>
                </a:lnTo>
                <a:lnTo>
                  <a:pt x="170250" y="47690"/>
                </a:lnTo>
                <a:lnTo>
                  <a:pt x="200629" y="47690"/>
                </a:lnTo>
                <a:lnTo>
                  <a:pt x="200629" y="13757"/>
                </a:lnTo>
                <a:close/>
              </a:path>
              <a:path w="1048385" h="201929">
                <a:moveTo>
                  <a:pt x="262287" y="66032"/>
                </a:moveTo>
                <a:lnTo>
                  <a:pt x="231007" y="66032"/>
                </a:lnTo>
                <a:lnTo>
                  <a:pt x="231007" y="199010"/>
                </a:lnTo>
                <a:lnTo>
                  <a:pt x="262287" y="199010"/>
                </a:lnTo>
                <a:lnTo>
                  <a:pt x="262287" y="66032"/>
                </a:lnTo>
                <a:close/>
              </a:path>
              <a:path w="1048385" h="201929">
                <a:moveTo>
                  <a:pt x="252160" y="10089"/>
                </a:moveTo>
                <a:lnTo>
                  <a:pt x="242034" y="10089"/>
                </a:lnTo>
                <a:lnTo>
                  <a:pt x="237437" y="11922"/>
                </a:lnTo>
                <a:lnTo>
                  <a:pt x="233741" y="15593"/>
                </a:lnTo>
                <a:lnTo>
                  <a:pt x="230075" y="18341"/>
                </a:lnTo>
                <a:lnTo>
                  <a:pt x="228243" y="22928"/>
                </a:lnTo>
                <a:lnTo>
                  <a:pt x="228243" y="33015"/>
                </a:lnTo>
                <a:lnTo>
                  <a:pt x="230075" y="37603"/>
                </a:lnTo>
                <a:lnTo>
                  <a:pt x="233741" y="41270"/>
                </a:lnTo>
                <a:lnTo>
                  <a:pt x="237437" y="44022"/>
                </a:lnTo>
                <a:lnTo>
                  <a:pt x="242034" y="45854"/>
                </a:lnTo>
                <a:lnTo>
                  <a:pt x="252160" y="45854"/>
                </a:lnTo>
                <a:lnTo>
                  <a:pt x="256758" y="44022"/>
                </a:lnTo>
                <a:lnTo>
                  <a:pt x="260454" y="41270"/>
                </a:lnTo>
                <a:lnTo>
                  <a:pt x="264119" y="37603"/>
                </a:lnTo>
                <a:lnTo>
                  <a:pt x="265952" y="33016"/>
                </a:lnTo>
                <a:lnTo>
                  <a:pt x="265952" y="22928"/>
                </a:lnTo>
                <a:lnTo>
                  <a:pt x="264119" y="19261"/>
                </a:lnTo>
                <a:lnTo>
                  <a:pt x="256758" y="11922"/>
                </a:lnTo>
                <a:lnTo>
                  <a:pt x="252160" y="10089"/>
                </a:lnTo>
                <a:close/>
              </a:path>
              <a:path w="1048385" h="201929">
                <a:moveTo>
                  <a:pt x="367214" y="63280"/>
                </a:moveTo>
                <a:lnTo>
                  <a:pt x="326120" y="68310"/>
                </a:lnTo>
                <a:lnTo>
                  <a:pt x="292665" y="98129"/>
                </a:lnTo>
                <a:lnTo>
                  <a:pt x="284372" y="135729"/>
                </a:lnTo>
                <a:lnTo>
                  <a:pt x="284890" y="145029"/>
                </a:lnTo>
                <a:lnTo>
                  <a:pt x="302446" y="183305"/>
                </a:lnTo>
                <a:lnTo>
                  <a:pt x="340388" y="201246"/>
                </a:lnTo>
                <a:lnTo>
                  <a:pt x="349726" y="201762"/>
                </a:lnTo>
                <a:lnTo>
                  <a:pt x="360410" y="201246"/>
                </a:lnTo>
                <a:lnTo>
                  <a:pt x="370320" y="199698"/>
                </a:lnTo>
                <a:lnTo>
                  <a:pt x="379368" y="197119"/>
                </a:lnTo>
                <a:lnTo>
                  <a:pt x="387466" y="193507"/>
                </a:lnTo>
                <a:lnTo>
                  <a:pt x="388367" y="192591"/>
                </a:lnTo>
                <a:lnTo>
                  <a:pt x="388367" y="176081"/>
                </a:lnTo>
                <a:lnTo>
                  <a:pt x="356156" y="176081"/>
                </a:lnTo>
                <a:lnTo>
                  <a:pt x="347545" y="175393"/>
                </a:lnTo>
                <a:lnTo>
                  <a:pt x="317261" y="142637"/>
                </a:lnTo>
                <a:lnTo>
                  <a:pt x="316583" y="132978"/>
                </a:lnTo>
                <a:lnTo>
                  <a:pt x="317276" y="123707"/>
                </a:lnTo>
                <a:lnTo>
                  <a:pt x="340640" y="91824"/>
                </a:lnTo>
                <a:lnTo>
                  <a:pt x="357088" y="88958"/>
                </a:lnTo>
                <a:lnTo>
                  <a:pt x="388367" y="88958"/>
                </a:lnTo>
                <a:lnTo>
                  <a:pt x="388367" y="69700"/>
                </a:lnTo>
                <a:lnTo>
                  <a:pt x="387466" y="69700"/>
                </a:lnTo>
                <a:lnTo>
                  <a:pt x="383770" y="67864"/>
                </a:lnTo>
                <a:lnTo>
                  <a:pt x="379173" y="66032"/>
                </a:lnTo>
                <a:lnTo>
                  <a:pt x="372743" y="65116"/>
                </a:lnTo>
                <a:lnTo>
                  <a:pt x="367214" y="63280"/>
                </a:lnTo>
                <a:close/>
              </a:path>
              <a:path w="1048385" h="201929">
                <a:moveTo>
                  <a:pt x="388367" y="164162"/>
                </a:moveTo>
                <a:lnTo>
                  <a:pt x="386535" y="165078"/>
                </a:lnTo>
                <a:lnTo>
                  <a:pt x="381937" y="168746"/>
                </a:lnTo>
                <a:lnTo>
                  <a:pt x="377340" y="171497"/>
                </a:lnTo>
                <a:lnTo>
                  <a:pt x="366282" y="175165"/>
                </a:lnTo>
                <a:lnTo>
                  <a:pt x="360753" y="176081"/>
                </a:lnTo>
                <a:lnTo>
                  <a:pt x="388367" y="176081"/>
                </a:lnTo>
                <a:lnTo>
                  <a:pt x="388367" y="164162"/>
                </a:lnTo>
                <a:close/>
              </a:path>
              <a:path w="1048385" h="201929">
                <a:moveTo>
                  <a:pt x="388367" y="88958"/>
                </a:moveTo>
                <a:lnTo>
                  <a:pt x="357088" y="88958"/>
                </a:lnTo>
                <a:lnTo>
                  <a:pt x="364668" y="89631"/>
                </a:lnTo>
                <a:lnTo>
                  <a:pt x="372161" y="91594"/>
                </a:lnTo>
                <a:lnTo>
                  <a:pt x="379479" y="94761"/>
                </a:lnTo>
                <a:lnTo>
                  <a:pt x="386534" y="99045"/>
                </a:lnTo>
                <a:lnTo>
                  <a:pt x="388367" y="99964"/>
                </a:lnTo>
                <a:lnTo>
                  <a:pt x="388367" y="88958"/>
                </a:lnTo>
                <a:close/>
              </a:path>
              <a:path w="1048385" h="201929">
                <a:moveTo>
                  <a:pt x="442663" y="66032"/>
                </a:moveTo>
                <a:lnTo>
                  <a:pt x="411384" y="66032"/>
                </a:lnTo>
                <a:lnTo>
                  <a:pt x="411384" y="199010"/>
                </a:lnTo>
                <a:lnTo>
                  <a:pt x="442663" y="199010"/>
                </a:lnTo>
                <a:lnTo>
                  <a:pt x="442663" y="131145"/>
                </a:lnTo>
                <a:lnTo>
                  <a:pt x="443182" y="122705"/>
                </a:lnTo>
                <a:lnTo>
                  <a:pt x="462916" y="91710"/>
                </a:lnTo>
                <a:lnTo>
                  <a:pt x="488697" y="91710"/>
                </a:lnTo>
                <a:lnTo>
                  <a:pt x="488697" y="88958"/>
                </a:lnTo>
                <a:lnTo>
                  <a:pt x="442663" y="88958"/>
                </a:lnTo>
                <a:lnTo>
                  <a:pt x="442663" y="66032"/>
                </a:lnTo>
                <a:close/>
              </a:path>
              <a:path w="1048385" h="201929">
                <a:moveTo>
                  <a:pt x="488697" y="91710"/>
                </a:moveTo>
                <a:lnTo>
                  <a:pt x="473974" y="91710"/>
                </a:lnTo>
                <a:lnTo>
                  <a:pt x="476738" y="92626"/>
                </a:lnTo>
                <a:lnTo>
                  <a:pt x="484100" y="94461"/>
                </a:lnTo>
                <a:lnTo>
                  <a:pt x="487765" y="96297"/>
                </a:lnTo>
                <a:lnTo>
                  <a:pt x="488697" y="97213"/>
                </a:lnTo>
                <a:lnTo>
                  <a:pt x="488697" y="91710"/>
                </a:lnTo>
                <a:close/>
              </a:path>
              <a:path w="1048385" h="201929">
                <a:moveTo>
                  <a:pt x="485933" y="64197"/>
                </a:moveTo>
                <a:lnTo>
                  <a:pt x="468445" y="64197"/>
                </a:lnTo>
                <a:lnTo>
                  <a:pt x="461083" y="66032"/>
                </a:lnTo>
                <a:lnTo>
                  <a:pt x="455554" y="71535"/>
                </a:lnTo>
                <a:lnTo>
                  <a:pt x="450025" y="76119"/>
                </a:lnTo>
                <a:lnTo>
                  <a:pt x="446360" y="81622"/>
                </a:lnTo>
                <a:lnTo>
                  <a:pt x="443595" y="88958"/>
                </a:lnTo>
                <a:lnTo>
                  <a:pt x="488697" y="88958"/>
                </a:lnTo>
                <a:lnTo>
                  <a:pt x="488697" y="66032"/>
                </a:lnTo>
                <a:lnTo>
                  <a:pt x="485933" y="64197"/>
                </a:lnTo>
                <a:close/>
              </a:path>
              <a:path w="1048385" h="201929">
                <a:moveTo>
                  <a:pt x="561413" y="63280"/>
                </a:moveTo>
                <a:lnTo>
                  <a:pt x="519475" y="73727"/>
                </a:lnTo>
                <a:lnTo>
                  <a:pt x="495255" y="104321"/>
                </a:lnTo>
                <a:lnTo>
                  <a:pt x="490530" y="133897"/>
                </a:lnTo>
                <a:lnTo>
                  <a:pt x="491726" y="148857"/>
                </a:lnTo>
                <a:lnTo>
                  <a:pt x="508950" y="183420"/>
                </a:lnTo>
                <a:lnTo>
                  <a:pt x="543235" y="200573"/>
                </a:lnTo>
                <a:lnTo>
                  <a:pt x="557717" y="201762"/>
                </a:lnTo>
                <a:lnTo>
                  <a:pt x="572883" y="200558"/>
                </a:lnTo>
                <a:lnTo>
                  <a:pt x="586492" y="196947"/>
                </a:lnTo>
                <a:lnTo>
                  <a:pt x="598371" y="190928"/>
                </a:lnTo>
                <a:lnTo>
                  <a:pt x="608348" y="182501"/>
                </a:lnTo>
                <a:lnTo>
                  <a:pt x="613531" y="176081"/>
                </a:lnTo>
                <a:lnTo>
                  <a:pt x="559550" y="176081"/>
                </a:lnTo>
                <a:lnTo>
                  <a:pt x="551633" y="175394"/>
                </a:lnTo>
                <a:lnTo>
                  <a:pt x="523419" y="142766"/>
                </a:lnTo>
                <a:lnTo>
                  <a:pt x="522805" y="133897"/>
                </a:lnTo>
                <a:lnTo>
                  <a:pt x="522868" y="131145"/>
                </a:lnTo>
                <a:lnTo>
                  <a:pt x="538198" y="95149"/>
                </a:lnTo>
                <a:lnTo>
                  <a:pt x="559550" y="88958"/>
                </a:lnTo>
                <a:lnTo>
                  <a:pt x="615717" y="88958"/>
                </a:lnTo>
                <a:lnTo>
                  <a:pt x="610181" y="81622"/>
                </a:lnTo>
                <a:lnTo>
                  <a:pt x="600359" y="73340"/>
                </a:lnTo>
                <a:lnTo>
                  <a:pt x="588895" y="67637"/>
                </a:lnTo>
                <a:lnTo>
                  <a:pt x="575882" y="64341"/>
                </a:lnTo>
                <a:lnTo>
                  <a:pt x="561413" y="63280"/>
                </a:lnTo>
                <a:close/>
              </a:path>
              <a:path w="1048385" h="201929">
                <a:moveTo>
                  <a:pt x="615717" y="88958"/>
                </a:moveTo>
                <a:lnTo>
                  <a:pt x="559550" y="88958"/>
                </a:lnTo>
                <a:lnTo>
                  <a:pt x="567339" y="89646"/>
                </a:lnTo>
                <a:lnTo>
                  <a:pt x="574176" y="91709"/>
                </a:lnTo>
                <a:lnTo>
                  <a:pt x="594476" y="131145"/>
                </a:lnTo>
                <a:lnTo>
                  <a:pt x="594433" y="133897"/>
                </a:lnTo>
                <a:lnTo>
                  <a:pt x="581049" y="169892"/>
                </a:lnTo>
                <a:lnTo>
                  <a:pt x="559550" y="176081"/>
                </a:lnTo>
                <a:lnTo>
                  <a:pt x="613531" y="176081"/>
                </a:lnTo>
                <a:lnTo>
                  <a:pt x="616805" y="172026"/>
                </a:lnTo>
                <a:lnTo>
                  <a:pt x="622842" y="159919"/>
                </a:lnTo>
                <a:lnTo>
                  <a:pt x="626462" y="146263"/>
                </a:lnTo>
                <a:lnTo>
                  <a:pt x="627668" y="131145"/>
                </a:lnTo>
                <a:lnTo>
                  <a:pt x="626491" y="116185"/>
                </a:lnTo>
                <a:lnTo>
                  <a:pt x="623071" y="102945"/>
                </a:lnTo>
                <a:lnTo>
                  <a:pt x="617578" y="91424"/>
                </a:lnTo>
                <a:lnTo>
                  <a:pt x="615717" y="88958"/>
                </a:lnTo>
                <a:close/>
              </a:path>
              <a:path w="1048385" h="201929">
                <a:moveTo>
                  <a:pt x="642392" y="164162"/>
                </a:moveTo>
                <a:lnTo>
                  <a:pt x="642392" y="194423"/>
                </a:lnTo>
                <a:lnTo>
                  <a:pt x="643324" y="194423"/>
                </a:lnTo>
                <a:lnTo>
                  <a:pt x="646989" y="197175"/>
                </a:lnTo>
                <a:lnTo>
                  <a:pt x="653450" y="198091"/>
                </a:lnTo>
                <a:lnTo>
                  <a:pt x="659880" y="199927"/>
                </a:lnTo>
                <a:lnTo>
                  <a:pt x="672770" y="201762"/>
                </a:lnTo>
                <a:lnTo>
                  <a:pt x="716009" y="190756"/>
                </a:lnTo>
                <a:lnTo>
                  <a:pt x="727166" y="177001"/>
                </a:lnTo>
                <a:lnTo>
                  <a:pt x="673660" y="176999"/>
                </a:lnTo>
                <a:lnTo>
                  <a:pt x="668173" y="176081"/>
                </a:lnTo>
                <a:lnTo>
                  <a:pt x="661712" y="174249"/>
                </a:lnTo>
                <a:lnTo>
                  <a:pt x="648822" y="168746"/>
                </a:lnTo>
                <a:lnTo>
                  <a:pt x="644224" y="165078"/>
                </a:lnTo>
                <a:lnTo>
                  <a:pt x="642392" y="164162"/>
                </a:lnTo>
                <a:close/>
              </a:path>
              <a:path w="1048385" h="201929">
                <a:moveTo>
                  <a:pt x="703149" y="63280"/>
                </a:moveTo>
                <a:lnTo>
                  <a:pt x="664534" y="69470"/>
                </a:lnTo>
                <a:lnTo>
                  <a:pt x="642392" y="103632"/>
                </a:lnTo>
                <a:lnTo>
                  <a:pt x="642392" y="110052"/>
                </a:lnTo>
                <a:lnTo>
                  <a:pt x="643324" y="115555"/>
                </a:lnTo>
                <a:lnTo>
                  <a:pt x="645156" y="120139"/>
                </a:lnTo>
                <a:lnTo>
                  <a:pt x="650685" y="129310"/>
                </a:lnTo>
                <a:lnTo>
                  <a:pt x="655283" y="132062"/>
                </a:lnTo>
                <a:lnTo>
                  <a:pt x="658948" y="135729"/>
                </a:lnTo>
                <a:lnTo>
                  <a:pt x="665409" y="139400"/>
                </a:lnTo>
                <a:lnTo>
                  <a:pt x="674603" y="143068"/>
                </a:lnTo>
                <a:lnTo>
                  <a:pt x="681033" y="145820"/>
                </a:lnTo>
                <a:lnTo>
                  <a:pt x="693924" y="152239"/>
                </a:lnTo>
                <a:lnTo>
                  <a:pt x="695787" y="154072"/>
                </a:lnTo>
                <a:lnTo>
                  <a:pt x="697620" y="156823"/>
                </a:lnTo>
                <a:lnTo>
                  <a:pt x="698521" y="158659"/>
                </a:lnTo>
                <a:lnTo>
                  <a:pt x="699453" y="160491"/>
                </a:lnTo>
                <a:lnTo>
                  <a:pt x="699453" y="172414"/>
                </a:lnTo>
                <a:lnTo>
                  <a:pt x="693023" y="177001"/>
                </a:lnTo>
                <a:lnTo>
                  <a:pt x="727168" y="176999"/>
                </a:lnTo>
                <a:lnTo>
                  <a:pt x="729856" y="169089"/>
                </a:lnTo>
                <a:lnTo>
                  <a:pt x="730732" y="160491"/>
                </a:lnTo>
                <a:lnTo>
                  <a:pt x="730732" y="151320"/>
                </a:lnTo>
                <a:lnTo>
                  <a:pt x="696688" y="121058"/>
                </a:lnTo>
                <a:lnTo>
                  <a:pt x="686562" y="117387"/>
                </a:lnTo>
                <a:lnTo>
                  <a:pt x="680132" y="113720"/>
                </a:lnTo>
                <a:lnTo>
                  <a:pt x="678299" y="110968"/>
                </a:lnTo>
                <a:lnTo>
                  <a:pt x="675535" y="109136"/>
                </a:lnTo>
                <a:lnTo>
                  <a:pt x="673671" y="105468"/>
                </a:lnTo>
                <a:lnTo>
                  <a:pt x="673671" y="97213"/>
                </a:lnTo>
                <a:lnTo>
                  <a:pt x="675535" y="94461"/>
                </a:lnTo>
                <a:lnTo>
                  <a:pt x="679200" y="91710"/>
                </a:lnTo>
                <a:lnTo>
                  <a:pt x="681965" y="88958"/>
                </a:lnTo>
                <a:lnTo>
                  <a:pt x="686562" y="88042"/>
                </a:lnTo>
                <a:lnTo>
                  <a:pt x="723370" y="88042"/>
                </a:lnTo>
                <a:lnTo>
                  <a:pt x="723370" y="68784"/>
                </a:lnTo>
                <a:lnTo>
                  <a:pt x="719705" y="66948"/>
                </a:lnTo>
                <a:lnTo>
                  <a:pt x="715105" y="66031"/>
                </a:lnTo>
                <a:lnTo>
                  <a:pt x="708647" y="64197"/>
                </a:lnTo>
                <a:lnTo>
                  <a:pt x="703149" y="63280"/>
                </a:lnTo>
                <a:close/>
              </a:path>
              <a:path w="1048385" h="201929">
                <a:moveTo>
                  <a:pt x="723370" y="88042"/>
                </a:moveTo>
                <a:lnTo>
                  <a:pt x="697620" y="88042"/>
                </a:lnTo>
                <a:lnTo>
                  <a:pt x="708647" y="89877"/>
                </a:lnTo>
                <a:lnTo>
                  <a:pt x="714176" y="91710"/>
                </a:lnTo>
                <a:lnTo>
                  <a:pt x="718773" y="94461"/>
                </a:lnTo>
                <a:lnTo>
                  <a:pt x="722470" y="96297"/>
                </a:lnTo>
                <a:lnTo>
                  <a:pt x="723370" y="97213"/>
                </a:lnTo>
                <a:lnTo>
                  <a:pt x="723370" y="88042"/>
                </a:lnTo>
                <a:close/>
              </a:path>
              <a:path w="1048385" h="201929">
                <a:moveTo>
                  <a:pt x="814506" y="63280"/>
                </a:moveTo>
                <a:lnTo>
                  <a:pt x="773459" y="73727"/>
                </a:lnTo>
                <a:lnTo>
                  <a:pt x="749264" y="104321"/>
                </a:lnTo>
                <a:lnTo>
                  <a:pt x="744555" y="133897"/>
                </a:lnTo>
                <a:lnTo>
                  <a:pt x="745746" y="148857"/>
                </a:lnTo>
                <a:lnTo>
                  <a:pt x="762943" y="183420"/>
                </a:lnTo>
                <a:lnTo>
                  <a:pt x="797259" y="200573"/>
                </a:lnTo>
                <a:lnTo>
                  <a:pt x="811742" y="201762"/>
                </a:lnTo>
                <a:lnTo>
                  <a:pt x="826890" y="200559"/>
                </a:lnTo>
                <a:lnTo>
                  <a:pt x="840489" y="196947"/>
                </a:lnTo>
                <a:lnTo>
                  <a:pt x="852365" y="190928"/>
                </a:lnTo>
                <a:lnTo>
                  <a:pt x="862342" y="182501"/>
                </a:lnTo>
                <a:lnTo>
                  <a:pt x="867438" y="176081"/>
                </a:lnTo>
                <a:lnTo>
                  <a:pt x="813574" y="176081"/>
                </a:lnTo>
                <a:lnTo>
                  <a:pt x="805264" y="175394"/>
                </a:lnTo>
                <a:lnTo>
                  <a:pt x="777440" y="142766"/>
                </a:lnTo>
                <a:lnTo>
                  <a:pt x="776829" y="133897"/>
                </a:lnTo>
                <a:lnTo>
                  <a:pt x="776892" y="131146"/>
                </a:lnTo>
                <a:lnTo>
                  <a:pt x="792092" y="95149"/>
                </a:lnTo>
                <a:lnTo>
                  <a:pt x="813574" y="88958"/>
                </a:lnTo>
                <a:lnTo>
                  <a:pt x="869094" y="88958"/>
                </a:lnTo>
                <a:lnTo>
                  <a:pt x="863273" y="81623"/>
                </a:lnTo>
                <a:lnTo>
                  <a:pt x="853976" y="73340"/>
                </a:lnTo>
                <a:lnTo>
                  <a:pt x="842687" y="67637"/>
                </a:lnTo>
                <a:lnTo>
                  <a:pt x="829499" y="64341"/>
                </a:lnTo>
                <a:lnTo>
                  <a:pt x="814506" y="63280"/>
                </a:lnTo>
                <a:close/>
              </a:path>
              <a:path w="1048385" h="201929">
                <a:moveTo>
                  <a:pt x="869094" y="88958"/>
                </a:moveTo>
                <a:lnTo>
                  <a:pt x="813574" y="88958"/>
                </a:lnTo>
                <a:lnTo>
                  <a:pt x="821359" y="89646"/>
                </a:lnTo>
                <a:lnTo>
                  <a:pt x="828189" y="91709"/>
                </a:lnTo>
                <a:lnTo>
                  <a:pt x="848500" y="131146"/>
                </a:lnTo>
                <a:lnTo>
                  <a:pt x="848455" y="133897"/>
                </a:lnTo>
                <a:lnTo>
                  <a:pt x="834550" y="169892"/>
                </a:lnTo>
                <a:lnTo>
                  <a:pt x="813574" y="176081"/>
                </a:lnTo>
                <a:lnTo>
                  <a:pt x="867438" y="176081"/>
                </a:lnTo>
                <a:lnTo>
                  <a:pt x="870658" y="172027"/>
                </a:lnTo>
                <a:lnTo>
                  <a:pt x="876385" y="159919"/>
                </a:lnTo>
                <a:lnTo>
                  <a:pt x="879696" y="146263"/>
                </a:lnTo>
                <a:lnTo>
                  <a:pt x="880761" y="131146"/>
                </a:lnTo>
                <a:lnTo>
                  <a:pt x="879711" y="116185"/>
                </a:lnTo>
                <a:lnTo>
                  <a:pt x="876502" y="102945"/>
                </a:lnTo>
                <a:lnTo>
                  <a:pt x="871051" y="91424"/>
                </a:lnTo>
                <a:lnTo>
                  <a:pt x="869094" y="88958"/>
                </a:lnTo>
                <a:close/>
              </a:path>
              <a:path w="1048385" h="201929">
                <a:moveTo>
                  <a:pt x="1016067" y="91710"/>
                </a:moveTo>
                <a:lnTo>
                  <a:pt x="984757" y="91710"/>
                </a:lnTo>
                <a:lnTo>
                  <a:pt x="984757" y="159575"/>
                </a:lnTo>
                <a:lnTo>
                  <a:pt x="987188" y="178160"/>
                </a:lnTo>
                <a:lnTo>
                  <a:pt x="994537" y="191330"/>
                </a:lnTo>
                <a:lnTo>
                  <a:pt x="1006890" y="199168"/>
                </a:lnTo>
                <a:lnTo>
                  <a:pt x="1024330" y="201762"/>
                </a:lnTo>
                <a:lnTo>
                  <a:pt x="1032623" y="201762"/>
                </a:lnTo>
                <a:lnTo>
                  <a:pt x="1037220" y="200843"/>
                </a:lnTo>
                <a:lnTo>
                  <a:pt x="1045514" y="198091"/>
                </a:lnTo>
                <a:lnTo>
                  <a:pt x="1047347" y="197175"/>
                </a:lnTo>
                <a:lnTo>
                  <a:pt x="1048278" y="197175"/>
                </a:lnTo>
                <a:lnTo>
                  <a:pt x="1048278" y="176082"/>
                </a:lnTo>
                <a:lnTo>
                  <a:pt x="1028026" y="176082"/>
                </a:lnTo>
                <a:lnTo>
                  <a:pt x="1023429" y="174249"/>
                </a:lnTo>
                <a:lnTo>
                  <a:pt x="1020664" y="171498"/>
                </a:lnTo>
                <a:lnTo>
                  <a:pt x="1017900" y="167830"/>
                </a:lnTo>
                <a:lnTo>
                  <a:pt x="1016067" y="162327"/>
                </a:lnTo>
                <a:lnTo>
                  <a:pt x="1016067" y="91710"/>
                </a:lnTo>
                <a:close/>
              </a:path>
              <a:path w="1048385" h="201929">
                <a:moveTo>
                  <a:pt x="937822" y="91710"/>
                </a:moveTo>
                <a:lnTo>
                  <a:pt x="906543" y="91710"/>
                </a:lnTo>
                <a:lnTo>
                  <a:pt x="906543" y="199011"/>
                </a:lnTo>
                <a:lnTo>
                  <a:pt x="937822" y="199011"/>
                </a:lnTo>
                <a:lnTo>
                  <a:pt x="937822" y="91710"/>
                </a:lnTo>
                <a:close/>
              </a:path>
              <a:path w="1048385" h="201929">
                <a:moveTo>
                  <a:pt x="1048278" y="171498"/>
                </a:moveTo>
                <a:lnTo>
                  <a:pt x="1042749" y="174249"/>
                </a:lnTo>
                <a:lnTo>
                  <a:pt x="1037220" y="176082"/>
                </a:lnTo>
                <a:lnTo>
                  <a:pt x="1048278" y="176082"/>
                </a:lnTo>
                <a:lnTo>
                  <a:pt x="1048278" y="171498"/>
                </a:lnTo>
                <a:close/>
              </a:path>
              <a:path w="1048385" h="201929">
                <a:moveTo>
                  <a:pt x="1048278" y="66032"/>
                </a:moveTo>
                <a:lnTo>
                  <a:pt x="884458" y="66032"/>
                </a:lnTo>
                <a:lnTo>
                  <a:pt x="884458" y="91710"/>
                </a:lnTo>
                <a:lnTo>
                  <a:pt x="1048278" y="91710"/>
                </a:lnTo>
                <a:lnTo>
                  <a:pt x="1048278" y="66032"/>
                </a:lnTo>
                <a:close/>
              </a:path>
              <a:path w="1048385" h="201929">
                <a:moveTo>
                  <a:pt x="961740" y="0"/>
                </a:moveTo>
                <a:lnTo>
                  <a:pt x="922167" y="10090"/>
                </a:lnTo>
                <a:lnTo>
                  <a:pt x="906543" y="38519"/>
                </a:lnTo>
                <a:lnTo>
                  <a:pt x="906543" y="66032"/>
                </a:lnTo>
                <a:lnTo>
                  <a:pt x="937822" y="66032"/>
                </a:lnTo>
                <a:lnTo>
                  <a:pt x="937822" y="42187"/>
                </a:lnTo>
                <a:lnTo>
                  <a:pt x="939655" y="35767"/>
                </a:lnTo>
                <a:lnTo>
                  <a:pt x="943351" y="32100"/>
                </a:lnTo>
                <a:lnTo>
                  <a:pt x="946116" y="27513"/>
                </a:lnTo>
                <a:lnTo>
                  <a:pt x="951645" y="25680"/>
                </a:lnTo>
                <a:lnTo>
                  <a:pt x="972798" y="25680"/>
                </a:lnTo>
                <a:lnTo>
                  <a:pt x="972798" y="2751"/>
                </a:lnTo>
                <a:lnTo>
                  <a:pt x="971866" y="2751"/>
                </a:lnTo>
                <a:lnTo>
                  <a:pt x="967269" y="919"/>
                </a:lnTo>
                <a:lnTo>
                  <a:pt x="961740" y="0"/>
                </a:lnTo>
                <a:close/>
              </a:path>
              <a:path w="1048385" h="201929">
                <a:moveTo>
                  <a:pt x="1016067" y="26596"/>
                </a:moveTo>
                <a:lnTo>
                  <a:pt x="1015135" y="26596"/>
                </a:lnTo>
                <a:lnTo>
                  <a:pt x="985689" y="35767"/>
                </a:lnTo>
                <a:lnTo>
                  <a:pt x="984757" y="36684"/>
                </a:lnTo>
                <a:lnTo>
                  <a:pt x="984757" y="66032"/>
                </a:lnTo>
                <a:lnTo>
                  <a:pt x="1016067" y="66032"/>
                </a:lnTo>
                <a:lnTo>
                  <a:pt x="1016067" y="26596"/>
                </a:lnTo>
                <a:close/>
              </a:path>
              <a:path w="1048385" h="201929">
                <a:moveTo>
                  <a:pt x="972798" y="25680"/>
                </a:moveTo>
                <a:lnTo>
                  <a:pt x="961740" y="25680"/>
                </a:lnTo>
                <a:lnTo>
                  <a:pt x="966368" y="26596"/>
                </a:lnTo>
                <a:lnTo>
                  <a:pt x="970965" y="29348"/>
                </a:lnTo>
                <a:lnTo>
                  <a:pt x="972798" y="29348"/>
                </a:lnTo>
                <a:lnTo>
                  <a:pt x="972798" y="256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59327" y="481022"/>
            <a:ext cx="309238" cy="3081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046719" y="1287779"/>
            <a:ext cx="3857244" cy="4114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70179" y="6556958"/>
            <a:ext cx="190753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0">
                <a:solidFill>
                  <a:srgbClr val="FFFFFF"/>
                </a:solidFill>
                <a:latin typeface="Segoe UI Semilight"/>
                <a:cs typeface="Segoe UI Semilight"/>
              </a:rPr>
              <a:t>@</a:t>
            </a:r>
            <a:r>
              <a:rPr dirty="0" sz="1800" b="0">
                <a:solidFill>
                  <a:srgbClr val="FFFFFF"/>
                </a:solidFill>
                <a:latin typeface="Segoe UI Semilight"/>
                <a:cs typeface="Segoe UI Semilight"/>
              </a:rPr>
              <a:t>T</a:t>
            </a:r>
            <a:r>
              <a:rPr dirty="0" sz="1800" spc="5" b="0">
                <a:solidFill>
                  <a:srgbClr val="FFFFFF"/>
                </a:solidFill>
                <a:latin typeface="Segoe UI Semilight"/>
                <a:cs typeface="Segoe UI Semilight"/>
              </a:rPr>
              <a:t>h</a:t>
            </a:r>
            <a:r>
              <a:rPr dirty="0" sz="1800" b="0">
                <a:solidFill>
                  <a:srgbClr val="FFFFFF"/>
                </a:solidFill>
                <a:latin typeface="Segoe UI Semilight"/>
                <a:cs typeface="Segoe UI Semilight"/>
              </a:rPr>
              <a:t>eCodeTraveler</a:t>
            </a:r>
            <a:endParaRPr sz="1800">
              <a:latin typeface="Segoe UI Semilight"/>
              <a:cs typeface="Segoe UI Semi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38492" y="6556958"/>
            <a:ext cx="50279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0">
                <a:solidFill>
                  <a:srgbClr val="FFFFFF"/>
                </a:solidFill>
                <a:latin typeface="Segoe UI Semilight"/>
                <a:cs typeface="Segoe UI Semilight"/>
              </a:rPr>
              <a:t>https://</a:t>
            </a:r>
            <a:r>
              <a:rPr dirty="0" sz="1800" spc="-5" b="0">
                <a:solidFill>
                  <a:srgbClr val="FFFFFF"/>
                </a:solidFill>
                <a:latin typeface="Segoe UI Semilight"/>
                <a:cs typeface="Segoe UI Semilight"/>
                <a:hlinkClick r:id="rId4"/>
              </a:rPr>
              <a:t>www.codetraveler.io/NDCOslo-AsyncAwait/</a:t>
            </a:r>
            <a:endParaRPr sz="1800">
              <a:latin typeface="Segoe UI Semilight"/>
              <a:cs typeface="Segoe UI Semiligh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125979" y="6522719"/>
            <a:ext cx="405383" cy="3703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0773" y="2295905"/>
            <a:ext cx="7389063" cy="5295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71258" y="2883661"/>
            <a:ext cx="1825536" cy="4207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479420" y="2942335"/>
            <a:ext cx="1380490" cy="35979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76250" y="4111751"/>
            <a:ext cx="2913126" cy="30619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62406" y="4532375"/>
            <a:ext cx="2178685" cy="24701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6217920" cy="6995159"/>
          </a:xfrm>
          <a:custGeom>
            <a:avLst/>
            <a:gdLst/>
            <a:ahLst/>
            <a:cxnLst/>
            <a:rect l="l" t="t" r="r" b="b"/>
            <a:pathLst>
              <a:path w="6217920" h="6995159">
                <a:moveTo>
                  <a:pt x="0" y="6995159"/>
                </a:moveTo>
                <a:lnTo>
                  <a:pt x="6217920" y="6995159"/>
                </a:lnTo>
                <a:lnTo>
                  <a:pt x="6217920" y="0"/>
                </a:lnTo>
                <a:lnTo>
                  <a:pt x="0" y="0"/>
                </a:lnTo>
                <a:lnTo>
                  <a:pt x="0" y="6995159"/>
                </a:lnTo>
                <a:close/>
              </a:path>
            </a:pathLst>
          </a:custGeom>
          <a:solidFill>
            <a:srgbClr val="FFB8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217920" y="0"/>
            <a:ext cx="6217920" cy="6995159"/>
          </a:xfrm>
          <a:custGeom>
            <a:avLst/>
            <a:gdLst/>
            <a:ahLst/>
            <a:cxnLst/>
            <a:rect l="l" t="t" r="r" b="b"/>
            <a:pathLst>
              <a:path w="6217920" h="6995159">
                <a:moveTo>
                  <a:pt x="0" y="6995159"/>
                </a:moveTo>
                <a:lnTo>
                  <a:pt x="6217920" y="6995159"/>
                </a:lnTo>
                <a:lnTo>
                  <a:pt x="6217920" y="0"/>
                </a:lnTo>
                <a:lnTo>
                  <a:pt x="0" y="0"/>
                </a:lnTo>
                <a:lnTo>
                  <a:pt x="0" y="6995159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353300" y="1344167"/>
            <a:ext cx="4195572" cy="42016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03097" y="2320543"/>
            <a:ext cx="1707083" cy="6879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48183" y="3308095"/>
            <a:ext cx="3656203" cy="8916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435840" cy="6995159"/>
          </a:xfrm>
          <a:custGeom>
            <a:avLst/>
            <a:gdLst/>
            <a:ahLst/>
            <a:cxnLst/>
            <a:rect l="l" t="t" r="r" b="b"/>
            <a:pathLst>
              <a:path w="12435840" h="6995159">
                <a:moveTo>
                  <a:pt x="0" y="6995159"/>
                </a:moveTo>
                <a:lnTo>
                  <a:pt x="12435840" y="6995159"/>
                </a:lnTo>
                <a:lnTo>
                  <a:pt x="12435840" y="0"/>
                </a:lnTo>
                <a:lnTo>
                  <a:pt x="0" y="0"/>
                </a:lnTo>
                <a:lnTo>
                  <a:pt x="0" y="6995159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25979" y="6522719"/>
            <a:ext cx="405383" cy="3703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39102" y="455167"/>
            <a:ext cx="2853118" cy="4587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62013" y="1355978"/>
            <a:ext cx="7406017" cy="4458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66572" y="2034920"/>
            <a:ext cx="79235" cy="792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38986" y="1923795"/>
            <a:ext cx="5671769" cy="34632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66572" y="2504312"/>
            <a:ext cx="79235" cy="792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38986" y="2389885"/>
            <a:ext cx="3476701" cy="27038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362963" y="2842132"/>
            <a:ext cx="4558792" cy="3001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92746" y="2940557"/>
            <a:ext cx="67906" cy="6794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92746" y="3342894"/>
            <a:ext cx="67906" cy="6794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340992" y="3247262"/>
            <a:ext cx="5710428" cy="29730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5"/>
              <a:t>@</a:t>
            </a:r>
            <a:r>
              <a:rPr dirty="0"/>
              <a:t>T</a:t>
            </a:r>
            <a:r>
              <a:rPr dirty="0" spc="5"/>
              <a:t>h</a:t>
            </a:r>
            <a:r>
              <a:rPr dirty="0"/>
              <a:t>eCodeTraveler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238492" y="6538876"/>
            <a:ext cx="5027930" cy="32956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800" spc="-5" b="0">
                <a:solidFill>
                  <a:srgbClr val="FFFFFF"/>
                </a:solidFill>
                <a:latin typeface="Segoe UI Semilight"/>
                <a:cs typeface="Segoe UI Semilight"/>
              </a:rPr>
              <a:t>https://</a:t>
            </a:r>
            <a:r>
              <a:rPr dirty="0" sz="1800" spc="-5" b="0">
                <a:solidFill>
                  <a:srgbClr val="FFFFFF"/>
                </a:solidFill>
                <a:latin typeface="Segoe UI Semilight"/>
                <a:cs typeface="Segoe UI Semilight"/>
                <a:hlinkClick r:id="rId13"/>
              </a:rPr>
              <a:t>www.codetraveler.io/NDCOslo-AsyncAwait/</a:t>
            </a:r>
            <a:endParaRPr sz="1800">
              <a:latin typeface="Segoe UI Semilight"/>
              <a:cs typeface="Segoe UI Semi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435840" cy="1213485"/>
          </a:xfrm>
          <a:custGeom>
            <a:avLst/>
            <a:gdLst/>
            <a:ahLst/>
            <a:cxnLst/>
            <a:rect l="l" t="t" r="r" b="b"/>
            <a:pathLst>
              <a:path w="12435840" h="1213485">
                <a:moveTo>
                  <a:pt x="0" y="1213104"/>
                </a:moveTo>
                <a:lnTo>
                  <a:pt x="12435840" y="1213104"/>
                </a:lnTo>
                <a:lnTo>
                  <a:pt x="12435840" y="0"/>
                </a:lnTo>
                <a:lnTo>
                  <a:pt x="0" y="0"/>
                </a:lnTo>
                <a:lnTo>
                  <a:pt x="0" y="1213104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213103"/>
            <a:ext cx="12435840" cy="5782310"/>
          </a:xfrm>
          <a:custGeom>
            <a:avLst/>
            <a:gdLst/>
            <a:ahLst/>
            <a:cxnLst/>
            <a:rect l="l" t="t" r="r" b="b"/>
            <a:pathLst>
              <a:path w="12435840" h="5782309">
                <a:moveTo>
                  <a:pt x="0" y="5782056"/>
                </a:moveTo>
                <a:lnTo>
                  <a:pt x="12435840" y="5782056"/>
                </a:lnTo>
                <a:lnTo>
                  <a:pt x="12435840" y="0"/>
                </a:lnTo>
                <a:lnTo>
                  <a:pt x="0" y="0"/>
                </a:lnTo>
                <a:lnTo>
                  <a:pt x="0" y="57820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125979" y="6522719"/>
            <a:ext cx="405383" cy="3703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75716" y="455167"/>
            <a:ext cx="4232300" cy="4587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08228" y="1187576"/>
            <a:ext cx="11547475" cy="3363595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3000" spc="-5">
                <a:solidFill>
                  <a:srgbClr val="0000FF"/>
                </a:solidFill>
                <a:latin typeface="Consolas"/>
                <a:cs typeface="Consolas"/>
              </a:rPr>
              <a:t>async </a:t>
            </a:r>
            <a:r>
              <a:rPr dirty="0" sz="3000">
                <a:solidFill>
                  <a:srgbClr val="0000FF"/>
                </a:solidFill>
                <a:latin typeface="Consolas"/>
                <a:cs typeface="Consolas"/>
              </a:rPr>
              <a:t>Task </a:t>
            </a:r>
            <a:r>
              <a:rPr dirty="0" sz="3000" spc="-5">
                <a:latin typeface="Consolas"/>
                <a:cs typeface="Consolas"/>
              </a:rPr>
              <a:t>ReadDataFromUrl(</a:t>
            </a:r>
            <a:r>
              <a:rPr dirty="0" sz="3000" spc="-5">
                <a:solidFill>
                  <a:srgbClr val="0000FF"/>
                </a:solidFill>
                <a:latin typeface="Consolas"/>
                <a:cs typeface="Consolas"/>
              </a:rPr>
              <a:t>string </a:t>
            </a:r>
            <a:r>
              <a:rPr dirty="0" sz="3000" spc="-5">
                <a:latin typeface="Consolas"/>
                <a:cs typeface="Consolas"/>
              </a:rPr>
              <a:t>url)</a:t>
            </a:r>
            <a:endParaRPr sz="3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3000">
                <a:latin typeface="Consolas"/>
                <a:cs typeface="Consolas"/>
              </a:rPr>
              <a:t>{</a:t>
            </a:r>
            <a:endParaRPr sz="3000">
              <a:latin typeface="Consolas"/>
              <a:cs typeface="Consolas"/>
            </a:endParaRPr>
          </a:p>
          <a:p>
            <a:pPr marL="640080">
              <a:lnSpc>
                <a:spcPts val="3420"/>
              </a:lnSpc>
              <a:spcBef>
                <a:spcPts val="360"/>
              </a:spcBef>
              <a:tabLst>
                <a:tab pos="3782060" algn="l"/>
              </a:tabLst>
            </a:pPr>
            <a:r>
              <a:rPr dirty="0" sz="3000">
                <a:solidFill>
                  <a:srgbClr val="2B8FAE"/>
                </a:solidFill>
                <a:latin typeface="Consolas"/>
                <a:cs typeface="Consolas"/>
              </a:rPr>
              <a:t>WebClient</a:t>
            </a:r>
            <a:r>
              <a:rPr dirty="0" sz="3000" spc="-20">
                <a:solidFill>
                  <a:srgbClr val="2B8FAE"/>
                </a:solidFill>
                <a:latin typeface="Consolas"/>
                <a:cs typeface="Consolas"/>
              </a:rPr>
              <a:t> </a:t>
            </a:r>
            <a:r>
              <a:rPr dirty="0" sz="3000">
                <a:latin typeface="Consolas"/>
                <a:cs typeface="Consolas"/>
              </a:rPr>
              <a:t>wc</a:t>
            </a:r>
            <a:r>
              <a:rPr dirty="0" sz="3000" spc="-10">
                <a:latin typeface="Consolas"/>
                <a:cs typeface="Consolas"/>
              </a:rPr>
              <a:t> </a:t>
            </a:r>
            <a:r>
              <a:rPr dirty="0" sz="3000">
                <a:latin typeface="Consolas"/>
                <a:cs typeface="Consolas"/>
              </a:rPr>
              <a:t>=	</a:t>
            </a:r>
            <a:r>
              <a:rPr dirty="0" sz="30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3000" spc="-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3000" spc="-5">
                <a:solidFill>
                  <a:srgbClr val="2B8FAE"/>
                </a:solidFill>
                <a:latin typeface="Consolas"/>
                <a:cs typeface="Consolas"/>
              </a:rPr>
              <a:t>WebClient</a:t>
            </a:r>
            <a:r>
              <a:rPr dirty="0" sz="3000" spc="-5">
                <a:latin typeface="Consolas"/>
                <a:cs typeface="Consolas"/>
              </a:rPr>
              <a:t>();</a:t>
            </a:r>
            <a:endParaRPr sz="3000">
              <a:latin typeface="Consolas"/>
              <a:cs typeface="Consolas"/>
            </a:endParaRPr>
          </a:p>
          <a:p>
            <a:pPr marL="640080">
              <a:lnSpc>
                <a:spcPts val="3420"/>
              </a:lnSpc>
            </a:pPr>
            <a:r>
              <a:rPr dirty="0" sz="3000">
                <a:solidFill>
                  <a:srgbClr val="0000FF"/>
                </a:solidFill>
                <a:latin typeface="Consolas"/>
                <a:cs typeface="Consolas"/>
              </a:rPr>
              <a:t>byte[] </a:t>
            </a:r>
            <a:r>
              <a:rPr dirty="0" sz="3000">
                <a:latin typeface="Consolas"/>
                <a:cs typeface="Consolas"/>
              </a:rPr>
              <a:t>result = </a:t>
            </a:r>
            <a:r>
              <a:rPr dirty="0" sz="3000" spc="-5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dirty="0" sz="3000" spc="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3000" spc="-5">
                <a:latin typeface="Consolas"/>
                <a:cs typeface="Consolas"/>
              </a:rPr>
              <a:t>wc.DownloadDataTaskAsync(url);</a:t>
            </a:r>
            <a:endParaRPr sz="3000">
              <a:latin typeface="Consolas"/>
              <a:cs typeface="Consolas"/>
            </a:endParaRPr>
          </a:p>
          <a:p>
            <a:pPr marL="640080" marR="1052195">
              <a:lnSpc>
                <a:spcPts val="3240"/>
              </a:lnSpc>
              <a:spcBef>
                <a:spcPts val="765"/>
              </a:spcBef>
            </a:pPr>
            <a:r>
              <a:rPr dirty="0" sz="3000">
                <a:solidFill>
                  <a:srgbClr val="0000FF"/>
                </a:solidFill>
                <a:latin typeface="Consolas"/>
                <a:cs typeface="Consolas"/>
              </a:rPr>
              <a:t>string </a:t>
            </a:r>
            <a:r>
              <a:rPr dirty="0" sz="3000">
                <a:latin typeface="Consolas"/>
                <a:cs typeface="Consolas"/>
              </a:rPr>
              <a:t>data = </a:t>
            </a:r>
            <a:r>
              <a:rPr dirty="0" sz="3000" spc="-5">
                <a:solidFill>
                  <a:srgbClr val="2B8FAE"/>
                </a:solidFill>
                <a:latin typeface="Consolas"/>
                <a:cs typeface="Consolas"/>
              </a:rPr>
              <a:t>Encoding</a:t>
            </a:r>
            <a:r>
              <a:rPr dirty="0" sz="3000" spc="-5">
                <a:latin typeface="Consolas"/>
                <a:cs typeface="Consolas"/>
              </a:rPr>
              <a:t>.</a:t>
            </a:r>
            <a:r>
              <a:rPr dirty="0" sz="3000" spc="-5">
                <a:solidFill>
                  <a:srgbClr val="2B8FAE"/>
                </a:solidFill>
                <a:latin typeface="Consolas"/>
                <a:cs typeface="Consolas"/>
              </a:rPr>
              <a:t>ASCII</a:t>
            </a:r>
            <a:r>
              <a:rPr dirty="0" sz="3000" spc="-5">
                <a:latin typeface="Consolas"/>
                <a:cs typeface="Consolas"/>
              </a:rPr>
              <a:t>.GetString(result);  LoadData(data);</a:t>
            </a:r>
            <a:endParaRPr sz="3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3000">
                <a:latin typeface="Consolas"/>
                <a:cs typeface="Consolas"/>
              </a:rPr>
              <a:t>}</a:t>
            </a:r>
            <a:endParaRPr sz="3000">
              <a:latin typeface="Consolas"/>
              <a:cs typeface="Consola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5"/>
              <a:t>@</a:t>
            </a:r>
            <a:r>
              <a:rPr dirty="0"/>
              <a:t>T</a:t>
            </a:r>
            <a:r>
              <a:rPr dirty="0" spc="5"/>
              <a:t>h</a:t>
            </a:r>
            <a:r>
              <a:rPr dirty="0"/>
              <a:t>eCodeTraveler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238492" y="6538876"/>
            <a:ext cx="5027930" cy="32956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800" spc="-5" b="0">
                <a:solidFill>
                  <a:srgbClr val="FFFFFF"/>
                </a:solidFill>
                <a:latin typeface="Segoe UI Semilight"/>
                <a:cs typeface="Segoe UI Semilight"/>
              </a:rPr>
              <a:t>https://</a:t>
            </a:r>
            <a:r>
              <a:rPr dirty="0" sz="1800" spc="-5" b="0">
                <a:solidFill>
                  <a:srgbClr val="FFFFFF"/>
                </a:solidFill>
                <a:latin typeface="Segoe UI Semilight"/>
                <a:cs typeface="Segoe UI Semilight"/>
                <a:hlinkClick r:id="rId4"/>
              </a:rPr>
              <a:t>www.codetraveler.io/NDCOslo-AsyncAwait/</a:t>
            </a:r>
            <a:endParaRPr sz="1800">
              <a:latin typeface="Segoe UI Semilight"/>
              <a:cs typeface="Segoe UI Semi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435840" cy="1213485"/>
          </a:xfrm>
          <a:custGeom>
            <a:avLst/>
            <a:gdLst/>
            <a:ahLst/>
            <a:cxnLst/>
            <a:rect l="l" t="t" r="r" b="b"/>
            <a:pathLst>
              <a:path w="12435840" h="1213485">
                <a:moveTo>
                  <a:pt x="0" y="1213104"/>
                </a:moveTo>
                <a:lnTo>
                  <a:pt x="12435840" y="1213104"/>
                </a:lnTo>
                <a:lnTo>
                  <a:pt x="12435840" y="0"/>
                </a:lnTo>
                <a:lnTo>
                  <a:pt x="0" y="0"/>
                </a:lnTo>
                <a:lnTo>
                  <a:pt x="0" y="1213104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213103"/>
            <a:ext cx="12435840" cy="5782310"/>
          </a:xfrm>
          <a:custGeom>
            <a:avLst/>
            <a:gdLst/>
            <a:ahLst/>
            <a:cxnLst/>
            <a:rect l="l" t="t" r="r" b="b"/>
            <a:pathLst>
              <a:path w="12435840" h="5782309">
                <a:moveTo>
                  <a:pt x="0" y="5782056"/>
                </a:moveTo>
                <a:lnTo>
                  <a:pt x="12435840" y="5782056"/>
                </a:lnTo>
                <a:lnTo>
                  <a:pt x="12435840" y="0"/>
                </a:lnTo>
                <a:lnTo>
                  <a:pt x="0" y="0"/>
                </a:lnTo>
                <a:lnTo>
                  <a:pt x="0" y="57820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125979" y="6522719"/>
            <a:ext cx="405383" cy="3703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75716" y="455167"/>
            <a:ext cx="4232300" cy="4587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08228" y="1187576"/>
            <a:ext cx="7983855" cy="103124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3000" spc="-5">
                <a:solidFill>
                  <a:srgbClr val="0000FF"/>
                </a:solidFill>
                <a:latin typeface="Consolas"/>
                <a:cs typeface="Consolas"/>
              </a:rPr>
              <a:t>async </a:t>
            </a:r>
            <a:r>
              <a:rPr dirty="0" sz="3000">
                <a:solidFill>
                  <a:srgbClr val="0000FF"/>
                </a:solidFill>
                <a:latin typeface="Consolas"/>
                <a:cs typeface="Consolas"/>
              </a:rPr>
              <a:t>Task </a:t>
            </a:r>
            <a:r>
              <a:rPr dirty="0" sz="3000" spc="-5">
                <a:latin typeface="Consolas"/>
                <a:cs typeface="Consolas"/>
              </a:rPr>
              <a:t>ReadDataFromUrl(</a:t>
            </a:r>
            <a:r>
              <a:rPr dirty="0" sz="3000" spc="-5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dirty="0" sz="300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3000" spc="-5">
                <a:latin typeface="Consolas"/>
                <a:cs typeface="Consolas"/>
              </a:rPr>
              <a:t>url)</a:t>
            </a:r>
            <a:endParaRPr sz="3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3000">
                <a:latin typeface="Consolas"/>
                <a:cs typeface="Consolas"/>
              </a:rPr>
              <a:t>{</a:t>
            </a:r>
            <a:endParaRPr sz="3000">
              <a:latin typeface="Consolas"/>
              <a:cs typeface="Consola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5"/>
              <a:t>@</a:t>
            </a:r>
            <a:r>
              <a:rPr dirty="0"/>
              <a:t>T</a:t>
            </a:r>
            <a:r>
              <a:rPr dirty="0" spc="5"/>
              <a:t>h</a:t>
            </a:r>
            <a:r>
              <a:rPr dirty="0"/>
              <a:t>eCodeTraveler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238492" y="6538876"/>
            <a:ext cx="5027930" cy="32956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800" spc="-5" b="0">
                <a:solidFill>
                  <a:srgbClr val="FFFFFF"/>
                </a:solidFill>
                <a:latin typeface="Segoe UI Semilight"/>
                <a:cs typeface="Segoe UI Semilight"/>
              </a:rPr>
              <a:t>https://</a:t>
            </a:r>
            <a:r>
              <a:rPr dirty="0" sz="1800" spc="-5" b="0">
                <a:solidFill>
                  <a:srgbClr val="FFFFFF"/>
                </a:solidFill>
                <a:latin typeface="Segoe UI Semilight"/>
                <a:cs typeface="Segoe UI Semilight"/>
                <a:hlinkClick r:id="rId4"/>
              </a:rPr>
              <a:t>www.codetraveler.io/NDCOslo-AsyncAwait/</a:t>
            </a:r>
            <a:endParaRPr sz="1800">
              <a:latin typeface="Segoe UI Semilight"/>
              <a:cs typeface="Segoe UI Semi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1539" y="2202179"/>
            <a:ext cx="6850380" cy="611505"/>
          </a:xfrm>
          <a:prstGeom prst="rect">
            <a:avLst/>
          </a:prstGeom>
          <a:solidFill>
            <a:srgbClr val="FFB800">
              <a:alpha val="19999"/>
            </a:srgbClr>
          </a:solidFill>
        </p:spPr>
        <p:txBody>
          <a:bodyPr wrap="square" lIns="0" tIns="49530" rIns="0" bIns="0" rtlCol="0" vert="horz">
            <a:spAutoFit/>
          </a:bodyPr>
          <a:lstStyle/>
          <a:p>
            <a:pPr marL="156845">
              <a:lnSpc>
                <a:spcPct val="100000"/>
              </a:lnSpc>
              <a:spcBef>
                <a:spcPts val="390"/>
              </a:spcBef>
              <a:tabLst>
                <a:tab pos="3298190" algn="l"/>
              </a:tabLst>
            </a:pPr>
            <a:r>
              <a:rPr dirty="0" sz="3000">
                <a:solidFill>
                  <a:srgbClr val="2B8FAE"/>
                </a:solidFill>
                <a:latin typeface="Consolas"/>
                <a:cs typeface="Consolas"/>
              </a:rPr>
              <a:t>WebClient</a:t>
            </a:r>
            <a:r>
              <a:rPr dirty="0" sz="3000" spc="-20">
                <a:solidFill>
                  <a:srgbClr val="2B8FAE"/>
                </a:solidFill>
                <a:latin typeface="Consolas"/>
                <a:cs typeface="Consolas"/>
              </a:rPr>
              <a:t> </a:t>
            </a:r>
            <a:r>
              <a:rPr dirty="0" sz="3000">
                <a:latin typeface="Consolas"/>
                <a:cs typeface="Consolas"/>
              </a:rPr>
              <a:t>wc</a:t>
            </a:r>
            <a:r>
              <a:rPr dirty="0" sz="3000" spc="-10">
                <a:latin typeface="Consolas"/>
                <a:cs typeface="Consolas"/>
              </a:rPr>
              <a:t> </a:t>
            </a:r>
            <a:r>
              <a:rPr dirty="0" sz="3000">
                <a:latin typeface="Consolas"/>
                <a:cs typeface="Consolas"/>
              </a:rPr>
              <a:t>=	</a:t>
            </a:r>
            <a:r>
              <a:rPr dirty="0" sz="30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30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3000" spc="-5">
                <a:solidFill>
                  <a:srgbClr val="2B8FAE"/>
                </a:solidFill>
                <a:latin typeface="Consolas"/>
                <a:cs typeface="Consolas"/>
              </a:rPr>
              <a:t>WebClient</a:t>
            </a:r>
            <a:r>
              <a:rPr dirty="0" sz="3000" spc="-5">
                <a:latin typeface="Consolas"/>
                <a:cs typeface="Consolas"/>
              </a:rPr>
              <a:t>();</a:t>
            </a:r>
            <a:endParaRPr sz="30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1539" y="2650997"/>
            <a:ext cx="11064240" cy="542290"/>
          </a:xfrm>
          <a:prstGeom prst="rect">
            <a:avLst/>
          </a:prstGeom>
          <a:solidFill>
            <a:srgbClr val="FFB800">
              <a:alpha val="19999"/>
            </a:srgbClr>
          </a:solidFill>
        </p:spPr>
        <p:txBody>
          <a:bodyPr wrap="square" lIns="0" tIns="12700" rIns="0" bIns="0" rtlCol="0" vert="horz">
            <a:spAutoFit/>
          </a:bodyPr>
          <a:lstStyle/>
          <a:p>
            <a:pPr marL="156845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solidFill>
                  <a:srgbClr val="0000FF"/>
                </a:solidFill>
                <a:latin typeface="Consolas"/>
                <a:cs typeface="Consolas"/>
              </a:rPr>
              <a:t>byte[] </a:t>
            </a:r>
            <a:r>
              <a:rPr dirty="0" sz="3000">
                <a:latin typeface="Consolas"/>
                <a:cs typeface="Consolas"/>
              </a:rPr>
              <a:t>result = </a:t>
            </a:r>
            <a:r>
              <a:rPr dirty="0" sz="3000" spc="-5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dirty="0" sz="3000" spc="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3000" spc="-5">
                <a:latin typeface="Consolas"/>
                <a:cs typeface="Consolas"/>
              </a:rPr>
              <a:t>wc.DownloadDataTaskAsync(url);</a:t>
            </a:r>
            <a:endParaRPr sz="30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8228" y="3153917"/>
            <a:ext cx="10500360" cy="139763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640080" marR="5080">
              <a:lnSpc>
                <a:spcPts val="3240"/>
              </a:lnSpc>
              <a:spcBef>
                <a:spcPts val="505"/>
              </a:spcBef>
            </a:pPr>
            <a:r>
              <a:rPr dirty="0" sz="3000">
                <a:solidFill>
                  <a:srgbClr val="0000FF"/>
                </a:solidFill>
                <a:latin typeface="Consolas"/>
                <a:cs typeface="Consolas"/>
              </a:rPr>
              <a:t>string </a:t>
            </a:r>
            <a:r>
              <a:rPr dirty="0" sz="3000">
                <a:latin typeface="Consolas"/>
                <a:cs typeface="Consolas"/>
              </a:rPr>
              <a:t>data = </a:t>
            </a:r>
            <a:r>
              <a:rPr dirty="0" sz="3000" spc="-5">
                <a:solidFill>
                  <a:srgbClr val="2B8FAE"/>
                </a:solidFill>
                <a:latin typeface="Consolas"/>
                <a:cs typeface="Consolas"/>
              </a:rPr>
              <a:t>Encoding</a:t>
            </a:r>
            <a:r>
              <a:rPr dirty="0" sz="3000" spc="-5">
                <a:latin typeface="Consolas"/>
                <a:cs typeface="Consolas"/>
              </a:rPr>
              <a:t>.</a:t>
            </a:r>
            <a:r>
              <a:rPr dirty="0" sz="3000" spc="-5">
                <a:solidFill>
                  <a:srgbClr val="2B8FAE"/>
                </a:solidFill>
                <a:latin typeface="Consolas"/>
                <a:cs typeface="Consolas"/>
              </a:rPr>
              <a:t>ASCII</a:t>
            </a:r>
            <a:r>
              <a:rPr dirty="0" sz="3000" spc="-5">
                <a:latin typeface="Consolas"/>
                <a:cs typeface="Consolas"/>
              </a:rPr>
              <a:t>.GetString(result);  LoadData(data);</a:t>
            </a:r>
            <a:endParaRPr sz="3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3000">
                <a:latin typeface="Consolas"/>
                <a:cs typeface="Consolas"/>
              </a:rPr>
              <a:t>}</a:t>
            </a:r>
            <a:endParaRPr sz="30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37813" y="4629099"/>
            <a:ext cx="3180080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200" spc="-120" b="0">
                <a:solidFill>
                  <a:srgbClr val="353535"/>
                </a:solidFill>
                <a:latin typeface="Segoe UI Light"/>
                <a:cs typeface="Segoe UI Light"/>
              </a:rPr>
              <a:t>Thread</a:t>
            </a:r>
            <a:r>
              <a:rPr dirty="0" sz="7200" spc="-229" b="0">
                <a:solidFill>
                  <a:srgbClr val="353535"/>
                </a:solidFill>
                <a:latin typeface="Segoe UI Light"/>
                <a:cs typeface="Segoe UI Light"/>
              </a:rPr>
              <a:t> </a:t>
            </a:r>
            <a:r>
              <a:rPr dirty="0" sz="7200" b="0">
                <a:solidFill>
                  <a:srgbClr val="353535"/>
                </a:solidFill>
                <a:latin typeface="Segoe UI Light"/>
                <a:cs typeface="Segoe UI Light"/>
              </a:rPr>
              <a:t>1</a:t>
            </a:r>
            <a:endParaRPr sz="720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435840" cy="1213485"/>
          </a:xfrm>
          <a:custGeom>
            <a:avLst/>
            <a:gdLst/>
            <a:ahLst/>
            <a:cxnLst/>
            <a:rect l="l" t="t" r="r" b="b"/>
            <a:pathLst>
              <a:path w="12435840" h="1213485">
                <a:moveTo>
                  <a:pt x="0" y="1213104"/>
                </a:moveTo>
                <a:lnTo>
                  <a:pt x="12435840" y="1213104"/>
                </a:lnTo>
                <a:lnTo>
                  <a:pt x="12435840" y="0"/>
                </a:lnTo>
                <a:lnTo>
                  <a:pt x="0" y="0"/>
                </a:lnTo>
                <a:lnTo>
                  <a:pt x="0" y="1213104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213103"/>
            <a:ext cx="12435840" cy="5782310"/>
          </a:xfrm>
          <a:custGeom>
            <a:avLst/>
            <a:gdLst/>
            <a:ahLst/>
            <a:cxnLst/>
            <a:rect l="l" t="t" r="r" b="b"/>
            <a:pathLst>
              <a:path w="12435840" h="5782309">
                <a:moveTo>
                  <a:pt x="0" y="5782056"/>
                </a:moveTo>
                <a:lnTo>
                  <a:pt x="12435840" y="5782056"/>
                </a:lnTo>
                <a:lnTo>
                  <a:pt x="12435840" y="0"/>
                </a:lnTo>
                <a:lnTo>
                  <a:pt x="0" y="0"/>
                </a:lnTo>
                <a:lnTo>
                  <a:pt x="0" y="57820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125979" y="6522719"/>
            <a:ext cx="405383" cy="3703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75716" y="455167"/>
            <a:ext cx="4232300" cy="4587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08228" y="1187576"/>
            <a:ext cx="11601450" cy="2860675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3000" spc="-5">
                <a:solidFill>
                  <a:srgbClr val="0000FF"/>
                </a:solidFill>
                <a:latin typeface="Consolas"/>
                <a:cs typeface="Consolas"/>
              </a:rPr>
              <a:t>async </a:t>
            </a:r>
            <a:r>
              <a:rPr dirty="0" sz="3000">
                <a:solidFill>
                  <a:srgbClr val="0000FF"/>
                </a:solidFill>
                <a:latin typeface="Consolas"/>
                <a:cs typeface="Consolas"/>
              </a:rPr>
              <a:t>Task </a:t>
            </a:r>
            <a:r>
              <a:rPr dirty="0" sz="3000" spc="-5">
                <a:latin typeface="Consolas"/>
                <a:cs typeface="Consolas"/>
              </a:rPr>
              <a:t>ReadDataFromUrl(</a:t>
            </a:r>
            <a:r>
              <a:rPr dirty="0" sz="3000" spc="-5">
                <a:solidFill>
                  <a:srgbClr val="0000FF"/>
                </a:solidFill>
                <a:latin typeface="Consolas"/>
                <a:cs typeface="Consolas"/>
              </a:rPr>
              <a:t>string </a:t>
            </a:r>
            <a:r>
              <a:rPr dirty="0" sz="3000" spc="-5">
                <a:latin typeface="Consolas"/>
                <a:cs typeface="Consolas"/>
              </a:rPr>
              <a:t>url)</a:t>
            </a:r>
            <a:endParaRPr sz="3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3000">
                <a:latin typeface="Consolas"/>
                <a:cs typeface="Consolas"/>
              </a:rPr>
              <a:t>{</a:t>
            </a:r>
            <a:endParaRPr sz="3000">
              <a:latin typeface="Consolas"/>
              <a:cs typeface="Consolas"/>
            </a:endParaRPr>
          </a:p>
          <a:p>
            <a:pPr marL="640080">
              <a:lnSpc>
                <a:spcPts val="3420"/>
              </a:lnSpc>
              <a:spcBef>
                <a:spcPts val="360"/>
              </a:spcBef>
              <a:tabLst>
                <a:tab pos="3782060" algn="l"/>
              </a:tabLst>
            </a:pPr>
            <a:r>
              <a:rPr dirty="0" sz="3000">
                <a:solidFill>
                  <a:srgbClr val="2B8FAE"/>
                </a:solidFill>
                <a:latin typeface="Consolas"/>
                <a:cs typeface="Consolas"/>
              </a:rPr>
              <a:t>WebClient</a:t>
            </a:r>
            <a:r>
              <a:rPr dirty="0" sz="3000" spc="-20">
                <a:solidFill>
                  <a:srgbClr val="2B8FAE"/>
                </a:solidFill>
                <a:latin typeface="Consolas"/>
                <a:cs typeface="Consolas"/>
              </a:rPr>
              <a:t> </a:t>
            </a:r>
            <a:r>
              <a:rPr dirty="0" sz="3000">
                <a:latin typeface="Consolas"/>
                <a:cs typeface="Consolas"/>
              </a:rPr>
              <a:t>wc</a:t>
            </a:r>
            <a:r>
              <a:rPr dirty="0" sz="3000" spc="-10">
                <a:latin typeface="Consolas"/>
                <a:cs typeface="Consolas"/>
              </a:rPr>
              <a:t> </a:t>
            </a:r>
            <a:r>
              <a:rPr dirty="0" sz="3000">
                <a:latin typeface="Consolas"/>
                <a:cs typeface="Consolas"/>
              </a:rPr>
              <a:t>=	</a:t>
            </a:r>
            <a:r>
              <a:rPr dirty="0" sz="30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3000" spc="-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3000" spc="-5">
                <a:solidFill>
                  <a:srgbClr val="2B8FAE"/>
                </a:solidFill>
                <a:latin typeface="Consolas"/>
                <a:cs typeface="Consolas"/>
              </a:rPr>
              <a:t>WebClient</a:t>
            </a:r>
            <a:r>
              <a:rPr dirty="0" sz="3000" spc="-5">
                <a:latin typeface="Consolas"/>
                <a:cs typeface="Consolas"/>
              </a:rPr>
              <a:t>();</a:t>
            </a:r>
            <a:endParaRPr sz="3000">
              <a:latin typeface="Consolas"/>
              <a:cs typeface="Consolas"/>
            </a:endParaRPr>
          </a:p>
          <a:p>
            <a:pPr marL="640080">
              <a:lnSpc>
                <a:spcPts val="3420"/>
              </a:lnSpc>
            </a:pPr>
            <a:r>
              <a:rPr dirty="0" sz="3000">
                <a:solidFill>
                  <a:srgbClr val="0000FF"/>
                </a:solidFill>
                <a:latin typeface="Consolas"/>
                <a:cs typeface="Consolas"/>
              </a:rPr>
              <a:t>byte[] </a:t>
            </a:r>
            <a:r>
              <a:rPr dirty="0" sz="3000">
                <a:latin typeface="Consolas"/>
                <a:cs typeface="Consolas"/>
              </a:rPr>
              <a:t>result = </a:t>
            </a:r>
            <a:r>
              <a:rPr dirty="0" sz="3000" spc="-5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dirty="0" sz="3000" spc="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3000" spc="-5">
                <a:latin typeface="Consolas"/>
                <a:cs typeface="Consolas"/>
              </a:rPr>
              <a:t>wc.DownloadDataTaskAsync(url);</a:t>
            </a:r>
            <a:endParaRPr sz="3000">
              <a:latin typeface="Consolas"/>
              <a:cs typeface="Consolas"/>
            </a:endParaRPr>
          </a:p>
          <a:p>
            <a:pPr marL="640080" marR="1105535">
              <a:lnSpc>
                <a:spcPts val="3240"/>
              </a:lnSpc>
              <a:spcBef>
                <a:spcPts val="765"/>
              </a:spcBef>
            </a:pPr>
            <a:r>
              <a:rPr dirty="0" sz="3000">
                <a:solidFill>
                  <a:srgbClr val="0000FF"/>
                </a:solidFill>
                <a:latin typeface="Consolas"/>
                <a:cs typeface="Consolas"/>
              </a:rPr>
              <a:t>string </a:t>
            </a:r>
            <a:r>
              <a:rPr dirty="0" sz="3000">
                <a:latin typeface="Consolas"/>
                <a:cs typeface="Consolas"/>
              </a:rPr>
              <a:t>data = </a:t>
            </a:r>
            <a:r>
              <a:rPr dirty="0" sz="3000" spc="-5">
                <a:solidFill>
                  <a:srgbClr val="2B8FAE"/>
                </a:solidFill>
                <a:latin typeface="Consolas"/>
                <a:cs typeface="Consolas"/>
              </a:rPr>
              <a:t>Encoding</a:t>
            </a:r>
            <a:r>
              <a:rPr dirty="0" sz="3000" spc="-5">
                <a:latin typeface="Consolas"/>
                <a:cs typeface="Consolas"/>
              </a:rPr>
              <a:t>.</a:t>
            </a:r>
            <a:r>
              <a:rPr dirty="0" sz="3000" spc="-5">
                <a:solidFill>
                  <a:srgbClr val="2B8FAE"/>
                </a:solidFill>
                <a:latin typeface="Consolas"/>
                <a:cs typeface="Consolas"/>
              </a:rPr>
              <a:t>ASCII</a:t>
            </a:r>
            <a:r>
              <a:rPr dirty="0" sz="3000" spc="-5">
                <a:latin typeface="Consolas"/>
                <a:cs typeface="Consolas"/>
              </a:rPr>
              <a:t>.GetString(result);  LoadData(data);</a:t>
            </a:r>
            <a:endParaRPr sz="3000">
              <a:latin typeface="Consolas"/>
              <a:cs typeface="Consola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5"/>
              <a:t>@</a:t>
            </a:r>
            <a:r>
              <a:rPr dirty="0"/>
              <a:t>T</a:t>
            </a:r>
            <a:r>
              <a:rPr dirty="0" spc="5"/>
              <a:t>h</a:t>
            </a:r>
            <a:r>
              <a:rPr dirty="0"/>
              <a:t>eCodeTraveler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238492" y="6538876"/>
            <a:ext cx="5027930" cy="32956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800" spc="-5" b="0">
                <a:solidFill>
                  <a:srgbClr val="FFFFFF"/>
                </a:solidFill>
                <a:latin typeface="Segoe UI Semilight"/>
                <a:cs typeface="Segoe UI Semilight"/>
              </a:rPr>
              <a:t>https://</a:t>
            </a:r>
            <a:r>
              <a:rPr dirty="0" sz="1800" spc="-5" b="0">
                <a:solidFill>
                  <a:srgbClr val="FFFFFF"/>
                </a:solidFill>
                <a:latin typeface="Segoe UI Semilight"/>
                <a:cs typeface="Segoe UI Semilight"/>
                <a:hlinkClick r:id="rId4"/>
              </a:rPr>
              <a:t>www.codetraveler.io/NDCOslo-AsyncAwait/</a:t>
            </a:r>
            <a:endParaRPr sz="1800">
              <a:latin typeface="Segoe UI Semilight"/>
              <a:cs typeface="Segoe UI Semi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8228" y="4068571"/>
            <a:ext cx="23495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Consolas"/>
                <a:cs typeface="Consolas"/>
              </a:rPr>
              <a:t>}</a:t>
            </a:r>
            <a:endParaRPr sz="30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15439" y="4216750"/>
            <a:ext cx="7216775" cy="2038985"/>
          </a:xfrm>
          <a:prstGeom prst="rect">
            <a:avLst/>
          </a:prstGeom>
        </p:spPr>
        <p:txBody>
          <a:bodyPr wrap="square" lIns="0" tIns="425450" rIns="0" bIns="0" rtlCol="0" vert="horz">
            <a:spAutoFit/>
          </a:bodyPr>
          <a:lstStyle/>
          <a:p>
            <a:pPr algn="ctr" marR="81280">
              <a:lnSpc>
                <a:spcPct val="100000"/>
              </a:lnSpc>
              <a:spcBef>
                <a:spcPts val="3350"/>
              </a:spcBef>
            </a:pPr>
            <a:r>
              <a:rPr dirty="0" sz="7200" spc="-120" b="0">
                <a:solidFill>
                  <a:srgbClr val="353535"/>
                </a:solidFill>
                <a:latin typeface="Segoe UI Light"/>
                <a:cs typeface="Segoe UI Light"/>
              </a:rPr>
              <a:t>Thread</a:t>
            </a:r>
            <a:r>
              <a:rPr dirty="0" sz="7200" spc="-170" b="0">
                <a:solidFill>
                  <a:srgbClr val="353535"/>
                </a:solidFill>
                <a:latin typeface="Segoe UI Light"/>
                <a:cs typeface="Segoe UI Light"/>
              </a:rPr>
              <a:t> </a:t>
            </a:r>
            <a:r>
              <a:rPr dirty="0" sz="7200" spc="-55" b="0">
                <a:solidFill>
                  <a:srgbClr val="353535"/>
                </a:solidFill>
                <a:latin typeface="Segoe UI Light"/>
                <a:cs typeface="Segoe UI Light"/>
              </a:rPr>
              <a:t>2*</a:t>
            </a:r>
            <a:endParaRPr sz="7200">
              <a:latin typeface="Segoe UI Light"/>
              <a:cs typeface="Segoe UI Light"/>
            </a:endParaRP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dirty="0" sz="2400" spc="-5" b="0">
                <a:solidFill>
                  <a:srgbClr val="353535"/>
                </a:solidFill>
                <a:latin typeface="Segoe UI Semilight"/>
                <a:cs typeface="Segoe UI Semilight"/>
              </a:rPr>
              <a:t>*Can </a:t>
            </a:r>
            <a:r>
              <a:rPr dirty="0" sz="2400" b="0">
                <a:solidFill>
                  <a:srgbClr val="353535"/>
                </a:solidFill>
                <a:latin typeface="Segoe UI Semilight"/>
                <a:cs typeface="Segoe UI Semilight"/>
              </a:rPr>
              <a:t>be any </a:t>
            </a:r>
            <a:r>
              <a:rPr dirty="0" sz="2400" spc="-10" b="0">
                <a:solidFill>
                  <a:srgbClr val="353535"/>
                </a:solidFill>
                <a:latin typeface="Segoe UI Semilight"/>
                <a:cs typeface="Segoe UI Semilight"/>
              </a:rPr>
              <a:t>thread </a:t>
            </a:r>
            <a:r>
              <a:rPr dirty="0" sz="2400" b="0">
                <a:solidFill>
                  <a:srgbClr val="353535"/>
                </a:solidFill>
                <a:latin typeface="Segoe UI Semilight"/>
                <a:cs typeface="Segoe UI Semilight"/>
              </a:rPr>
              <a:t>other </a:t>
            </a:r>
            <a:r>
              <a:rPr dirty="0" sz="2400" spc="-5" b="0">
                <a:solidFill>
                  <a:srgbClr val="353535"/>
                </a:solidFill>
                <a:latin typeface="Segoe UI Semilight"/>
                <a:cs typeface="Segoe UI Semilight"/>
              </a:rPr>
              <a:t>than Thread </a:t>
            </a:r>
            <a:r>
              <a:rPr dirty="0" sz="2400" b="0">
                <a:solidFill>
                  <a:srgbClr val="353535"/>
                </a:solidFill>
                <a:latin typeface="Segoe UI Semilight"/>
                <a:cs typeface="Segoe UI Semilight"/>
              </a:rPr>
              <a:t>1, e.g. </a:t>
            </a:r>
            <a:r>
              <a:rPr dirty="0" sz="2400" spc="-10" b="0">
                <a:solidFill>
                  <a:srgbClr val="353535"/>
                </a:solidFill>
                <a:latin typeface="Segoe UI Semilight"/>
                <a:cs typeface="Segoe UI Semilight"/>
              </a:rPr>
              <a:t>Thread</a:t>
            </a:r>
            <a:r>
              <a:rPr dirty="0" sz="2400" spc="15" b="0">
                <a:solidFill>
                  <a:srgbClr val="353535"/>
                </a:solidFill>
                <a:latin typeface="Segoe UI Semilight"/>
                <a:cs typeface="Segoe UI Semilight"/>
              </a:rPr>
              <a:t> </a:t>
            </a:r>
            <a:r>
              <a:rPr dirty="0" sz="2400" b="0">
                <a:solidFill>
                  <a:srgbClr val="353535"/>
                </a:solidFill>
                <a:latin typeface="Segoe UI Semilight"/>
                <a:cs typeface="Segoe UI Semilight"/>
              </a:rPr>
              <a:t>32</a:t>
            </a:r>
            <a:endParaRPr sz="2400">
              <a:latin typeface="Segoe UI Semilight"/>
              <a:cs typeface="Segoe UI Semi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435840" cy="1213485"/>
          </a:xfrm>
          <a:custGeom>
            <a:avLst/>
            <a:gdLst/>
            <a:ahLst/>
            <a:cxnLst/>
            <a:rect l="l" t="t" r="r" b="b"/>
            <a:pathLst>
              <a:path w="12435840" h="1213485">
                <a:moveTo>
                  <a:pt x="0" y="1213104"/>
                </a:moveTo>
                <a:lnTo>
                  <a:pt x="12435840" y="1213104"/>
                </a:lnTo>
                <a:lnTo>
                  <a:pt x="12435840" y="0"/>
                </a:lnTo>
                <a:lnTo>
                  <a:pt x="0" y="0"/>
                </a:lnTo>
                <a:lnTo>
                  <a:pt x="0" y="1213104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213103"/>
            <a:ext cx="12435840" cy="5782310"/>
          </a:xfrm>
          <a:custGeom>
            <a:avLst/>
            <a:gdLst/>
            <a:ahLst/>
            <a:cxnLst/>
            <a:rect l="l" t="t" r="r" b="b"/>
            <a:pathLst>
              <a:path w="12435840" h="5782309">
                <a:moveTo>
                  <a:pt x="0" y="5782056"/>
                </a:moveTo>
                <a:lnTo>
                  <a:pt x="12435840" y="5782056"/>
                </a:lnTo>
                <a:lnTo>
                  <a:pt x="12435840" y="0"/>
                </a:lnTo>
                <a:lnTo>
                  <a:pt x="0" y="0"/>
                </a:lnTo>
                <a:lnTo>
                  <a:pt x="0" y="57820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125979" y="6522719"/>
            <a:ext cx="405383" cy="3703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75716" y="455167"/>
            <a:ext cx="4232300" cy="4587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08228" y="1187576"/>
            <a:ext cx="11547475" cy="1946275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3000" spc="-5">
                <a:solidFill>
                  <a:srgbClr val="0000FF"/>
                </a:solidFill>
                <a:latin typeface="Consolas"/>
                <a:cs typeface="Consolas"/>
              </a:rPr>
              <a:t>async </a:t>
            </a:r>
            <a:r>
              <a:rPr dirty="0" sz="3000">
                <a:solidFill>
                  <a:srgbClr val="0000FF"/>
                </a:solidFill>
                <a:latin typeface="Consolas"/>
                <a:cs typeface="Consolas"/>
              </a:rPr>
              <a:t>Task </a:t>
            </a:r>
            <a:r>
              <a:rPr dirty="0" sz="3000" spc="-5">
                <a:latin typeface="Consolas"/>
                <a:cs typeface="Consolas"/>
              </a:rPr>
              <a:t>ReadDataFromUrl(</a:t>
            </a:r>
            <a:r>
              <a:rPr dirty="0" sz="3000" spc="-5">
                <a:solidFill>
                  <a:srgbClr val="0000FF"/>
                </a:solidFill>
                <a:latin typeface="Consolas"/>
                <a:cs typeface="Consolas"/>
              </a:rPr>
              <a:t>string </a:t>
            </a:r>
            <a:r>
              <a:rPr dirty="0" sz="3000" spc="-5">
                <a:latin typeface="Consolas"/>
                <a:cs typeface="Consolas"/>
              </a:rPr>
              <a:t>url)</a:t>
            </a:r>
            <a:endParaRPr sz="3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3000">
                <a:latin typeface="Consolas"/>
                <a:cs typeface="Consolas"/>
              </a:rPr>
              <a:t>{</a:t>
            </a:r>
            <a:endParaRPr sz="3000">
              <a:latin typeface="Consolas"/>
              <a:cs typeface="Consolas"/>
            </a:endParaRPr>
          </a:p>
          <a:p>
            <a:pPr marL="640080">
              <a:lnSpc>
                <a:spcPts val="3420"/>
              </a:lnSpc>
              <a:spcBef>
                <a:spcPts val="360"/>
              </a:spcBef>
              <a:tabLst>
                <a:tab pos="3782060" algn="l"/>
              </a:tabLst>
            </a:pPr>
            <a:r>
              <a:rPr dirty="0" sz="3000">
                <a:solidFill>
                  <a:srgbClr val="2B8FAE"/>
                </a:solidFill>
                <a:latin typeface="Consolas"/>
                <a:cs typeface="Consolas"/>
              </a:rPr>
              <a:t>WebClient</a:t>
            </a:r>
            <a:r>
              <a:rPr dirty="0" sz="3000" spc="-20">
                <a:solidFill>
                  <a:srgbClr val="2B8FAE"/>
                </a:solidFill>
                <a:latin typeface="Consolas"/>
                <a:cs typeface="Consolas"/>
              </a:rPr>
              <a:t> </a:t>
            </a:r>
            <a:r>
              <a:rPr dirty="0" sz="3000">
                <a:latin typeface="Consolas"/>
                <a:cs typeface="Consolas"/>
              </a:rPr>
              <a:t>wc</a:t>
            </a:r>
            <a:r>
              <a:rPr dirty="0" sz="3000" spc="-10">
                <a:latin typeface="Consolas"/>
                <a:cs typeface="Consolas"/>
              </a:rPr>
              <a:t> </a:t>
            </a:r>
            <a:r>
              <a:rPr dirty="0" sz="3000">
                <a:latin typeface="Consolas"/>
                <a:cs typeface="Consolas"/>
              </a:rPr>
              <a:t>=	</a:t>
            </a:r>
            <a:r>
              <a:rPr dirty="0" sz="30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3000" spc="-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3000" spc="-5">
                <a:solidFill>
                  <a:srgbClr val="2B8FAE"/>
                </a:solidFill>
                <a:latin typeface="Consolas"/>
                <a:cs typeface="Consolas"/>
              </a:rPr>
              <a:t>WebClient</a:t>
            </a:r>
            <a:r>
              <a:rPr dirty="0" sz="3000" spc="-5">
                <a:latin typeface="Consolas"/>
                <a:cs typeface="Consolas"/>
              </a:rPr>
              <a:t>();</a:t>
            </a:r>
            <a:endParaRPr sz="3000">
              <a:latin typeface="Consolas"/>
              <a:cs typeface="Consolas"/>
            </a:endParaRPr>
          </a:p>
          <a:p>
            <a:pPr marL="640080">
              <a:lnSpc>
                <a:spcPts val="3420"/>
              </a:lnSpc>
            </a:pPr>
            <a:r>
              <a:rPr dirty="0" sz="3000">
                <a:solidFill>
                  <a:srgbClr val="0000FF"/>
                </a:solidFill>
                <a:latin typeface="Consolas"/>
                <a:cs typeface="Consolas"/>
              </a:rPr>
              <a:t>byte[] </a:t>
            </a:r>
            <a:r>
              <a:rPr dirty="0" sz="3000">
                <a:latin typeface="Consolas"/>
                <a:cs typeface="Consolas"/>
              </a:rPr>
              <a:t>result = </a:t>
            </a:r>
            <a:r>
              <a:rPr dirty="0" sz="3000" spc="-5">
                <a:solidFill>
                  <a:srgbClr val="0000FF"/>
                </a:solidFill>
                <a:latin typeface="Consolas"/>
                <a:cs typeface="Consolas"/>
              </a:rPr>
              <a:t>await</a:t>
            </a:r>
            <a:r>
              <a:rPr dirty="0" sz="3000" spc="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3000" spc="-5">
                <a:latin typeface="Consolas"/>
                <a:cs typeface="Consolas"/>
              </a:rPr>
              <a:t>wc.DownloadDataTaskAsync(url);</a:t>
            </a:r>
            <a:endParaRPr sz="3000">
              <a:latin typeface="Consolas"/>
              <a:cs typeface="Consola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5"/>
              <a:t>@</a:t>
            </a:r>
            <a:r>
              <a:rPr dirty="0"/>
              <a:t>T</a:t>
            </a:r>
            <a:r>
              <a:rPr dirty="0" spc="5"/>
              <a:t>h</a:t>
            </a:r>
            <a:r>
              <a:rPr dirty="0"/>
              <a:t>eCodeTraveler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238492" y="6538876"/>
            <a:ext cx="5027930" cy="32956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800" spc="-5" b="0">
                <a:solidFill>
                  <a:srgbClr val="FFFFFF"/>
                </a:solidFill>
                <a:latin typeface="Segoe UI Semilight"/>
                <a:cs typeface="Segoe UI Semilight"/>
              </a:rPr>
              <a:t>https://</a:t>
            </a:r>
            <a:r>
              <a:rPr dirty="0" sz="1800" spc="-5" b="0">
                <a:solidFill>
                  <a:srgbClr val="FFFFFF"/>
                </a:solidFill>
                <a:latin typeface="Segoe UI Semilight"/>
                <a:cs typeface="Segoe UI Semilight"/>
                <a:hlinkClick r:id="rId4"/>
              </a:rPr>
              <a:t>www.codetraveler.io/NDCOslo-AsyncAwait/</a:t>
            </a:r>
            <a:endParaRPr sz="1800">
              <a:latin typeface="Segoe UI Semilight"/>
              <a:cs typeface="Segoe UI Semi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60119" y="3192779"/>
            <a:ext cx="11049000" cy="1066800"/>
          </a:xfrm>
          <a:prstGeom prst="rect">
            <a:avLst/>
          </a:prstGeom>
          <a:solidFill>
            <a:srgbClr val="FFB800">
              <a:alpha val="19999"/>
            </a:srgbClr>
          </a:solidFill>
        </p:spPr>
        <p:txBody>
          <a:bodyPr wrap="square" lIns="0" tIns="25400" rIns="0" bIns="0" rtlCol="0" vert="horz">
            <a:spAutoFit/>
          </a:bodyPr>
          <a:lstStyle/>
          <a:p>
            <a:pPr marL="88265" marR="1105535">
              <a:lnSpc>
                <a:spcPts val="3240"/>
              </a:lnSpc>
              <a:spcBef>
                <a:spcPts val="200"/>
              </a:spcBef>
            </a:pPr>
            <a:r>
              <a:rPr dirty="0" sz="3000">
                <a:solidFill>
                  <a:srgbClr val="0000FF"/>
                </a:solidFill>
                <a:latin typeface="Consolas"/>
                <a:cs typeface="Consolas"/>
              </a:rPr>
              <a:t>string </a:t>
            </a:r>
            <a:r>
              <a:rPr dirty="0" sz="3000">
                <a:latin typeface="Consolas"/>
                <a:cs typeface="Consolas"/>
              </a:rPr>
              <a:t>data = </a:t>
            </a:r>
            <a:r>
              <a:rPr dirty="0" sz="3000" spc="-5">
                <a:solidFill>
                  <a:srgbClr val="2B8FAE"/>
                </a:solidFill>
                <a:latin typeface="Consolas"/>
                <a:cs typeface="Consolas"/>
              </a:rPr>
              <a:t>Encoding</a:t>
            </a:r>
            <a:r>
              <a:rPr dirty="0" sz="3000" spc="-5">
                <a:latin typeface="Consolas"/>
                <a:cs typeface="Consolas"/>
              </a:rPr>
              <a:t>.</a:t>
            </a:r>
            <a:r>
              <a:rPr dirty="0" sz="3000" spc="-5">
                <a:solidFill>
                  <a:srgbClr val="2B8FAE"/>
                </a:solidFill>
                <a:latin typeface="Consolas"/>
                <a:cs typeface="Consolas"/>
              </a:rPr>
              <a:t>ASCII</a:t>
            </a:r>
            <a:r>
              <a:rPr dirty="0" sz="3000" spc="-5">
                <a:latin typeface="Consolas"/>
                <a:cs typeface="Consolas"/>
              </a:rPr>
              <a:t>.GetString(result);  LoadData(data);</a:t>
            </a:r>
            <a:endParaRPr sz="30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8228" y="4068571"/>
            <a:ext cx="23495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Consolas"/>
                <a:cs typeface="Consolas"/>
              </a:rPr>
              <a:t>}</a:t>
            </a:r>
            <a:endParaRPr sz="30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37813" y="4629099"/>
            <a:ext cx="3180080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200" spc="-120" b="0">
                <a:solidFill>
                  <a:srgbClr val="353535"/>
                </a:solidFill>
                <a:latin typeface="Segoe UI Light"/>
                <a:cs typeface="Segoe UI Light"/>
              </a:rPr>
              <a:t>Thread</a:t>
            </a:r>
            <a:r>
              <a:rPr dirty="0" sz="7200" spc="-229" b="0">
                <a:solidFill>
                  <a:srgbClr val="353535"/>
                </a:solidFill>
                <a:latin typeface="Segoe UI Light"/>
                <a:cs typeface="Segoe UI Light"/>
              </a:rPr>
              <a:t> </a:t>
            </a:r>
            <a:r>
              <a:rPr dirty="0" sz="7200" b="0">
                <a:solidFill>
                  <a:srgbClr val="353535"/>
                </a:solidFill>
                <a:latin typeface="Segoe UI Light"/>
                <a:cs typeface="Segoe UI Light"/>
              </a:rPr>
              <a:t>1</a:t>
            </a:r>
            <a:endParaRPr sz="720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6217920" cy="6995159"/>
          </a:xfrm>
          <a:custGeom>
            <a:avLst/>
            <a:gdLst/>
            <a:ahLst/>
            <a:cxnLst/>
            <a:rect l="l" t="t" r="r" b="b"/>
            <a:pathLst>
              <a:path w="6217920" h="6995159">
                <a:moveTo>
                  <a:pt x="0" y="6995159"/>
                </a:moveTo>
                <a:lnTo>
                  <a:pt x="6217920" y="6995159"/>
                </a:lnTo>
                <a:lnTo>
                  <a:pt x="6217920" y="0"/>
                </a:lnTo>
                <a:lnTo>
                  <a:pt x="0" y="0"/>
                </a:lnTo>
                <a:lnTo>
                  <a:pt x="0" y="6995159"/>
                </a:lnTo>
                <a:close/>
              </a:path>
            </a:pathLst>
          </a:custGeom>
          <a:solidFill>
            <a:srgbClr val="B4009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217920" y="0"/>
            <a:ext cx="6217920" cy="6995159"/>
          </a:xfrm>
          <a:custGeom>
            <a:avLst/>
            <a:gdLst/>
            <a:ahLst/>
            <a:cxnLst/>
            <a:rect l="l" t="t" r="r" b="b"/>
            <a:pathLst>
              <a:path w="6217920" h="6995159">
                <a:moveTo>
                  <a:pt x="0" y="6995159"/>
                </a:moveTo>
                <a:lnTo>
                  <a:pt x="6217920" y="6995159"/>
                </a:lnTo>
                <a:lnTo>
                  <a:pt x="6217920" y="0"/>
                </a:lnTo>
                <a:lnTo>
                  <a:pt x="0" y="0"/>
                </a:lnTo>
                <a:lnTo>
                  <a:pt x="0" y="6995159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360919" y="1363979"/>
            <a:ext cx="4191000" cy="4191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93407" y="2625343"/>
            <a:ext cx="3486950" cy="8870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93407" y="3612895"/>
            <a:ext cx="1930311" cy="6879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435840" cy="1213485"/>
          </a:xfrm>
          <a:custGeom>
            <a:avLst/>
            <a:gdLst/>
            <a:ahLst/>
            <a:cxnLst/>
            <a:rect l="l" t="t" r="r" b="b"/>
            <a:pathLst>
              <a:path w="12435840" h="1213485">
                <a:moveTo>
                  <a:pt x="0" y="1213104"/>
                </a:moveTo>
                <a:lnTo>
                  <a:pt x="12435840" y="1213104"/>
                </a:lnTo>
                <a:lnTo>
                  <a:pt x="12435840" y="0"/>
                </a:lnTo>
                <a:lnTo>
                  <a:pt x="0" y="0"/>
                </a:lnTo>
                <a:lnTo>
                  <a:pt x="0" y="1213104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213103"/>
            <a:ext cx="12435840" cy="5782310"/>
          </a:xfrm>
          <a:custGeom>
            <a:avLst/>
            <a:gdLst/>
            <a:ahLst/>
            <a:cxnLst/>
            <a:rect l="l" t="t" r="r" b="b"/>
            <a:pathLst>
              <a:path w="12435840" h="5782309">
                <a:moveTo>
                  <a:pt x="0" y="5782056"/>
                </a:moveTo>
                <a:lnTo>
                  <a:pt x="12435840" y="5782056"/>
                </a:lnTo>
                <a:lnTo>
                  <a:pt x="12435840" y="0"/>
                </a:lnTo>
                <a:lnTo>
                  <a:pt x="0" y="0"/>
                </a:lnTo>
                <a:lnTo>
                  <a:pt x="0" y="57820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125979" y="6522719"/>
            <a:ext cx="405383" cy="3703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400082" y="1344037"/>
            <a:ext cx="7543165" cy="23018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830"/>
              </a:lnSpc>
            </a:pPr>
            <a:r>
              <a:rPr dirty="0" sz="3000" spc="-5">
                <a:latin typeface="Consolas"/>
                <a:cs typeface="Consolas"/>
              </a:rPr>
              <a:t>FromUrl(</a:t>
            </a:r>
            <a:r>
              <a:rPr dirty="0" sz="3000" spc="-5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dirty="0" sz="3000" spc="-1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3000" spc="-5">
                <a:latin typeface="Consolas"/>
                <a:cs typeface="Consolas"/>
              </a:rPr>
              <a:t>url)</a:t>
            </a:r>
            <a:endParaRPr sz="3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750">
              <a:latin typeface="Times New Roman"/>
              <a:cs typeface="Times New Roman"/>
            </a:endParaRPr>
          </a:p>
          <a:p>
            <a:pPr>
              <a:lnSpc>
                <a:spcPts val="3420"/>
              </a:lnSpc>
            </a:pPr>
            <a:r>
              <a:rPr dirty="0" sz="3000">
                <a:solidFill>
                  <a:srgbClr val="0000FF"/>
                </a:solidFill>
                <a:latin typeface="Consolas"/>
                <a:cs typeface="Consolas"/>
              </a:rPr>
              <a:t>ew</a:t>
            </a:r>
            <a:r>
              <a:rPr dirty="0" sz="3000" spc="-1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3000" spc="-5">
                <a:solidFill>
                  <a:srgbClr val="2B8FAE"/>
                </a:solidFill>
                <a:latin typeface="Consolas"/>
                <a:cs typeface="Consolas"/>
              </a:rPr>
              <a:t>WebClient</a:t>
            </a:r>
            <a:r>
              <a:rPr dirty="0" sz="3000" spc="-5">
                <a:latin typeface="Consolas"/>
                <a:cs typeface="Consolas"/>
              </a:rPr>
              <a:t>();</a:t>
            </a:r>
            <a:endParaRPr sz="3000">
              <a:latin typeface="Consolas"/>
              <a:cs typeface="Consolas"/>
            </a:endParaRPr>
          </a:p>
          <a:p>
            <a:pPr marL="209550">
              <a:lnSpc>
                <a:spcPts val="3420"/>
              </a:lnSpc>
            </a:pPr>
            <a:r>
              <a:rPr dirty="0" sz="3000" spc="-5">
                <a:solidFill>
                  <a:srgbClr val="0000FF"/>
                </a:solidFill>
                <a:latin typeface="Consolas"/>
                <a:cs typeface="Consolas"/>
              </a:rPr>
              <a:t>wait</a:t>
            </a:r>
            <a:r>
              <a:rPr dirty="0" sz="3000" spc="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3000" spc="-5">
                <a:latin typeface="Consolas"/>
                <a:cs typeface="Consolas"/>
              </a:rPr>
              <a:t>wc.DownloadDataTaskAsync(url);</a:t>
            </a:r>
            <a:endParaRPr sz="3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dirty="0" sz="3000" spc="-5">
                <a:solidFill>
                  <a:srgbClr val="2B8FAE"/>
                </a:solidFill>
                <a:latin typeface="Consolas"/>
                <a:cs typeface="Consolas"/>
              </a:rPr>
              <a:t>coding</a:t>
            </a:r>
            <a:r>
              <a:rPr dirty="0" sz="3000" spc="-5">
                <a:latin typeface="Consolas"/>
                <a:cs typeface="Consolas"/>
              </a:rPr>
              <a:t>.</a:t>
            </a:r>
            <a:r>
              <a:rPr dirty="0" sz="3000" spc="-5">
                <a:solidFill>
                  <a:srgbClr val="2B8FAE"/>
                </a:solidFill>
                <a:latin typeface="Consolas"/>
                <a:cs typeface="Consolas"/>
              </a:rPr>
              <a:t>ASCII</a:t>
            </a:r>
            <a:r>
              <a:rPr dirty="0" sz="3000" spc="-5">
                <a:latin typeface="Consolas"/>
                <a:cs typeface="Consolas"/>
              </a:rPr>
              <a:t>.GetString(result);</a:t>
            </a:r>
            <a:endParaRPr sz="30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8228" y="1187576"/>
            <a:ext cx="4215130" cy="3363595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3000" spc="-5">
                <a:solidFill>
                  <a:srgbClr val="0000FF"/>
                </a:solidFill>
                <a:latin typeface="Consolas"/>
                <a:cs typeface="Consolas"/>
              </a:rPr>
              <a:t>async </a:t>
            </a:r>
            <a:r>
              <a:rPr dirty="0" sz="3000">
                <a:solidFill>
                  <a:srgbClr val="0000FF"/>
                </a:solidFill>
                <a:latin typeface="Consolas"/>
                <a:cs typeface="Consolas"/>
              </a:rPr>
              <a:t>Task</a:t>
            </a:r>
            <a:r>
              <a:rPr dirty="0" sz="3000" spc="-6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3000">
                <a:latin typeface="Consolas"/>
                <a:cs typeface="Consolas"/>
              </a:rPr>
              <a:t>ReadData</a:t>
            </a:r>
            <a:endParaRPr sz="3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3000">
                <a:latin typeface="Consolas"/>
                <a:cs typeface="Consolas"/>
              </a:rPr>
              <a:t>{</a:t>
            </a:r>
            <a:endParaRPr sz="3000">
              <a:latin typeface="Consolas"/>
              <a:cs typeface="Consolas"/>
            </a:endParaRPr>
          </a:p>
          <a:p>
            <a:pPr marL="640080" marR="5080">
              <a:lnSpc>
                <a:spcPts val="3240"/>
              </a:lnSpc>
              <a:spcBef>
                <a:spcPts val="765"/>
              </a:spcBef>
              <a:tabLst>
                <a:tab pos="3782060" algn="l"/>
              </a:tabLst>
            </a:pPr>
            <a:r>
              <a:rPr dirty="0" sz="3000">
                <a:solidFill>
                  <a:srgbClr val="2B8FAE"/>
                </a:solidFill>
                <a:latin typeface="Consolas"/>
                <a:cs typeface="Consolas"/>
              </a:rPr>
              <a:t>WebClient</a:t>
            </a:r>
            <a:r>
              <a:rPr dirty="0" sz="3000" spc="-20">
                <a:solidFill>
                  <a:srgbClr val="2B8FAE"/>
                </a:solidFill>
                <a:latin typeface="Consolas"/>
                <a:cs typeface="Consolas"/>
              </a:rPr>
              <a:t> </a:t>
            </a:r>
            <a:r>
              <a:rPr dirty="0" sz="3000">
                <a:latin typeface="Consolas"/>
                <a:cs typeface="Consolas"/>
              </a:rPr>
              <a:t>wc</a:t>
            </a:r>
            <a:r>
              <a:rPr dirty="0" sz="3000" spc="-10">
                <a:latin typeface="Consolas"/>
                <a:cs typeface="Consolas"/>
              </a:rPr>
              <a:t> </a:t>
            </a:r>
            <a:r>
              <a:rPr dirty="0" sz="3000">
                <a:latin typeface="Consolas"/>
                <a:cs typeface="Consolas"/>
              </a:rPr>
              <a:t>=	</a:t>
            </a:r>
            <a:r>
              <a:rPr dirty="0" sz="3000">
                <a:solidFill>
                  <a:srgbClr val="0000FF"/>
                </a:solidFill>
                <a:latin typeface="Consolas"/>
                <a:cs typeface="Consolas"/>
              </a:rPr>
              <a:t>n  byte[] </a:t>
            </a:r>
            <a:r>
              <a:rPr dirty="0" sz="3000">
                <a:latin typeface="Consolas"/>
                <a:cs typeface="Consolas"/>
              </a:rPr>
              <a:t>result =</a:t>
            </a:r>
            <a:r>
              <a:rPr dirty="0" sz="3000" spc="-110">
                <a:latin typeface="Consolas"/>
                <a:cs typeface="Consolas"/>
              </a:rPr>
              <a:t> </a:t>
            </a:r>
            <a:r>
              <a:rPr dirty="0" sz="3000">
                <a:solidFill>
                  <a:srgbClr val="0000FF"/>
                </a:solidFill>
                <a:latin typeface="Consolas"/>
                <a:cs typeface="Consolas"/>
              </a:rPr>
              <a:t>a</a:t>
            </a:r>
            <a:endParaRPr sz="3000">
              <a:latin typeface="Consolas"/>
              <a:cs typeface="Consolas"/>
            </a:endParaRPr>
          </a:p>
          <a:p>
            <a:pPr marL="640080" marR="215265">
              <a:lnSpc>
                <a:spcPts val="3240"/>
              </a:lnSpc>
              <a:spcBef>
                <a:spcPts val="725"/>
              </a:spcBef>
            </a:pPr>
            <a:r>
              <a:rPr dirty="0" sz="3000">
                <a:solidFill>
                  <a:srgbClr val="0000FF"/>
                </a:solidFill>
                <a:latin typeface="Consolas"/>
                <a:cs typeface="Consolas"/>
              </a:rPr>
              <a:t>string </a:t>
            </a:r>
            <a:r>
              <a:rPr dirty="0" sz="3000">
                <a:latin typeface="Consolas"/>
                <a:cs typeface="Consolas"/>
              </a:rPr>
              <a:t>data =</a:t>
            </a:r>
            <a:r>
              <a:rPr dirty="0" sz="3000" spc="-110">
                <a:latin typeface="Consolas"/>
                <a:cs typeface="Consolas"/>
              </a:rPr>
              <a:t> </a:t>
            </a:r>
            <a:r>
              <a:rPr dirty="0" sz="3000">
                <a:solidFill>
                  <a:srgbClr val="2B8FAE"/>
                </a:solidFill>
                <a:latin typeface="Consolas"/>
                <a:cs typeface="Consolas"/>
              </a:rPr>
              <a:t>En  </a:t>
            </a:r>
            <a:r>
              <a:rPr dirty="0" sz="3000" spc="-5">
                <a:latin typeface="Consolas"/>
                <a:cs typeface="Consolas"/>
              </a:rPr>
              <a:t>LoadData(data);</a:t>
            </a:r>
            <a:endParaRPr sz="3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3000">
                <a:latin typeface="Consolas"/>
                <a:cs typeface="Consolas"/>
              </a:rPr>
              <a:t>}</a:t>
            </a:r>
            <a:endParaRPr sz="3000">
              <a:latin typeface="Consolas"/>
              <a:cs typeface="Consola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75716" y="455167"/>
            <a:ext cx="4232300" cy="4587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9328" y="525779"/>
            <a:ext cx="7616952" cy="59024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4755" y="521207"/>
            <a:ext cx="7626350" cy="5911850"/>
          </a:xfrm>
          <a:custGeom>
            <a:avLst/>
            <a:gdLst/>
            <a:ahLst/>
            <a:cxnLst/>
            <a:rect l="l" t="t" r="r" b="b"/>
            <a:pathLst>
              <a:path w="7626350" h="5911850">
                <a:moveTo>
                  <a:pt x="0" y="5911596"/>
                </a:moveTo>
                <a:lnTo>
                  <a:pt x="7626096" y="5911596"/>
                </a:lnTo>
                <a:lnTo>
                  <a:pt x="7626096" y="0"/>
                </a:lnTo>
                <a:lnTo>
                  <a:pt x="0" y="0"/>
                </a:lnTo>
                <a:lnTo>
                  <a:pt x="0" y="5911596"/>
                </a:lnTo>
                <a:close/>
              </a:path>
            </a:pathLst>
          </a:custGeom>
          <a:ln w="9144">
            <a:solidFill>
              <a:srgbClr val="B49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5">
                <a:solidFill>
                  <a:srgbClr val="353535"/>
                </a:solidFill>
              </a:rPr>
              <a:t>@</a:t>
            </a:r>
            <a:r>
              <a:rPr dirty="0">
                <a:solidFill>
                  <a:srgbClr val="353535"/>
                </a:solidFill>
              </a:rPr>
              <a:t>T</a:t>
            </a:r>
            <a:r>
              <a:rPr dirty="0" spc="5">
                <a:solidFill>
                  <a:srgbClr val="353535"/>
                </a:solidFill>
              </a:rPr>
              <a:t>h</a:t>
            </a:r>
            <a:r>
              <a:rPr dirty="0">
                <a:solidFill>
                  <a:srgbClr val="353535"/>
                </a:solidFill>
              </a:rPr>
              <a:t>eCodeTraveler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238492" y="6538876"/>
            <a:ext cx="5027930" cy="32956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800" spc="-5" b="0">
                <a:solidFill>
                  <a:srgbClr val="353535"/>
                </a:solidFill>
                <a:latin typeface="Segoe UI Semilight"/>
                <a:cs typeface="Segoe UI Semilight"/>
              </a:rPr>
              <a:t>https://</a:t>
            </a:r>
            <a:r>
              <a:rPr dirty="0" sz="1800" spc="-5" b="0">
                <a:solidFill>
                  <a:srgbClr val="353535"/>
                </a:solidFill>
                <a:latin typeface="Segoe UI Semilight"/>
                <a:cs typeface="Segoe UI Semilight"/>
                <a:hlinkClick r:id="rId5"/>
              </a:rPr>
              <a:t>www.codetraveler.io/NDCOslo-AsyncAwait/</a:t>
            </a:r>
            <a:endParaRPr sz="1800">
              <a:latin typeface="Segoe UI Semilight"/>
              <a:cs typeface="Segoe UI Semi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84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pc="-5"/>
              <a:t>async </a:t>
            </a:r>
            <a:r>
              <a:rPr dirty="0"/>
              <a:t>Task</a:t>
            </a:r>
            <a:r>
              <a:rPr dirty="0" spc="-90"/>
              <a:t> </a:t>
            </a:r>
            <a:r>
              <a:rPr dirty="0">
                <a:solidFill>
                  <a:srgbClr val="000000"/>
                </a:solidFill>
              </a:rPr>
              <a:t>ReadData</a:t>
            </a: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>
                <a:solidFill>
                  <a:srgbClr val="000000"/>
                </a:solidFill>
              </a:rPr>
              <a:t>{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830"/>
              </a:lnSpc>
            </a:pPr>
            <a:r>
              <a:rPr dirty="0" spc="-5"/>
              <a:t>FromUrl(</a:t>
            </a:r>
            <a:r>
              <a:rPr dirty="0" spc="-5">
                <a:solidFill>
                  <a:srgbClr val="0000FF"/>
                </a:solidFill>
              </a:rPr>
              <a:t>string</a:t>
            </a:r>
            <a:r>
              <a:rPr dirty="0" spc="-10">
                <a:solidFill>
                  <a:srgbClr val="0000FF"/>
                </a:solidFill>
              </a:rPr>
              <a:t> </a:t>
            </a:r>
            <a:r>
              <a:rPr dirty="0" spc="-5"/>
              <a:t>url)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750">
              <a:latin typeface="Times New Roman"/>
              <a:cs typeface="Times New Roman"/>
            </a:endParaRPr>
          </a:p>
          <a:p>
            <a:pPr>
              <a:lnSpc>
                <a:spcPts val="3420"/>
              </a:lnSpc>
            </a:pPr>
            <a:r>
              <a:rPr dirty="0">
                <a:solidFill>
                  <a:srgbClr val="0000FF"/>
                </a:solidFill>
              </a:rPr>
              <a:t>ew</a:t>
            </a:r>
            <a:r>
              <a:rPr dirty="0" spc="-10">
                <a:solidFill>
                  <a:srgbClr val="0000FF"/>
                </a:solidFill>
              </a:rPr>
              <a:t> </a:t>
            </a:r>
            <a:r>
              <a:rPr dirty="0" spc="-5">
                <a:solidFill>
                  <a:srgbClr val="2B8FAE"/>
                </a:solidFill>
              </a:rPr>
              <a:t>WebClient</a:t>
            </a:r>
            <a:r>
              <a:rPr dirty="0" spc="-5"/>
              <a:t>();</a:t>
            </a:r>
          </a:p>
          <a:p>
            <a:pPr marL="209550">
              <a:lnSpc>
                <a:spcPts val="3420"/>
              </a:lnSpc>
            </a:pPr>
            <a:r>
              <a:rPr dirty="0" spc="-5">
                <a:solidFill>
                  <a:srgbClr val="0000FF"/>
                </a:solidFill>
              </a:rPr>
              <a:t>wait</a:t>
            </a:r>
            <a:r>
              <a:rPr dirty="0" spc="30">
                <a:solidFill>
                  <a:srgbClr val="0000FF"/>
                </a:solidFill>
              </a:rPr>
              <a:t> </a:t>
            </a:r>
            <a:r>
              <a:rPr dirty="0" spc="-5"/>
              <a:t>wc.DownloadDataTaskAsync(url);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dirty="0" spc="-5">
                <a:solidFill>
                  <a:srgbClr val="2B8FAE"/>
                </a:solidFill>
              </a:rPr>
              <a:t>coding</a:t>
            </a:r>
            <a:r>
              <a:rPr dirty="0" spc="-5"/>
              <a:t>.</a:t>
            </a:r>
            <a:r>
              <a:rPr dirty="0" spc="-5">
                <a:solidFill>
                  <a:srgbClr val="2B8FAE"/>
                </a:solidFill>
              </a:rPr>
              <a:t>ASCII</a:t>
            </a:r>
            <a:r>
              <a:rPr dirty="0" spc="-5"/>
              <a:t>.GetString(result);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8228" y="2238832"/>
            <a:ext cx="4215130" cy="2312670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640080" marR="5080">
              <a:lnSpc>
                <a:spcPts val="3240"/>
              </a:lnSpc>
              <a:spcBef>
                <a:spcPts val="509"/>
              </a:spcBef>
              <a:tabLst>
                <a:tab pos="3782060" algn="l"/>
              </a:tabLst>
            </a:pPr>
            <a:r>
              <a:rPr dirty="0" sz="3000">
                <a:solidFill>
                  <a:srgbClr val="2B8FAE"/>
                </a:solidFill>
                <a:latin typeface="Consolas"/>
                <a:cs typeface="Consolas"/>
              </a:rPr>
              <a:t>WebClient</a:t>
            </a:r>
            <a:r>
              <a:rPr dirty="0" sz="3000" spc="-20">
                <a:solidFill>
                  <a:srgbClr val="2B8FAE"/>
                </a:solidFill>
                <a:latin typeface="Consolas"/>
                <a:cs typeface="Consolas"/>
              </a:rPr>
              <a:t> </a:t>
            </a:r>
            <a:r>
              <a:rPr dirty="0" sz="3000">
                <a:latin typeface="Consolas"/>
                <a:cs typeface="Consolas"/>
              </a:rPr>
              <a:t>wc</a:t>
            </a:r>
            <a:r>
              <a:rPr dirty="0" sz="3000" spc="-10">
                <a:latin typeface="Consolas"/>
                <a:cs typeface="Consolas"/>
              </a:rPr>
              <a:t> </a:t>
            </a:r>
            <a:r>
              <a:rPr dirty="0" sz="3000">
                <a:latin typeface="Consolas"/>
                <a:cs typeface="Consolas"/>
              </a:rPr>
              <a:t>=	</a:t>
            </a:r>
            <a:r>
              <a:rPr dirty="0" sz="3000">
                <a:solidFill>
                  <a:srgbClr val="0000FF"/>
                </a:solidFill>
                <a:latin typeface="Consolas"/>
                <a:cs typeface="Consolas"/>
              </a:rPr>
              <a:t>n  byte[] </a:t>
            </a:r>
            <a:r>
              <a:rPr dirty="0" sz="3000">
                <a:latin typeface="Consolas"/>
                <a:cs typeface="Consolas"/>
              </a:rPr>
              <a:t>result =</a:t>
            </a:r>
            <a:r>
              <a:rPr dirty="0" sz="3000" spc="-110">
                <a:latin typeface="Consolas"/>
                <a:cs typeface="Consolas"/>
              </a:rPr>
              <a:t> </a:t>
            </a:r>
            <a:r>
              <a:rPr dirty="0" sz="3000">
                <a:solidFill>
                  <a:srgbClr val="0000FF"/>
                </a:solidFill>
                <a:latin typeface="Consolas"/>
                <a:cs typeface="Consolas"/>
              </a:rPr>
              <a:t>a</a:t>
            </a:r>
            <a:endParaRPr sz="3000">
              <a:latin typeface="Consolas"/>
              <a:cs typeface="Consolas"/>
            </a:endParaRPr>
          </a:p>
          <a:p>
            <a:pPr marL="640080" marR="213995">
              <a:lnSpc>
                <a:spcPts val="3240"/>
              </a:lnSpc>
              <a:spcBef>
                <a:spcPts val="720"/>
              </a:spcBef>
            </a:pPr>
            <a:r>
              <a:rPr dirty="0" sz="3000">
                <a:solidFill>
                  <a:srgbClr val="0000FF"/>
                </a:solidFill>
                <a:latin typeface="Consolas"/>
                <a:cs typeface="Consolas"/>
              </a:rPr>
              <a:t>string </a:t>
            </a:r>
            <a:r>
              <a:rPr dirty="0" sz="3000">
                <a:latin typeface="Consolas"/>
                <a:cs typeface="Consolas"/>
              </a:rPr>
              <a:t>data =</a:t>
            </a:r>
            <a:r>
              <a:rPr dirty="0" sz="3000" spc="-110">
                <a:latin typeface="Consolas"/>
                <a:cs typeface="Consolas"/>
              </a:rPr>
              <a:t> </a:t>
            </a:r>
            <a:r>
              <a:rPr dirty="0" sz="3000">
                <a:solidFill>
                  <a:srgbClr val="2B8FAE"/>
                </a:solidFill>
                <a:latin typeface="Consolas"/>
                <a:cs typeface="Consolas"/>
              </a:rPr>
              <a:t>En  </a:t>
            </a:r>
            <a:r>
              <a:rPr dirty="0" sz="3000" spc="-5">
                <a:latin typeface="Consolas"/>
                <a:cs typeface="Consolas"/>
              </a:rPr>
              <a:t>LoadData(data);</a:t>
            </a:r>
            <a:endParaRPr sz="3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3000">
                <a:latin typeface="Consolas"/>
                <a:cs typeface="Consolas"/>
              </a:rPr>
              <a:t>}</a:t>
            </a:r>
            <a:endParaRPr sz="3000">
              <a:latin typeface="Consolas"/>
              <a:cs typeface="Consola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5716" y="455167"/>
            <a:ext cx="4232300" cy="458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9328" y="525779"/>
            <a:ext cx="7616952" cy="59024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24755" y="521207"/>
            <a:ext cx="7626350" cy="5911850"/>
          </a:xfrm>
          <a:custGeom>
            <a:avLst/>
            <a:gdLst/>
            <a:ahLst/>
            <a:cxnLst/>
            <a:rect l="l" t="t" r="r" b="b"/>
            <a:pathLst>
              <a:path w="7626350" h="5911850">
                <a:moveTo>
                  <a:pt x="0" y="5911596"/>
                </a:moveTo>
                <a:lnTo>
                  <a:pt x="7626096" y="5911596"/>
                </a:lnTo>
                <a:lnTo>
                  <a:pt x="7626096" y="0"/>
                </a:lnTo>
                <a:lnTo>
                  <a:pt x="0" y="0"/>
                </a:lnTo>
                <a:lnTo>
                  <a:pt x="0" y="5911596"/>
                </a:lnTo>
                <a:close/>
              </a:path>
            </a:pathLst>
          </a:custGeom>
          <a:ln w="9144">
            <a:solidFill>
              <a:srgbClr val="B49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74320" y="914399"/>
            <a:ext cx="11811000" cy="492759"/>
          </a:xfrm>
          <a:custGeom>
            <a:avLst/>
            <a:gdLst/>
            <a:ahLst/>
            <a:cxnLst/>
            <a:rect l="l" t="t" r="r" b="b"/>
            <a:pathLst>
              <a:path w="11811000" h="492759">
                <a:moveTo>
                  <a:pt x="0" y="492251"/>
                </a:moveTo>
                <a:lnTo>
                  <a:pt x="11811000" y="492251"/>
                </a:lnTo>
                <a:lnTo>
                  <a:pt x="11811000" y="0"/>
                </a:lnTo>
                <a:lnTo>
                  <a:pt x="0" y="0"/>
                </a:lnTo>
                <a:lnTo>
                  <a:pt x="0" y="492251"/>
                </a:lnTo>
                <a:close/>
              </a:path>
            </a:pathLst>
          </a:custGeom>
          <a:solidFill>
            <a:srgbClr val="FFB800">
              <a:alpha val="98823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74320" y="914399"/>
            <a:ext cx="11811000" cy="492759"/>
          </a:xfrm>
          <a:custGeom>
            <a:avLst/>
            <a:gdLst/>
            <a:ahLst/>
            <a:cxnLst/>
            <a:rect l="l" t="t" r="r" b="b"/>
            <a:pathLst>
              <a:path w="11811000" h="492759">
                <a:moveTo>
                  <a:pt x="0" y="492251"/>
                </a:moveTo>
                <a:lnTo>
                  <a:pt x="11811000" y="492251"/>
                </a:lnTo>
                <a:lnTo>
                  <a:pt x="11811000" y="0"/>
                </a:lnTo>
                <a:lnTo>
                  <a:pt x="0" y="0"/>
                </a:lnTo>
                <a:lnTo>
                  <a:pt x="0" y="492251"/>
                </a:lnTo>
                <a:close/>
              </a:path>
            </a:pathLst>
          </a:custGeom>
          <a:ln w="9144">
            <a:solidFill>
              <a:srgbClr val="3535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53364" y="928496"/>
            <a:ext cx="11249025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spc="-5">
                <a:solidFill>
                  <a:srgbClr val="0000FF"/>
                </a:solidFill>
                <a:latin typeface="Consolas"/>
                <a:cs typeface="Consolas"/>
              </a:rPr>
              <a:t>private </a:t>
            </a:r>
            <a:r>
              <a:rPr dirty="0" sz="2600" spc="-5">
                <a:solidFill>
                  <a:srgbClr val="353535"/>
                </a:solidFill>
                <a:latin typeface="Consolas"/>
                <a:cs typeface="Consolas"/>
              </a:rPr>
              <a:t>sealed class </a:t>
            </a:r>
            <a:r>
              <a:rPr dirty="0" sz="2600" spc="-10">
                <a:solidFill>
                  <a:srgbClr val="353535"/>
                </a:solidFill>
                <a:latin typeface="Consolas"/>
                <a:cs typeface="Consolas"/>
              </a:rPr>
              <a:t>&lt;ReadDataFromUrl&gt;d_1 </a:t>
            </a:r>
            <a:r>
              <a:rPr dirty="0" sz="2600">
                <a:solidFill>
                  <a:srgbClr val="353535"/>
                </a:solidFill>
                <a:latin typeface="Consolas"/>
                <a:cs typeface="Consolas"/>
              </a:rPr>
              <a:t>: </a:t>
            </a:r>
            <a:r>
              <a:rPr dirty="0" sz="2600" spc="-10">
                <a:solidFill>
                  <a:srgbClr val="353535"/>
                </a:solidFill>
                <a:latin typeface="Consolas"/>
                <a:cs typeface="Consolas"/>
              </a:rPr>
              <a:t>IAsyncStateMachine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5">
                <a:solidFill>
                  <a:srgbClr val="353535"/>
                </a:solidFill>
              </a:rPr>
              <a:t>@</a:t>
            </a:r>
            <a:r>
              <a:rPr dirty="0">
                <a:solidFill>
                  <a:srgbClr val="353535"/>
                </a:solidFill>
              </a:rPr>
              <a:t>T</a:t>
            </a:r>
            <a:r>
              <a:rPr dirty="0" spc="5">
                <a:solidFill>
                  <a:srgbClr val="353535"/>
                </a:solidFill>
              </a:rPr>
              <a:t>h</a:t>
            </a:r>
            <a:r>
              <a:rPr dirty="0">
                <a:solidFill>
                  <a:srgbClr val="353535"/>
                </a:solidFill>
              </a:rPr>
              <a:t>eCodeTraveler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238492" y="6538876"/>
            <a:ext cx="5027930" cy="32956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800" spc="-5" b="0">
                <a:solidFill>
                  <a:srgbClr val="353535"/>
                </a:solidFill>
                <a:latin typeface="Segoe UI Semilight"/>
                <a:cs typeface="Segoe UI Semilight"/>
              </a:rPr>
              <a:t>https://</a:t>
            </a:r>
            <a:r>
              <a:rPr dirty="0" sz="1800" spc="-5" b="0">
                <a:solidFill>
                  <a:srgbClr val="353535"/>
                </a:solidFill>
                <a:latin typeface="Segoe UI Semilight"/>
                <a:cs typeface="Segoe UI Semilight"/>
                <a:hlinkClick r:id="rId4"/>
              </a:rPr>
              <a:t>www.codetraveler.io/NDCOslo-AsyncAwait/</a:t>
            </a:r>
            <a:endParaRPr sz="1800">
              <a:latin typeface="Segoe UI Semilight"/>
              <a:cs typeface="Segoe UI Semi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84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pc="-5"/>
              <a:t>async </a:t>
            </a:r>
            <a:r>
              <a:rPr dirty="0"/>
              <a:t>Task</a:t>
            </a:r>
            <a:r>
              <a:rPr dirty="0" spc="-90"/>
              <a:t> </a:t>
            </a:r>
            <a:r>
              <a:rPr dirty="0">
                <a:solidFill>
                  <a:srgbClr val="000000"/>
                </a:solidFill>
              </a:rPr>
              <a:t>ReadData</a:t>
            </a: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>
                <a:solidFill>
                  <a:srgbClr val="000000"/>
                </a:solidFill>
              </a:rPr>
              <a:t>{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00082" y="1344037"/>
            <a:ext cx="7543165" cy="23018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830"/>
              </a:lnSpc>
            </a:pPr>
            <a:r>
              <a:rPr dirty="0" sz="3000" spc="-5">
                <a:latin typeface="Consolas"/>
                <a:cs typeface="Consolas"/>
              </a:rPr>
              <a:t>FromUrl(</a:t>
            </a:r>
            <a:r>
              <a:rPr dirty="0" sz="3000" spc="-5">
                <a:solidFill>
                  <a:srgbClr val="0000FF"/>
                </a:solidFill>
                <a:latin typeface="Consolas"/>
                <a:cs typeface="Consolas"/>
              </a:rPr>
              <a:t>string</a:t>
            </a:r>
            <a:r>
              <a:rPr dirty="0" sz="3000" spc="-1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3000" spc="-5">
                <a:latin typeface="Consolas"/>
                <a:cs typeface="Consolas"/>
              </a:rPr>
              <a:t>url)</a:t>
            </a:r>
            <a:endParaRPr sz="3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750">
              <a:latin typeface="Times New Roman"/>
              <a:cs typeface="Times New Roman"/>
            </a:endParaRPr>
          </a:p>
          <a:p>
            <a:pPr>
              <a:lnSpc>
                <a:spcPts val="3420"/>
              </a:lnSpc>
            </a:pPr>
            <a:r>
              <a:rPr dirty="0" sz="3000">
                <a:solidFill>
                  <a:srgbClr val="0000FF"/>
                </a:solidFill>
                <a:latin typeface="Consolas"/>
                <a:cs typeface="Consolas"/>
              </a:rPr>
              <a:t>ew</a:t>
            </a:r>
            <a:r>
              <a:rPr dirty="0" sz="3000" spc="-1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3000" spc="-5">
                <a:solidFill>
                  <a:srgbClr val="2B8FAE"/>
                </a:solidFill>
                <a:latin typeface="Consolas"/>
                <a:cs typeface="Consolas"/>
              </a:rPr>
              <a:t>WebClient</a:t>
            </a:r>
            <a:r>
              <a:rPr dirty="0" sz="3000" spc="-5">
                <a:latin typeface="Consolas"/>
                <a:cs typeface="Consolas"/>
              </a:rPr>
              <a:t>();</a:t>
            </a:r>
            <a:endParaRPr sz="3000">
              <a:latin typeface="Consolas"/>
              <a:cs typeface="Consolas"/>
            </a:endParaRPr>
          </a:p>
          <a:p>
            <a:pPr marL="209550">
              <a:lnSpc>
                <a:spcPts val="3420"/>
              </a:lnSpc>
            </a:pPr>
            <a:r>
              <a:rPr dirty="0" sz="3000" spc="-5">
                <a:solidFill>
                  <a:srgbClr val="0000FF"/>
                </a:solidFill>
                <a:latin typeface="Consolas"/>
                <a:cs typeface="Consolas"/>
              </a:rPr>
              <a:t>wait</a:t>
            </a:r>
            <a:r>
              <a:rPr dirty="0" sz="3000" spc="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3000" spc="-5">
                <a:latin typeface="Consolas"/>
                <a:cs typeface="Consolas"/>
              </a:rPr>
              <a:t>wc.DownloadDataTaskAsync(url);</a:t>
            </a:r>
            <a:endParaRPr sz="3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dirty="0" sz="3000" spc="-5">
                <a:solidFill>
                  <a:srgbClr val="2B8FAE"/>
                </a:solidFill>
                <a:latin typeface="Consolas"/>
                <a:cs typeface="Consolas"/>
              </a:rPr>
              <a:t>coding</a:t>
            </a:r>
            <a:r>
              <a:rPr dirty="0" sz="3000" spc="-5">
                <a:latin typeface="Consolas"/>
                <a:cs typeface="Consolas"/>
              </a:rPr>
              <a:t>.</a:t>
            </a:r>
            <a:r>
              <a:rPr dirty="0" sz="3000" spc="-5">
                <a:solidFill>
                  <a:srgbClr val="2B8FAE"/>
                </a:solidFill>
                <a:latin typeface="Consolas"/>
                <a:cs typeface="Consolas"/>
              </a:rPr>
              <a:t>ASCII</a:t>
            </a:r>
            <a:r>
              <a:rPr dirty="0" sz="3000" spc="-5">
                <a:latin typeface="Consolas"/>
                <a:cs typeface="Consolas"/>
              </a:rPr>
              <a:t>.GetString(result);</a:t>
            </a:r>
            <a:endParaRPr sz="30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8228" y="2238832"/>
            <a:ext cx="4215130" cy="2312670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640080" marR="5080">
              <a:lnSpc>
                <a:spcPts val="3240"/>
              </a:lnSpc>
              <a:spcBef>
                <a:spcPts val="509"/>
              </a:spcBef>
              <a:tabLst>
                <a:tab pos="3782060" algn="l"/>
              </a:tabLst>
            </a:pPr>
            <a:r>
              <a:rPr dirty="0" sz="3000">
                <a:solidFill>
                  <a:srgbClr val="2B8FAE"/>
                </a:solidFill>
                <a:latin typeface="Consolas"/>
                <a:cs typeface="Consolas"/>
              </a:rPr>
              <a:t>WebClient</a:t>
            </a:r>
            <a:r>
              <a:rPr dirty="0" sz="3000" spc="-20">
                <a:solidFill>
                  <a:srgbClr val="2B8FAE"/>
                </a:solidFill>
                <a:latin typeface="Consolas"/>
                <a:cs typeface="Consolas"/>
              </a:rPr>
              <a:t> </a:t>
            </a:r>
            <a:r>
              <a:rPr dirty="0" sz="3000">
                <a:latin typeface="Consolas"/>
                <a:cs typeface="Consolas"/>
              </a:rPr>
              <a:t>wc</a:t>
            </a:r>
            <a:r>
              <a:rPr dirty="0" sz="3000" spc="-10">
                <a:latin typeface="Consolas"/>
                <a:cs typeface="Consolas"/>
              </a:rPr>
              <a:t> </a:t>
            </a:r>
            <a:r>
              <a:rPr dirty="0" sz="3000">
                <a:latin typeface="Consolas"/>
                <a:cs typeface="Consolas"/>
              </a:rPr>
              <a:t>=	</a:t>
            </a:r>
            <a:r>
              <a:rPr dirty="0" sz="3000">
                <a:solidFill>
                  <a:srgbClr val="0000FF"/>
                </a:solidFill>
                <a:latin typeface="Consolas"/>
                <a:cs typeface="Consolas"/>
              </a:rPr>
              <a:t>n  byte[] </a:t>
            </a:r>
            <a:r>
              <a:rPr dirty="0" sz="3000">
                <a:latin typeface="Consolas"/>
                <a:cs typeface="Consolas"/>
              </a:rPr>
              <a:t>result =</a:t>
            </a:r>
            <a:r>
              <a:rPr dirty="0" sz="3000" spc="-110">
                <a:latin typeface="Consolas"/>
                <a:cs typeface="Consolas"/>
              </a:rPr>
              <a:t> </a:t>
            </a:r>
            <a:r>
              <a:rPr dirty="0" sz="3000">
                <a:solidFill>
                  <a:srgbClr val="0000FF"/>
                </a:solidFill>
                <a:latin typeface="Consolas"/>
                <a:cs typeface="Consolas"/>
              </a:rPr>
              <a:t>a</a:t>
            </a:r>
            <a:endParaRPr sz="3000">
              <a:latin typeface="Consolas"/>
              <a:cs typeface="Consolas"/>
            </a:endParaRPr>
          </a:p>
          <a:p>
            <a:pPr marL="640080" marR="215265">
              <a:lnSpc>
                <a:spcPts val="3240"/>
              </a:lnSpc>
              <a:spcBef>
                <a:spcPts val="720"/>
              </a:spcBef>
            </a:pPr>
            <a:r>
              <a:rPr dirty="0" sz="3000">
                <a:solidFill>
                  <a:srgbClr val="0000FF"/>
                </a:solidFill>
                <a:latin typeface="Consolas"/>
                <a:cs typeface="Consolas"/>
              </a:rPr>
              <a:t>string </a:t>
            </a:r>
            <a:r>
              <a:rPr dirty="0" sz="3000">
                <a:latin typeface="Consolas"/>
                <a:cs typeface="Consolas"/>
              </a:rPr>
              <a:t>data =</a:t>
            </a:r>
            <a:r>
              <a:rPr dirty="0" sz="3000" spc="-110">
                <a:latin typeface="Consolas"/>
                <a:cs typeface="Consolas"/>
              </a:rPr>
              <a:t> </a:t>
            </a:r>
            <a:r>
              <a:rPr dirty="0" sz="3000">
                <a:solidFill>
                  <a:srgbClr val="2B8FAE"/>
                </a:solidFill>
                <a:latin typeface="Consolas"/>
                <a:cs typeface="Consolas"/>
              </a:rPr>
              <a:t>En  </a:t>
            </a:r>
            <a:r>
              <a:rPr dirty="0" sz="3000" spc="-5">
                <a:latin typeface="Consolas"/>
                <a:cs typeface="Consolas"/>
              </a:rPr>
              <a:t>LoadData(data);</a:t>
            </a:r>
            <a:endParaRPr sz="3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3000">
                <a:latin typeface="Consolas"/>
                <a:cs typeface="Consolas"/>
              </a:rPr>
              <a:t>}</a:t>
            </a:r>
            <a:endParaRPr sz="3000">
              <a:latin typeface="Consolas"/>
              <a:cs typeface="Consola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5716" y="455167"/>
            <a:ext cx="4232300" cy="458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9328" y="525779"/>
            <a:ext cx="7616952" cy="59024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24755" y="521207"/>
            <a:ext cx="7626350" cy="5911850"/>
          </a:xfrm>
          <a:custGeom>
            <a:avLst/>
            <a:gdLst/>
            <a:ahLst/>
            <a:cxnLst/>
            <a:rect l="l" t="t" r="r" b="b"/>
            <a:pathLst>
              <a:path w="7626350" h="5911850">
                <a:moveTo>
                  <a:pt x="0" y="5911596"/>
                </a:moveTo>
                <a:lnTo>
                  <a:pt x="7626096" y="5911596"/>
                </a:lnTo>
                <a:lnTo>
                  <a:pt x="7626096" y="0"/>
                </a:lnTo>
                <a:lnTo>
                  <a:pt x="0" y="0"/>
                </a:lnTo>
                <a:lnTo>
                  <a:pt x="0" y="5911596"/>
                </a:lnTo>
                <a:close/>
              </a:path>
            </a:pathLst>
          </a:custGeom>
          <a:ln w="9144">
            <a:solidFill>
              <a:srgbClr val="B49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846320" y="3099815"/>
            <a:ext cx="609600" cy="1236345"/>
          </a:xfrm>
          <a:custGeom>
            <a:avLst/>
            <a:gdLst/>
            <a:ahLst/>
            <a:cxnLst/>
            <a:rect l="l" t="t" r="r" b="b"/>
            <a:pathLst>
              <a:path w="609600" h="1236345">
                <a:moveTo>
                  <a:pt x="0" y="1235964"/>
                </a:moveTo>
                <a:lnTo>
                  <a:pt x="609600" y="1235964"/>
                </a:lnTo>
                <a:lnTo>
                  <a:pt x="609600" y="0"/>
                </a:lnTo>
                <a:lnTo>
                  <a:pt x="0" y="0"/>
                </a:lnTo>
                <a:lnTo>
                  <a:pt x="0" y="1235964"/>
                </a:lnTo>
                <a:close/>
              </a:path>
            </a:pathLst>
          </a:custGeom>
          <a:solidFill>
            <a:srgbClr val="FFB800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455920" y="2810255"/>
            <a:ext cx="6324600" cy="1815464"/>
          </a:xfrm>
          <a:prstGeom prst="rect">
            <a:avLst/>
          </a:prstGeom>
          <a:solidFill>
            <a:srgbClr val="FFB800">
              <a:alpha val="98823"/>
            </a:srgbClr>
          </a:solidFill>
          <a:ln w="9144">
            <a:solidFill>
              <a:srgbClr val="353535"/>
            </a:solidFill>
          </a:ln>
        </p:spPr>
        <p:txBody>
          <a:bodyPr wrap="square" lIns="0" tIns="29209" rIns="0" bIns="0" rtlCol="0" vert="horz">
            <a:spAutoFit/>
          </a:bodyPr>
          <a:lstStyle/>
          <a:p>
            <a:pPr marL="92075" marR="951865">
              <a:lnSpc>
                <a:spcPct val="99800"/>
              </a:lnSpc>
              <a:spcBef>
                <a:spcPts val="229"/>
              </a:spcBef>
            </a:pPr>
            <a:r>
              <a:rPr dirty="0" sz="2800" spc="-10">
                <a:solidFill>
                  <a:srgbClr val="0000FF"/>
                </a:solidFill>
                <a:latin typeface="Consolas"/>
                <a:cs typeface="Consolas"/>
              </a:rPr>
              <a:t>private </a:t>
            </a:r>
            <a:r>
              <a:rPr dirty="0" sz="2800" spc="-5">
                <a:solidFill>
                  <a:srgbClr val="353535"/>
                </a:solidFill>
                <a:latin typeface="Consolas"/>
                <a:cs typeface="Consolas"/>
              </a:rPr>
              <a:t>string &lt;data&gt;5_3;  </a:t>
            </a:r>
            <a:r>
              <a:rPr dirty="0" sz="2800" spc="-10">
                <a:solidFill>
                  <a:srgbClr val="0000FF"/>
                </a:solidFill>
                <a:latin typeface="Consolas"/>
                <a:cs typeface="Consolas"/>
              </a:rPr>
              <a:t>private </a:t>
            </a:r>
            <a:r>
              <a:rPr dirty="0" sz="2800" spc="-5">
                <a:solidFill>
                  <a:srgbClr val="353535"/>
                </a:solidFill>
                <a:latin typeface="Consolas"/>
                <a:cs typeface="Consolas"/>
              </a:rPr>
              <a:t>byte[] &lt;result&gt;5_2;  </a:t>
            </a:r>
            <a:r>
              <a:rPr dirty="0" sz="2800" spc="-10">
                <a:solidFill>
                  <a:srgbClr val="0000FF"/>
                </a:solidFill>
                <a:latin typeface="Consolas"/>
                <a:cs typeface="Consolas"/>
              </a:rPr>
              <a:t>private </a:t>
            </a:r>
            <a:r>
              <a:rPr dirty="0" sz="2800" spc="-5">
                <a:solidFill>
                  <a:srgbClr val="353535"/>
                </a:solidFill>
                <a:latin typeface="Consolas"/>
                <a:cs typeface="Consolas"/>
              </a:rPr>
              <a:t>WebClient </a:t>
            </a:r>
            <a:r>
              <a:rPr dirty="0" sz="2800" spc="-10">
                <a:solidFill>
                  <a:srgbClr val="353535"/>
                </a:solidFill>
                <a:latin typeface="Consolas"/>
                <a:cs typeface="Consolas"/>
              </a:rPr>
              <a:t>&lt;wc&gt;5_1;  </a:t>
            </a:r>
            <a:r>
              <a:rPr dirty="0" sz="2800" spc="-10">
                <a:solidFill>
                  <a:srgbClr val="0000FF"/>
                </a:solidFill>
                <a:latin typeface="Consolas"/>
                <a:cs typeface="Consolas"/>
              </a:rPr>
              <a:t>public </a:t>
            </a:r>
            <a:r>
              <a:rPr dirty="0" sz="2800" spc="-10">
                <a:solidFill>
                  <a:srgbClr val="353535"/>
                </a:solidFill>
                <a:latin typeface="Consolas"/>
                <a:cs typeface="Consolas"/>
              </a:rPr>
              <a:t>string</a:t>
            </a:r>
            <a:r>
              <a:rPr dirty="0" sz="2800" spc="10">
                <a:solidFill>
                  <a:srgbClr val="353535"/>
                </a:solidFill>
                <a:latin typeface="Consolas"/>
                <a:cs typeface="Consolas"/>
              </a:rPr>
              <a:t> </a:t>
            </a:r>
            <a:r>
              <a:rPr dirty="0" sz="2800" spc="-10">
                <a:solidFill>
                  <a:srgbClr val="353535"/>
                </a:solidFill>
                <a:latin typeface="Consolas"/>
                <a:cs typeface="Consolas"/>
              </a:rPr>
              <a:t>url;</a:t>
            </a:r>
            <a:endParaRPr sz="2800">
              <a:latin typeface="Consolas"/>
              <a:cs typeface="Consola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5">
                <a:solidFill>
                  <a:srgbClr val="353535"/>
                </a:solidFill>
              </a:rPr>
              <a:t>@</a:t>
            </a:r>
            <a:r>
              <a:rPr dirty="0">
                <a:solidFill>
                  <a:srgbClr val="353535"/>
                </a:solidFill>
              </a:rPr>
              <a:t>T</a:t>
            </a:r>
            <a:r>
              <a:rPr dirty="0" spc="5">
                <a:solidFill>
                  <a:srgbClr val="353535"/>
                </a:solidFill>
              </a:rPr>
              <a:t>h</a:t>
            </a:r>
            <a:r>
              <a:rPr dirty="0">
                <a:solidFill>
                  <a:srgbClr val="353535"/>
                </a:solidFill>
              </a:rPr>
              <a:t>eCodeTraveler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238492" y="6538876"/>
            <a:ext cx="5027930" cy="32956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800" spc="-5" b="0">
                <a:solidFill>
                  <a:srgbClr val="353535"/>
                </a:solidFill>
                <a:latin typeface="Segoe UI Semilight"/>
                <a:cs typeface="Segoe UI Semilight"/>
              </a:rPr>
              <a:t>https://</a:t>
            </a:r>
            <a:r>
              <a:rPr dirty="0" sz="1800" spc="-5" b="0">
                <a:solidFill>
                  <a:srgbClr val="353535"/>
                </a:solidFill>
                <a:latin typeface="Segoe UI Semilight"/>
                <a:cs typeface="Segoe UI Semilight"/>
                <a:hlinkClick r:id="rId4"/>
              </a:rPr>
              <a:t>www.codetraveler.io/NDCOslo-AsyncAwait/</a:t>
            </a:r>
            <a:endParaRPr sz="1800">
              <a:latin typeface="Segoe UI Semilight"/>
              <a:cs typeface="Segoe UI Semi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84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pc="-5"/>
              <a:t>async </a:t>
            </a:r>
            <a:r>
              <a:rPr dirty="0"/>
              <a:t>Task</a:t>
            </a:r>
            <a:r>
              <a:rPr dirty="0" spc="-90"/>
              <a:t> </a:t>
            </a:r>
            <a:r>
              <a:rPr dirty="0">
                <a:solidFill>
                  <a:srgbClr val="000000"/>
                </a:solidFill>
              </a:rPr>
              <a:t>ReadData</a:t>
            </a: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>
                <a:solidFill>
                  <a:srgbClr val="000000"/>
                </a:solidFill>
              </a:rPr>
              <a:t>{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830"/>
              </a:lnSpc>
            </a:pPr>
            <a:r>
              <a:rPr dirty="0" spc="-5"/>
              <a:t>FromUrl(</a:t>
            </a:r>
            <a:r>
              <a:rPr dirty="0" spc="-5">
                <a:solidFill>
                  <a:srgbClr val="0000FF"/>
                </a:solidFill>
              </a:rPr>
              <a:t>string</a:t>
            </a:r>
            <a:r>
              <a:rPr dirty="0" spc="-10">
                <a:solidFill>
                  <a:srgbClr val="0000FF"/>
                </a:solidFill>
              </a:rPr>
              <a:t> </a:t>
            </a:r>
            <a:r>
              <a:rPr dirty="0" spc="-5"/>
              <a:t>url)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750">
              <a:latin typeface="Times New Roman"/>
              <a:cs typeface="Times New Roman"/>
            </a:endParaRPr>
          </a:p>
          <a:p>
            <a:pPr>
              <a:lnSpc>
                <a:spcPts val="3420"/>
              </a:lnSpc>
            </a:pPr>
            <a:r>
              <a:rPr dirty="0">
                <a:solidFill>
                  <a:srgbClr val="0000FF"/>
                </a:solidFill>
              </a:rPr>
              <a:t>ew</a:t>
            </a:r>
            <a:r>
              <a:rPr dirty="0" spc="-10">
                <a:solidFill>
                  <a:srgbClr val="0000FF"/>
                </a:solidFill>
              </a:rPr>
              <a:t> </a:t>
            </a:r>
            <a:r>
              <a:rPr dirty="0" spc="-5">
                <a:solidFill>
                  <a:srgbClr val="2B8FAE"/>
                </a:solidFill>
              </a:rPr>
              <a:t>WebClient</a:t>
            </a:r>
            <a:r>
              <a:rPr dirty="0" spc="-5"/>
              <a:t>();</a:t>
            </a:r>
          </a:p>
          <a:p>
            <a:pPr marL="209550">
              <a:lnSpc>
                <a:spcPts val="3420"/>
              </a:lnSpc>
            </a:pPr>
            <a:r>
              <a:rPr dirty="0" spc="-5">
                <a:solidFill>
                  <a:srgbClr val="0000FF"/>
                </a:solidFill>
              </a:rPr>
              <a:t>wait</a:t>
            </a:r>
            <a:r>
              <a:rPr dirty="0" spc="30">
                <a:solidFill>
                  <a:srgbClr val="0000FF"/>
                </a:solidFill>
              </a:rPr>
              <a:t> </a:t>
            </a:r>
            <a:r>
              <a:rPr dirty="0" spc="-5"/>
              <a:t>wc.DownloadDataTaskAsync(url);</a:t>
            </a: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dirty="0" spc="-5">
                <a:solidFill>
                  <a:srgbClr val="2B8FAE"/>
                </a:solidFill>
              </a:rPr>
              <a:t>coding</a:t>
            </a:r>
            <a:r>
              <a:rPr dirty="0" spc="-5"/>
              <a:t>.</a:t>
            </a:r>
            <a:r>
              <a:rPr dirty="0" spc="-5">
                <a:solidFill>
                  <a:srgbClr val="2B8FAE"/>
                </a:solidFill>
              </a:rPr>
              <a:t>ASCII</a:t>
            </a:r>
            <a:r>
              <a:rPr dirty="0" spc="-5"/>
              <a:t>.GetString(result);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8228" y="2238832"/>
            <a:ext cx="4215130" cy="2312670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640080" marR="5080">
              <a:lnSpc>
                <a:spcPts val="3240"/>
              </a:lnSpc>
              <a:spcBef>
                <a:spcPts val="509"/>
              </a:spcBef>
              <a:tabLst>
                <a:tab pos="3782060" algn="l"/>
              </a:tabLst>
            </a:pPr>
            <a:r>
              <a:rPr dirty="0" sz="3000">
                <a:solidFill>
                  <a:srgbClr val="2B8FAE"/>
                </a:solidFill>
                <a:latin typeface="Consolas"/>
                <a:cs typeface="Consolas"/>
              </a:rPr>
              <a:t>WebClient</a:t>
            </a:r>
            <a:r>
              <a:rPr dirty="0" sz="3000" spc="-20">
                <a:solidFill>
                  <a:srgbClr val="2B8FAE"/>
                </a:solidFill>
                <a:latin typeface="Consolas"/>
                <a:cs typeface="Consolas"/>
              </a:rPr>
              <a:t> </a:t>
            </a:r>
            <a:r>
              <a:rPr dirty="0" sz="3000">
                <a:latin typeface="Consolas"/>
                <a:cs typeface="Consolas"/>
              </a:rPr>
              <a:t>wc</a:t>
            </a:r>
            <a:r>
              <a:rPr dirty="0" sz="3000" spc="-10">
                <a:latin typeface="Consolas"/>
                <a:cs typeface="Consolas"/>
              </a:rPr>
              <a:t> </a:t>
            </a:r>
            <a:r>
              <a:rPr dirty="0" sz="3000">
                <a:latin typeface="Consolas"/>
                <a:cs typeface="Consolas"/>
              </a:rPr>
              <a:t>=	</a:t>
            </a:r>
            <a:r>
              <a:rPr dirty="0" sz="3000">
                <a:solidFill>
                  <a:srgbClr val="0000FF"/>
                </a:solidFill>
                <a:latin typeface="Consolas"/>
                <a:cs typeface="Consolas"/>
              </a:rPr>
              <a:t>n  byte[] </a:t>
            </a:r>
            <a:r>
              <a:rPr dirty="0" sz="3000">
                <a:latin typeface="Consolas"/>
                <a:cs typeface="Consolas"/>
              </a:rPr>
              <a:t>result =</a:t>
            </a:r>
            <a:r>
              <a:rPr dirty="0" sz="3000" spc="-110">
                <a:latin typeface="Consolas"/>
                <a:cs typeface="Consolas"/>
              </a:rPr>
              <a:t> </a:t>
            </a:r>
            <a:r>
              <a:rPr dirty="0" sz="3000">
                <a:solidFill>
                  <a:srgbClr val="0000FF"/>
                </a:solidFill>
                <a:latin typeface="Consolas"/>
                <a:cs typeface="Consolas"/>
              </a:rPr>
              <a:t>a</a:t>
            </a:r>
            <a:endParaRPr sz="3000">
              <a:latin typeface="Consolas"/>
              <a:cs typeface="Consolas"/>
            </a:endParaRPr>
          </a:p>
          <a:p>
            <a:pPr marL="640080" marR="215265">
              <a:lnSpc>
                <a:spcPts val="3240"/>
              </a:lnSpc>
              <a:spcBef>
                <a:spcPts val="720"/>
              </a:spcBef>
            </a:pPr>
            <a:r>
              <a:rPr dirty="0" sz="3000">
                <a:solidFill>
                  <a:srgbClr val="0000FF"/>
                </a:solidFill>
                <a:latin typeface="Consolas"/>
                <a:cs typeface="Consolas"/>
              </a:rPr>
              <a:t>string </a:t>
            </a:r>
            <a:r>
              <a:rPr dirty="0" sz="3000">
                <a:latin typeface="Consolas"/>
                <a:cs typeface="Consolas"/>
              </a:rPr>
              <a:t>data =</a:t>
            </a:r>
            <a:r>
              <a:rPr dirty="0" sz="3000" spc="-110">
                <a:latin typeface="Consolas"/>
                <a:cs typeface="Consolas"/>
              </a:rPr>
              <a:t> </a:t>
            </a:r>
            <a:r>
              <a:rPr dirty="0" sz="3000">
                <a:solidFill>
                  <a:srgbClr val="2B8FAE"/>
                </a:solidFill>
                <a:latin typeface="Consolas"/>
                <a:cs typeface="Consolas"/>
              </a:rPr>
              <a:t>En  </a:t>
            </a:r>
            <a:r>
              <a:rPr dirty="0" sz="3000" spc="-5">
                <a:latin typeface="Consolas"/>
                <a:cs typeface="Consolas"/>
              </a:rPr>
              <a:t>LoadData(data);</a:t>
            </a:r>
            <a:endParaRPr sz="3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3000">
                <a:latin typeface="Consolas"/>
                <a:cs typeface="Consolas"/>
              </a:rPr>
              <a:t>}</a:t>
            </a:r>
            <a:endParaRPr sz="3000">
              <a:latin typeface="Consolas"/>
              <a:cs typeface="Consola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5716" y="455167"/>
            <a:ext cx="4232300" cy="458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9328" y="525779"/>
            <a:ext cx="7616952" cy="59024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24755" y="521207"/>
            <a:ext cx="7626350" cy="5911850"/>
          </a:xfrm>
          <a:custGeom>
            <a:avLst/>
            <a:gdLst/>
            <a:ahLst/>
            <a:cxnLst/>
            <a:rect l="l" t="t" r="r" b="b"/>
            <a:pathLst>
              <a:path w="7626350" h="5911850">
                <a:moveTo>
                  <a:pt x="0" y="5911596"/>
                </a:moveTo>
                <a:lnTo>
                  <a:pt x="7626096" y="5911596"/>
                </a:lnTo>
                <a:lnTo>
                  <a:pt x="7626096" y="0"/>
                </a:lnTo>
                <a:lnTo>
                  <a:pt x="0" y="0"/>
                </a:lnTo>
                <a:lnTo>
                  <a:pt x="0" y="5911596"/>
                </a:lnTo>
                <a:close/>
              </a:path>
            </a:pathLst>
          </a:custGeom>
          <a:ln w="9144">
            <a:solidFill>
              <a:srgbClr val="B49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835652" y="5173979"/>
            <a:ext cx="2982595" cy="304800"/>
          </a:xfrm>
          <a:custGeom>
            <a:avLst/>
            <a:gdLst/>
            <a:ahLst/>
            <a:cxnLst/>
            <a:rect l="l" t="t" r="r" b="b"/>
            <a:pathLst>
              <a:path w="2982595" h="304800">
                <a:moveTo>
                  <a:pt x="0" y="304799"/>
                </a:moveTo>
                <a:lnTo>
                  <a:pt x="2982468" y="304799"/>
                </a:lnTo>
                <a:lnTo>
                  <a:pt x="2982468" y="0"/>
                </a:lnTo>
                <a:lnTo>
                  <a:pt x="0" y="0"/>
                </a:lnTo>
                <a:lnTo>
                  <a:pt x="0" y="304799"/>
                </a:lnTo>
                <a:close/>
              </a:path>
            </a:pathLst>
          </a:custGeom>
          <a:solidFill>
            <a:srgbClr val="FFB800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455920" y="4695444"/>
            <a:ext cx="6324600" cy="501015"/>
          </a:xfrm>
          <a:prstGeom prst="rect">
            <a:avLst/>
          </a:prstGeom>
          <a:solidFill>
            <a:srgbClr val="FFB800">
              <a:alpha val="98823"/>
            </a:srgbClr>
          </a:solidFill>
          <a:ln w="9144">
            <a:solidFill>
              <a:srgbClr val="353535"/>
            </a:solidFill>
          </a:ln>
        </p:spPr>
        <p:txBody>
          <a:bodyPr wrap="square" lIns="0" tIns="29209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29"/>
              </a:spcBef>
            </a:pPr>
            <a:r>
              <a:rPr dirty="0" sz="2800" spc="-10">
                <a:solidFill>
                  <a:srgbClr val="0000FF"/>
                </a:solidFill>
                <a:latin typeface="Consolas"/>
                <a:cs typeface="Consolas"/>
              </a:rPr>
              <a:t>private </a:t>
            </a:r>
            <a:r>
              <a:rPr dirty="0" sz="2800" spc="-10">
                <a:solidFill>
                  <a:srgbClr val="353535"/>
                </a:solidFill>
                <a:latin typeface="Consolas"/>
                <a:cs typeface="Consolas"/>
              </a:rPr>
              <a:t>void</a:t>
            </a:r>
            <a:r>
              <a:rPr dirty="0" sz="2800" spc="-760">
                <a:solidFill>
                  <a:srgbClr val="353535"/>
                </a:solidFill>
                <a:latin typeface="Consolas"/>
                <a:cs typeface="Consolas"/>
              </a:rPr>
              <a:t> </a:t>
            </a:r>
            <a:r>
              <a:rPr dirty="0" sz="2800" spc="-10">
                <a:solidFill>
                  <a:srgbClr val="353535"/>
                </a:solidFill>
                <a:latin typeface="Consolas"/>
                <a:cs typeface="Consolas"/>
              </a:rPr>
              <a:t>MoveNext();</a:t>
            </a:r>
            <a:endParaRPr sz="2800">
              <a:latin typeface="Consolas"/>
              <a:cs typeface="Consola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5">
                <a:solidFill>
                  <a:srgbClr val="353535"/>
                </a:solidFill>
              </a:rPr>
              <a:t>@</a:t>
            </a:r>
            <a:r>
              <a:rPr dirty="0">
                <a:solidFill>
                  <a:srgbClr val="353535"/>
                </a:solidFill>
              </a:rPr>
              <a:t>T</a:t>
            </a:r>
            <a:r>
              <a:rPr dirty="0" spc="5">
                <a:solidFill>
                  <a:srgbClr val="353535"/>
                </a:solidFill>
              </a:rPr>
              <a:t>h</a:t>
            </a:r>
            <a:r>
              <a:rPr dirty="0">
                <a:solidFill>
                  <a:srgbClr val="353535"/>
                </a:solidFill>
              </a:rPr>
              <a:t>eCodeTraveler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238492" y="6538876"/>
            <a:ext cx="5027930" cy="32956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800" spc="-5" b="0">
                <a:solidFill>
                  <a:srgbClr val="353535"/>
                </a:solidFill>
                <a:latin typeface="Segoe UI Semilight"/>
                <a:cs typeface="Segoe UI Semilight"/>
              </a:rPr>
              <a:t>https://</a:t>
            </a:r>
            <a:r>
              <a:rPr dirty="0" sz="1800" spc="-5" b="0">
                <a:solidFill>
                  <a:srgbClr val="353535"/>
                </a:solidFill>
                <a:latin typeface="Segoe UI Semilight"/>
                <a:cs typeface="Segoe UI Semilight"/>
                <a:hlinkClick r:id="rId4"/>
              </a:rPr>
              <a:t>www.codetraveler.io/NDCOslo-AsyncAwait/</a:t>
            </a:r>
            <a:endParaRPr sz="1800">
              <a:latin typeface="Segoe UI Semilight"/>
              <a:cs typeface="Segoe UI Semi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435840" cy="1213485"/>
          </a:xfrm>
          <a:custGeom>
            <a:avLst/>
            <a:gdLst/>
            <a:ahLst/>
            <a:cxnLst/>
            <a:rect l="l" t="t" r="r" b="b"/>
            <a:pathLst>
              <a:path w="12435840" h="1213485">
                <a:moveTo>
                  <a:pt x="0" y="1213104"/>
                </a:moveTo>
                <a:lnTo>
                  <a:pt x="12435840" y="1213104"/>
                </a:lnTo>
                <a:lnTo>
                  <a:pt x="12435840" y="0"/>
                </a:lnTo>
                <a:lnTo>
                  <a:pt x="0" y="0"/>
                </a:lnTo>
                <a:lnTo>
                  <a:pt x="0" y="1213104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213103"/>
            <a:ext cx="12435840" cy="5782310"/>
          </a:xfrm>
          <a:custGeom>
            <a:avLst/>
            <a:gdLst/>
            <a:ahLst/>
            <a:cxnLst/>
            <a:rect l="l" t="t" r="r" b="b"/>
            <a:pathLst>
              <a:path w="12435840" h="5782309">
                <a:moveTo>
                  <a:pt x="0" y="5782056"/>
                </a:moveTo>
                <a:lnTo>
                  <a:pt x="12435840" y="5782056"/>
                </a:lnTo>
                <a:lnTo>
                  <a:pt x="12435840" y="0"/>
                </a:lnTo>
                <a:lnTo>
                  <a:pt x="0" y="0"/>
                </a:lnTo>
                <a:lnTo>
                  <a:pt x="0" y="57820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125979" y="6522719"/>
            <a:ext cx="405383" cy="3703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75716" y="455167"/>
            <a:ext cx="7015251" cy="5309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8739" y="1245869"/>
            <a:ext cx="7895590" cy="5179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public void</a:t>
            </a:r>
            <a:r>
              <a:rPr dirty="0" sz="130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300" spc="-5">
                <a:latin typeface="Consolas"/>
                <a:cs typeface="Consolas"/>
              </a:rPr>
              <a:t>MoveNext()</a:t>
            </a:r>
            <a:endParaRPr sz="13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300" spc="-5">
                <a:latin typeface="Consolas"/>
                <a:cs typeface="Consolas"/>
              </a:rPr>
              <a:t>{</a:t>
            </a:r>
            <a:endParaRPr sz="1300">
              <a:latin typeface="Consolas"/>
              <a:cs typeface="Consolas"/>
            </a:endParaRPr>
          </a:p>
          <a:p>
            <a:pPr marL="281940" marR="5252720">
              <a:lnSpc>
                <a:spcPct val="100000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uint </a:t>
            </a:r>
            <a:r>
              <a:rPr dirty="0" sz="1300" spc="-5">
                <a:latin typeface="Consolas"/>
                <a:cs typeface="Consolas"/>
              </a:rPr>
              <a:t>num =</a:t>
            </a:r>
            <a:r>
              <a:rPr dirty="0" sz="1300" spc="-60">
                <a:latin typeface="Consolas"/>
                <a:cs typeface="Consolas"/>
              </a:rPr>
              <a:t> </a:t>
            </a:r>
            <a:r>
              <a:rPr dirty="0" sz="1300" spc="-5">
                <a:latin typeface="Consolas"/>
                <a:cs typeface="Consolas"/>
              </a:rPr>
              <a:t>(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uint</a:t>
            </a:r>
            <a:r>
              <a:rPr dirty="0" sz="1300" spc="-5">
                <a:latin typeface="Consolas"/>
                <a:cs typeface="Consolas"/>
              </a:rPr>
              <a:t>)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.$PC;  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.$PC =</a:t>
            </a:r>
            <a:r>
              <a:rPr dirty="0" sz="1300" spc="-10">
                <a:latin typeface="Consolas"/>
                <a:cs typeface="Consolas"/>
              </a:rPr>
              <a:t> -1;</a:t>
            </a:r>
            <a:endParaRPr sz="1300">
              <a:latin typeface="Consolas"/>
              <a:cs typeface="Consolas"/>
            </a:endParaRPr>
          </a:p>
          <a:p>
            <a:pPr marL="281940">
              <a:lnSpc>
                <a:spcPct val="100000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try </a:t>
            </a:r>
            <a:r>
              <a:rPr dirty="0" sz="1300" spc="-5">
                <a:latin typeface="Consolas"/>
                <a:cs typeface="Consolas"/>
              </a:rPr>
              <a:t>{</a:t>
            </a:r>
            <a:endParaRPr sz="1300">
              <a:latin typeface="Consolas"/>
              <a:cs typeface="Consolas"/>
            </a:endParaRPr>
          </a:p>
          <a:p>
            <a:pPr marL="826135" marR="6066155" indent="-271780">
              <a:lnSpc>
                <a:spcPct val="100000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switch </a:t>
            </a:r>
            <a:r>
              <a:rPr dirty="0" sz="1300" spc="-5">
                <a:latin typeface="Consolas"/>
                <a:cs typeface="Consolas"/>
              </a:rPr>
              <a:t>(num)</a:t>
            </a:r>
            <a:r>
              <a:rPr dirty="0" sz="1300" spc="-85">
                <a:latin typeface="Consolas"/>
                <a:cs typeface="Consolas"/>
              </a:rPr>
              <a:t> </a:t>
            </a:r>
            <a:r>
              <a:rPr dirty="0" sz="1300" spc="-5">
                <a:latin typeface="Consolas"/>
                <a:cs typeface="Consolas"/>
              </a:rPr>
              <a:t>{  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case</a:t>
            </a:r>
            <a:r>
              <a:rPr dirty="0" sz="13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300" spc="-10">
                <a:latin typeface="Consolas"/>
                <a:cs typeface="Consolas"/>
              </a:rPr>
              <a:t>0:</a:t>
            </a:r>
            <a:endParaRPr sz="1300">
              <a:latin typeface="Consolas"/>
              <a:cs typeface="Consolas"/>
            </a:endParaRPr>
          </a:p>
          <a:p>
            <a:pPr marL="1097280">
              <a:lnSpc>
                <a:spcPct val="100000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.&lt;wc&gt;</a:t>
            </a:r>
            <a:r>
              <a:rPr dirty="0" u="sng" sz="1300" spc="-5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dirty="0" sz="1300" spc="-5">
                <a:latin typeface="Consolas"/>
                <a:cs typeface="Consolas"/>
              </a:rPr>
              <a:t>0 = 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new </a:t>
            </a:r>
            <a:r>
              <a:rPr dirty="0" sz="1300" spc="-5">
                <a:latin typeface="Consolas"/>
                <a:cs typeface="Consolas"/>
              </a:rPr>
              <a:t>WebClient();</a:t>
            </a:r>
            <a:endParaRPr sz="1300">
              <a:latin typeface="Consolas"/>
              <a:cs typeface="Consolas"/>
            </a:endParaRPr>
          </a:p>
          <a:p>
            <a:pPr marL="1097280">
              <a:lnSpc>
                <a:spcPct val="100000"/>
              </a:lnSpc>
            </a:pPr>
            <a:r>
              <a:rPr dirty="0" sz="13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10">
                <a:latin typeface="Consolas"/>
                <a:cs typeface="Consolas"/>
              </a:rPr>
              <a:t>.$awaiter0 </a:t>
            </a:r>
            <a:r>
              <a:rPr dirty="0" sz="1300" spc="-5">
                <a:latin typeface="Consolas"/>
                <a:cs typeface="Consolas"/>
              </a:rPr>
              <a:t>= </a:t>
            </a:r>
            <a:r>
              <a:rPr dirty="0" sz="13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10">
                <a:latin typeface="Consolas"/>
                <a:cs typeface="Consolas"/>
              </a:rPr>
              <a:t>.&lt;wc&gt;</a:t>
            </a:r>
            <a:r>
              <a:rPr dirty="0" u="sng" sz="1300" spc="225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dirty="0" sz="1300" spc="-10">
                <a:latin typeface="Consolas"/>
                <a:cs typeface="Consolas"/>
              </a:rPr>
              <a:t>0.DownloadDataTaskAsync(</a:t>
            </a:r>
            <a:r>
              <a:rPr dirty="0" sz="13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10">
                <a:latin typeface="Consolas"/>
                <a:cs typeface="Consolas"/>
              </a:rPr>
              <a:t>.url).GetAwaiter();</a:t>
            </a:r>
            <a:endParaRPr sz="1300">
              <a:latin typeface="Consolas"/>
              <a:cs typeface="Consolas"/>
            </a:endParaRPr>
          </a:p>
          <a:p>
            <a:pPr marL="1097280">
              <a:lnSpc>
                <a:spcPct val="100000"/>
              </a:lnSpc>
              <a:spcBef>
                <a:spcPts val="5"/>
              </a:spcBef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.$PC =</a:t>
            </a:r>
            <a:r>
              <a:rPr dirty="0" sz="1300">
                <a:latin typeface="Consolas"/>
                <a:cs typeface="Consolas"/>
              </a:rPr>
              <a:t> </a:t>
            </a:r>
            <a:r>
              <a:rPr dirty="0" sz="1300" spc="-10">
                <a:latin typeface="Consolas"/>
                <a:cs typeface="Consolas"/>
              </a:rPr>
              <a:t>1;</a:t>
            </a:r>
            <a:endParaRPr sz="1300">
              <a:latin typeface="Consolas"/>
              <a:cs typeface="Consolas"/>
            </a:endParaRPr>
          </a:p>
          <a:p>
            <a:pPr marL="1097280">
              <a:lnSpc>
                <a:spcPct val="100000"/>
              </a:lnSpc>
            </a:pPr>
            <a:r>
              <a:rPr dirty="0" sz="1300" spc="-5">
                <a:latin typeface="Consolas"/>
                <a:cs typeface="Consolas"/>
              </a:rPr>
              <a:t>...</a:t>
            </a:r>
            <a:endParaRPr sz="1300">
              <a:latin typeface="Consolas"/>
              <a:cs typeface="Consolas"/>
            </a:endParaRPr>
          </a:p>
          <a:p>
            <a:pPr marL="1097280" marR="6156325">
              <a:lnSpc>
                <a:spcPct val="100000"/>
              </a:lnSpc>
            </a:pPr>
            <a:r>
              <a:rPr dirty="0" sz="1300" spc="-10">
                <a:solidFill>
                  <a:srgbClr val="0000FF"/>
                </a:solidFill>
                <a:latin typeface="Consolas"/>
                <a:cs typeface="Consolas"/>
              </a:rPr>
              <a:t>r</a:t>
            </a:r>
            <a:r>
              <a:rPr dirty="0" sz="1300">
                <a:solidFill>
                  <a:srgbClr val="0000FF"/>
                </a:solidFill>
                <a:latin typeface="Consolas"/>
                <a:cs typeface="Consolas"/>
              </a:rPr>
              <a:t>e</a:t>
            </a:r>
            <a:r>
              <a:rPr dirty="0" sz="1300" spc="-10">
                <a:solidFill>
                  <a:srgbClr val="0000FF"/>
                </a:solidFill>
                <a:latin typeface="Consolas"/>
                <a:cs typeface="Consolas"/>
              </a:rPr>
              <a:t>tu</a:t>
            </a:r>
            <a:r>
              <a:rPr dirty="0" sz="1300">
                <a:solidFill>
                  <a:srgbClr val="0000FF"/>
                </a:solidFill>
                <a:latin typeface="Consolas"/>
                <a:cs typeface="Consolas"/>
              </a:rPr>
              <a:t>r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n</a:t>
            </a:r>
            <a:r>
              <a:rPr dirty="0" sz="1300" spc="-5">
                <a:latin typeface="Consolas"/>
                <a:cs typeface="Consolas"/>
              </a:rPr>
              <a:t>;  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break</a:t>
            </a:r>
            <a:r>
              <a:rPr dirty="0" sz="1300" spc="-5">
                <a:latin typeface="Consolas"/>
                <a:cs typeface="Consolas"/>
              </a:rPr>
              <a:t>;</a:t>
            </a:r>
            <a:endParaRPr sz="1300">
              <a:latin typeface="Consolas"/>
              <a:cs typeface="Consolas"/>
            </a:endParaRPr>
          </a:p>
          <a:p>
            <a:pPr marL="826135">
              <a:lnSpc>
                <a:spcPct val="100000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case </a:t>
            </a:r>
            <a:r>
              <a:rPr dirty="0" sz="1300" spc="-10">
                <a:latin typeface="Consolas"/>
                <a:cs typeface="Consolas"/>
              </a:rPr>
              <a:t>1:</a:t>
            </a:r>
            <a:endParaRPr sz="1300">
              <a:latin typeface="Consolas"/>
              <a:cs typeface="Consolas"/>
            </a:endParaRPr>
          </a:p>
          <a:p>
            <a:pPr marL="1097280">
              <a:lnSpc>
                <a:spcPct val="100000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.&lt;result&gt;</a:t>
            </a:r>
            <a:r>
              <a:rPr dirty="0" u="sng" sz="1300" spc="-5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dirty="0" sz="1300" spc="-5">
                <a:latin typeface="Consolas"/>
                <a:cs typeface="Consolas"/>
              </a:rPr>
              <a:t>1 =</a:t>
            </a:r>
            <a:r>
              <a:rPr dirty="0" sz="1300">
                <a:latin typeface="Consolas"/>
                <a:cs typeface="Consolas"/>
              </a:rPr>
              <a:t> 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.$awaiter0.GetResult();</a:t>
            </a:r>
            <a:endParaRPr sz="1300">
              <a:latin typeface="Consolas"/>
              <a:cs typeface="Consolas"/>
            </a:endParaRPr>
          </a:p>
          <a:p>
            <a:pPr marL="1097280">
              <a:lnSpc>
                <a:spcPct val="100000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.&lt;data&gt;</a:t>
            </a:r>
            <a:r>
              <a:rPr dirty="0" u="sng" sz="1300" spc="-5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dirty="0" sz="1300" spc="-5">
                <a:latin typeface="Consolas"/>
                <a:cs typeface="Consolas"/>
              </a:rPr>
              <a:t>2 = </a:t>
            </a:r>
            <a:r>
              <a:rPr dirty="0" sz="1300" spc="-10">
                <a:latin typeface="Consolas"/>
                <a:cs typeface="Consolas"/>
              </a:rPr>
              <a:t>Encoding.ASCII.GetString(</a:t>
            </a:r>
            <a:r>
              <a:rPr dirty="0" sz="13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10">
                <a:latin typeface="Consolas"/>
                <a:cs typeface="Consolas"/>
              </a:rPr>
              <a:t>.&lt;result&gt;</a:t>
            </a:r>
            <a:r>
              <a:rPr dirty="0" u="sng" sz="1300" spc="3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dirty="0" sz="1300" spc="-10">
                <a:latin typeface="Consolas"/>
                <a:cs typeface="Consolas"/>
              </a:rPr>
              <a:t>1);</a:t>
            </a:r>
            <a:endParaRPr sz="1300">
              <a:latin typeface="Consolas"/>
              <a:cs typeface="Consolas"/>
            </a:endParaRPr>
          </a:p>
          <a:p>
            <a:pPr marL="1097280" marR="3534410">
              <a:lnSpc>
                <a:spcPct val="100000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.$this.LoadData(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.&lt;data&gt;</a:t>
            </a:r>
            <a:r>
              <a:rPr dirty="0" u="sng" sz="1300" spc="-5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dirty="0" sz="1300" spc="-5">
                <a:latin typeface="Consolas"/>
                <a:cs typeface="Consolas"/>
              </a:rPr>
              <a:t>2);  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break</a:t>
            </a:r>
            <a:r>
              <a:rPr dirty="0" sz="1300" spc="-5">
                <a:latin typeface="Consolas"/>
                <a:cs typeface="Consolas"/>
              </a:rPr>
              <a:t>;</a:t>
            </a:r>
            <a:endParaRPr sz="1300">
              <a:latin typeface="Consolas"/>
              <a:cs typeface="Consolas"/>
            </a:endParaRPr>
          </a:p>
          <a:p>
            <a:pPr marL="826135">
              <a:lnSpc>
                <a:spcPct val="100000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default</a:t>
            </a:r>
            <a:r>
              <a:rPr dirty="0" sz="1300" spc="-5">
                <a:latin typeface="Consolas"/>
                <a:cs typeface="Consolas"/>
              </a:rPr>
              <a:t>:</a:t>
            </a:r>
            <a:endParaRPr sz="1300">
              <a:latin typeface="Consolas"/>
              <a:cs typeface="Consolas"/>
            </a:endParaRPr>
          </a:p>
          <a:p>
            <a:pPr marL="1097280">
              <a:lnSpc>
                <a:spcPct val="100000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300" spc="-5">
                <a:latin typeface="Consolas"/>
                <a:cs typeface="Consolas"/>
              </a:rPr>
              <a:t>;</a:t>
            </a:r>
            <a:endParaRPr sz="1300">
              <a:latin typeface="Consolas"/>
              <a:cs typeface="Consolas"/>
            </a:endParaRPr>
          </a:p>
          <a:p>
            <a:pPr marL="554990">
              <a:lnSpc>
                <a:spcPct val="100000"/>
              </a:lnSpc>
            </a:pPr>
            <a:r>
              <a:rPr dirty="0" sz="1300" spc="-5">
                <a:latin typeface="Consolas"/>
                <a:cs typeface="Consolas"/>
              </a:rPr>
              <a:t>}</a:t>
            </a:r>
            <a:endParaRPr sz="1300">
              <a:latin typeface="Consolas"/>
              <a:cs typeface="Consolas"/>
            </a:endParaRPr>
          </a:p>
          <a:p>
            <a:pPr marL="281940">
              <a:lnSpc>
                <a:spcPct val="100000"/>
              </a:lnSpc>
            </a:pPr>
            <a:r>
              <a:rPr dirty="0" sz="1300" spc="-5">
                <a:latin typeface="Consolas"/>
                <a:cs typeface="Consolas"/>
              </a:rPr>
              <a:t>}</a:t>
            </a:r>
            <a:endParaRPr sz="1300">
              <a:latin typeface="Consolas"/>
              <a:cs typeface="Consolas"/>
            </a:endParaRPr>
          </a:p>
          <a:p>
            <a:pPr marL="281940" marR="4438650">
              <a:lnSpc>
                <a:spcPct val="100000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catch </a:t>
            </a:r>
            <a:r>
              <a:rPr dirty="0" sz="1300" spc="-5">
                <a:latin typeface="Consolas"/>
                <a:cs typeface="Consolas"/>
              </a:rPr>
              <a:t>(Exception exception) { ...</a:t>
            </a:r>
            <a:r>
              <a:rPr dirty="0" sz="1300" spc="-50">
                <a:latin typeface="Consolas"/>
                <a:cs typeface="Consolas"/>
              </a:rPr>
              <a:t> </a:t>
            </a:r>
            <a:r>
              <a:rPr dirty="0" sz="1300" spc="-5">
                <a:latin typeface="Consolas"/>
                <a:cs typeface="Consolas"/>
              </a:rPr>
              <a:t>}  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.$PC = </a:t>
            </a:r>
            <a:r>
              <a:rPr dirty="0" sz="1300" spc="-10">
                <a:latin typeface="Consolas"/>
                <a:cs typeface="Consolas"/>
              </a:rPr>
              <a:t>-1;  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.$builder.SetResult();</a:t>
            </a:r>
            <a:endParaRPr sz="13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300" spc="-5">
                <a:latin typeface="Consolas"/>
                <a:cs typeface="Consolas"/>
              </a:rPr>
              <a:t>}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5">
                <a:solidFill>
                  <a:srgbClr val="353535"/>
                </a:solidFill>
              </a:rPr>
              <a:t>@</a:t>
            </a:r>
            <a:r>
              <a:rPr dirty="0">
                <a:solidFill>
                  <a:srgbClr val="353535"/>
                </a:solidFill>
              </a:rPr>
              <a:t>T</a:t>
            </a:r>
            <a:r>
              <a:rPr dirty="0" spc="5">
                <a:solidFill>
                  <a:srgbClr val="353535"/>
                </a:solidFill>
              </a:rPr>
              <a:t>h</a:t>
            </a:r>
            <a:r>
              <a:rPr dirty="0">
                <a:solidFill>
                  <a:srgbClr val="353535"/>
                </a:solidFill>
              </a:rPr>
              <a:t>eCodeTraveler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238492" y="6538876"/>
            <a:ext cx="5027930" cy="32956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800" spc="-5" b="0">
                <a:solidFill>
                  <a:srgbClr val="353535"/>
                </a:solidFill>
                <a:latin typeface="Segoe UI Semilight"/>
                <a:cs typeface="Segoe UI Semilight"/>
              </a:rPr>
              <a:t>https://</a:t>
            </a:r>
            <a:r>
              <a:rPr dirty="0" sz="1800" spc="-5" b="0">
                <a:solidFill>
                  <a:srgbClr val="353535"/>
                </a:solidFill>
                <a:latin typeface="Segoe UI Semilight"/>
                <a:cs typeface="Segoe UI Semilight"/>
                <a:hlinkClick r:id="rId4"/>
              </a:rPr>
              <a:t>www.codetraveler.io/NDCOslo-AsyncAwait/</a:t>
            </a:r>
            <a:endParaRPr sz="1800">
              <a:latin typeface="Segoe UI Semilight"/>
              <a:cs typeface="Segoe UI Semi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435840" cy="1213485"/>
          </a:xfrm>
          <a:custGeom>
            <a:avLst/>
            <a:gdLst/>
            <a:ahLst/>
            <a:cxnLst/>
            <a:rect l="l" t="t" r="r" b="b"/>
            <a:pathLst>
              <a:path w="12435840" h="1213485">
                <a:moveTo>
                  <a:pt x="0" y="1213104"/>
                </a:moveTo>
                <a:lnTo>
                  <a:pt x="12435840" y="1213104"/>
                </a:lnTo>
                <a:lnTo>
                  <a:pt x="12435840" y="0"/>
                </a:lnTo>
                <a:lnTo>
                  <a:pt x="0" y="0"/>
                </a:lnTo>
                <a:lnTo>
                  <a:pt x="0" y="1213104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213103"/>
            <a:ext cx="12435840" cy="5782310"/>
          </a:xfrm>
          <a:custGeom>
            <a:avLst/>
            <a:gdLst/>
            <a:ahLst/>
            <a:cxnLst/>
            <a:rect l="l" t="t" r="r" b="b"/>
            <a:pathLst>
              <a:path w="12435840" h="5782309">
                <a:moveTo>
                  <a:pt x="0" y="5782056"/>
                </a:moveTo>
                <a:lnTo>
                  <a:pt x="12435840" y="5782056"/>
                </a:lnTo>
                <a:lnTo>
                  <a:pt x="12435840" y="0"/>
                </a:lnTo>
                <a:lnTo>
                  <a:pt x="0" y="0"/>
                </a:lnTo>
                <a:lnTo>
                  <a:pt x="0" y="57820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70179" y="6556958"/>
            <a:ext cx="190753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0">
                <a:solidFill>
                  <a:srgbClr val="353535"/>
                </a:solidFill>
                <a:latin typeface="Segoe UI Semilight"/>
                <a:cs typeface="Segoe UI Semilight"/>
              </a:rPr>
              <a:t>@</a:t>
            </a:r>
            <a:r>
              <a:rPr dirty="0" sz="1800" b="0">
                <a:solidFill>
                  <a:srgbClr val="353535"/>
                </a:solidFill>
                <a:latin typeface="Segoe UI Semilight"/>
                <a:cs typeface="Segoe UI Semilight"/>
              </a:rPr>
              <a:t>T</a:t>
            </a:r>
            <a:r>
              <a:rPr dirty="0" sz="1800" spc="5" b="0">
                <a:solidFill>
                  <a:srgbClr val="353535"/>
                </a:solidFill>
                <a:latin typeface="Segoe UI Semilight"/>
                <a:cs typeface="Segoe UI Semilight"/>
              </a:rPr>
              <a:t>h</a:t>
            </a:r>
            <a:r>
              <a:rPr dirty="0" sz="1800" b="0">
                <a:solidFill>
                  <a:srgbClr val="353535"/>
                </a:solidFill>
                <a:latin typeface="Segoe UI Semilight"/>
                <a:cs typeface="Segoe UI Semilight"/>
              </a:rPr>
              <a:t>eCodeTraveler</a:t>
            </a:r>
            <a:endParaRPr sz="1800">
              <a:latin typeface="Segoe UI Semilight"/>
              <a:cs typeface="Segoe UI Semi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38492" y="6556958"/>
            <a:ext cx="50279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0">
                <a:solidFill>
                  <a:srgbClr val="353535"/>
                </a:solidFill>
                <a:latin typeface="Segoe UI Semilight"/>
                <a:cs typeface="Segoe UI Semilight"/>
              </a:rPr>
              <a:t>https://</a:t>
            </a:r>
            <a:r>
              <a:rPr dirty="0" sz="1800" spc="-5" b="0">
                <a:solidFill>
                  <a:srgbClr val="353535"/>
                </a:solidFill>
                <a:latin typeface="Segoe UI Semilight"/>
                <a:cs typeface="Segoe UI Semilight"/>
                <a:hlinkClick r:id="rId2"/>
              </a:rPr>
              <a:t>www.codetraveler.io/NDCOslo-AsyncAwait/</a:t>
            </a:r>
            <a:endParaRPr sz="1800">
              <a:latin typeface="Segoe UI Semilight"/>
              <a:cs typeface="Segoe UI Semiligh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25979" y="6522719"/>
            <a:ext cx="405383" cy="3703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8739" y="1245869"/>
            <a:ext cx="2647315" cy="1214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public void</a:t>
            </a:r>
            <a:r>
              <a:rPr dirty="0" sz="13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300" spc="-5">
                <a:latin typeface="Consolas"/>
                <a:cs typeface="Consolas"/>
              </a:rPr>
              <a:t>MoveNext()</a:t>
            </a:r>
            <a:endParaRPr sz="13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300" spc="-5">
                <a:latin typeface="Consolas"/>
                <a:cs typeface="Consolas"/>
              </a:rPr>
              <a:t>{</a:t>
            </a:r>
            <a:endParaRPr sz="1300">
              <a:latin typeface="Consolas"/>
              <a:cs typeface="Consolas"/>
            </a:endParaRPr>
          </a:p>
          <a:p>
            <a:pPr marL="281940" marR="5080">
              <a:lnSpc>
                <a:spcPct val="100000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uint </a:t>
            </a:r>
            <a:r>
              <a:rPr dirty="0" sz="1300" spc="-5">
                <a:latin typeface="Consolas"/>
                <a:cs typeface="Consolas"/>
              </a:rPr>
              <a:t>num =</a:t>
            </a:r>
            <a:r>
              <a:rPr dirty="0" sz="1300" spc="-60">
                <a:latin typeface="Consolas"/>
                <a:cs typeface="Consolas"/>
              </a:rPr>
              <a:t> </a:t>
            </a:r>
            <a:r>
              <a:rPr dirty="0" sz="1300" spc="-5">
                <a:latin typeface="Consolas"/>
                <a:cs typeface="Consolas"/>
              </a:rPr>
              <a:t>(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uint</a:t>
            </a:r>
            <a:r>
              <a:rPr dirty="0" sz="1300" spc="-5">
                <a:latin typeface="Consolas"/>
                <a:cs typeface="Consolas"/>
              </a:rPr>
              <a:t>)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.$PC;  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.$PC =</a:t>
            </a:r>
            <a:r>
              <a:rPr dirty="0" sz="1300" spc="-10">
                <a:latin typeface="Consolas"/>
                <a:cs typeface="Consolas"/>
              </a:rPr>
              <a:t> -1;</a:t>
            </a:r>
            <a:endParaRPr sz="1300">
              <a:latin typeface="Consolas"/>
              <a:cs typeface="Consolas"/>
            </a:endParaRPr>
          </a:p>
          <a:p>
            <a:pPr marL="281940">
              <a:lnSpc>
                <a:spcPct val="100000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try </a:t>
            </a:r>
            <a:r>
              <a:rPr dirty="0" sz="1300" spc="-5">
                <a:latin typeface="Consolas"/>
                <a:cs typeface="Consolas"/>
              </a:rPr>
              <a:t>{</a:t>
            </a:r>
            <a:endParaRPr sz="1300">
              <a:latin typeface="Consolas"/>
              <a:cs typeface="Consolas"/>
            </a:endParaRPr>
          </a:p>
          <a:p>
            <a:pPr marL="554990">
              <a:lnSpc>
                <a:spcPct val="100000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switch </a:t>
            </a:r>
            <a:r>
              <a:rPr dirty="0" sz="1300" spc="-5">
                <a:latin typeface="Consolas"/>
                <a:cs typeface="Consolas"/>
              </a:rPr>
              <a:t>(num)</a:t>
            </a:r>
            <a:r>
              <a:rPr dirty="0" sz="1300" spc="-20">
                <a:latin typeface="Consolas"/>
                <a:cs typeface="Consolas"/>
              </a:rPr>
              <a:t> </a:t>
            </a:r>
            <a:r>
              <a:rPr dirty="0" sz="1300" spc="-5">
                <a:latin typeface="Consolas"/>
                <a:cs typeface="Consolas"/>
              </a:rPr>
              <a:t>{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3919" y="2506979"/>
            <a:ext cx="7848600" cy="228600"/>
          </a:xfrm>
          <a:prstGeom prst="rect">
            <a:avLst/>
          </a:prstGeom>
          <a:solidFill>
            <a:srgbClr val="FFB800">
              <a:alpha val="199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 marL="20955">
              <a:lnSpc>
                <a:spcPts val="1090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case </a:t>
            </a:r>
            <a:r>
              <a:rPr dirty="0" sz="1300" spc="-10">
                <a:latin typeface="Consolas"/>
                <a:cs typeface="Consolas"/>
              </a:rPr>
              <a:t>0: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5255" y="2688017"/>
            <a:ext cx="7056120" cy="21469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1145">
              <a:lnSpc>
                <a:spcPts val="1225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.&lt;wc&gt;__0 = 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new </a:t>
            </a:r>
            <a:r>
              <a:rPr dirty="0" sz="1300" spc="-5">
                <a:latin typeface="Consolas"/>
                <a:cs typeface="Consolas"/>
              </a:rPr>
              <a:t>WebClient();</a:t>
            </a:r>
            <a:endParaRPr sz="1300">
              <a:latin typeface="Consolas"/>
              <a:cs typeface="Consolas"/>
            </a:endParaRPr>
          </a:p>
          <a:p>
            <a:pPr marL="271145">
              <a:lnSpc>
                <a:spcPct val="100000"/>
              </a:lnSpc>
            </a:pPr>
            <a:r>
              <a:rPr dirty="0" sz="13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10">
                <a:latin typeface="Consolas"/>
                <a:cs typeface="Consolas"/>
              </a:rPr>
              <a:t>.$awaiter0 </a:t>
            </a:r>
            <a:r>
              <a:rPr dirty="0" sz="1300" spc="-5">
                <a:latin typeface="Consolas"/>
                <a:cs typeface="Consolas"/>
              </a:rPr>
              <a:t>=</a:t>
            </a:r>
            <a:r>
              <a:rPr dirty="0" sz="1300" spc="225">
                <a:latin typeface="Consolas"/>
                <a:cs typeface="Consolas"/>
              </a:rPr>
              <a:t> </a:t>
            </a:r>
            <a:r>
              <a:rPr dirty="0" sz="13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10">
                <a:latin typeface="Consolas"/>
                <a:cs typeface="Consolas"/>
              </a:rPr>
              <a:t>.&lt;wc&gt;__0.DownloadDataTaskAsync(</a:t>
            </a:r>
            <a:r>
              <a:rPr dirty="0" sz="13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10">
                <a:latin typeface="Consolas"/>
                <a:cs typeface="Consolas"/>
              </a:rPr>
              <a:t>.url).GetAwaiter();</a:t>
            </a:r>
            <a:endParaRPr sz="1300">
              <a:latin typeface="Consolas"/>
              <a:cs typeface="Consolas"/>
            </a:endParaRPr>
          </a:p>
          <a:p>
            <a:pPr marL="271145">
              <a:lnSpc>
                <a:spcPct val="100000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.$PC =</a:t>
            </a:r>
            <a:r>
              <a:rPr dirty="0" sz="1300">
                <a:latin typeface="Consolas"/>
                <a:cs typeface="Consolas"/>
              </a:rPr>
              <a:t> </a:t>
            </a:r>
            <a:r>
              <a:rPr dirty="0" sz="1300" spc="-10">
                <a:latin typeface="Consolas"/>
                <a:cs typeface="Consolas"/>
              </a:rPr>
              <a:t>1;</a:t>
            </a:r>
            <a:endParaRPr sz="1300">
              <a:latin typeface="Consolas"/>
              <a:cs typeface="Consolas"/>
            </a:endParaRPr>
          </a:p>
          <a:p>
            <a:pPr marL="271145">
              <a:lnSpc>
                <a:spcPct val="100000"/>
              </a:lnSpc>
            </a:pPr>
            <a:r>
              <a:rPr dirty="0" sz="1300" spc="-5">
                <a:latin typeface="Consolas"/>
                <a:cs typeface="Consolas"/>
              </a:rPr>
              <a:t>...</a:t>
            </a:r>
            <a:endParaRPr sz="1300">
              <a:latin typeface="Consolas"/>
              <a:cs typeface="Consolas"/>
            </a:endParaRPr>
          </a:p>
          <a:p>
            <a:pPr marL="271145" marR="6143625">
              <a:lnSpc>
                <a:spcPct val="100000"/>
              </a:lnSpc>
            </a:pPr>
            <a:r>
              <a:rPr dirty="0" sz="1300" spc="-10">
                <a:solidFill>
                  <a:srgbClr val="0000FF"/>
                </a:solidFill>
                <a:latin typeface="Consolas"/>
                <a:cs typeface="Consolas"/>
              </a:rPr>
              <a:t>r</a:t>
            </a:r>
            <a:r>
              <a:rPr dirty="0" sz="1300">
                <a:solidFill>
                  <a:srgbClr val="0000FF"/>
                </a:solidFill>
                <a:latin typeface="Consolas"/>
                <a:cs typeface="Consolas"/>
              </a:rPr>
              <a:t>e</a:t>
            </a:r>
            <a:r>
              <a:rPr dirty="0" sz="1300" spc="-10">
                <a:solidFill>
                  <a:srgbClr val="0000FF"/>
                </a:solidFill>
                <a:latin typeface="Consolas"/>
                <a:cs typeface="Consolas"/>
              </a:rPr>
              <a:t>tu</a:t>
            </a:r>
            <a:r>
              <a:rPr dirty="0" sz="1300">
                <a:solidFill>
                  <a:srgbClr val="0000FF"/>
                </a:solidFill>
                <a:latin typeface="Consolas"/>
                <a:cs typeface="Consolas"/>
              </a:rPr>
              <a:t>r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n</a:t>
            </a:r>
            <a:r>
              <a:rPr dirty="0" sz="1300" spc="-5">
                <a:latin typeface="Consolas"/>
                <a:cs typeface="Consolas"/>
              </a:rPr>
              <a:t>;  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break</a:t>
            </a:r>
            <a:r>
              <a:rPr dirty="0" sz="1300" spc="-5">
                <a:latin typeface="Consolas"/>
                <a:cs typeface="Consolas"/>
              </a:rPr>
              <a:t>;</a:t>
            </a:r>
            <a:endParaRPr sz="13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case </a:t>
            </a:r>
            <a:r>
              <a:rPr dirty="0" sz="1300" spc="-10">
                <a:latin typeface="Consolas"/>
                <a:cs typeface="Consolas"/>
              </a:rPr>
              <a:t>1:</a:t>
            </a:r>
            <a:endParaRPr sz="1300">
              <a:latin typeface="Consolas"/>
              <a:cs typeface="Consolas"/>
            </a:endParaRPr>
          </a:p>
          <a:p>
            <a:pPr marL="271145" marR="1350645">
              <a:lnSpc>
                <a:spcPct val="100000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.&lt;result&gt;__1 = 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.$awaiter0.GetResult();  </a:t>
            </a:r>
            <a:r>
              <a:rPr dirty="0" sz="13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10">
                <a:latin typeface="Consolas"/>
                <a:cs typeface="Consolas"/>
              </a:rPr>
              <a:t>.&lt;data&gt;__2 </a:t>
            </a:r>
            <a:r>
              <a:rPr dirty="0" sz="1300" spc="-5">
                <a:latin typeface="Consolas"/>
                <a:cs typeface="Consolas"/>
              </a:rPr>
              <a:t>= </a:t>
            </a:r>
            <a:r>
              <a:rPr dirty="0" sz="1300" spc="-10">
                <a:latin typeface="Consolas"/>
                <a:cs typeface="Consolas"/>
              </a:rPr>
              <a:t>Encoding.ASCII.GetString(</a:t>
            </a:r>
            <a:r>
              <a:rPr dirty="0" sz="13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10">
                <a:latin typeface="Consolas"/>
                <a:cs typeface="Consolas"/>
              </a:rPr>
              <a:t>.&lt;result&gt;__1);  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.$this.LoadData(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.&lt;data&gt;__2);</a:t>
            </a:r>
            <a:endParaRPr sz="1300">
              <a:latin typeface="Consolas"/>
              <a:cs typeface="Consolas"/>
            </a:endParaRPr>
          </a:p>
          <a:p>
            <a:pPr marL="271145">
              <a:lnSpc>
                <a:spcPct val="100000"/>
              </a:lnSpc>
              <a:spcBef>
                <a:spcPts val="5"/>
              </a:spcBef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break</a:t>
            </a:r>
            <a:r>
              <a:rPr dirty="0" sz="1300" spc="-5">
                <a:latin typeface="Consolas"/>
                <a:cs typeface="Consolas"/>
              </a:rPr>
              <a:t>;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739" y="4812919"/>
            <a:ext cx="3461385" cy="16116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26135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default</a:t>
            </a:r>
            <a:r>
              <a:rPr dirty="0" sz="1300" spc="-5">
                <a:latin typeface="Consolas"/>
                <a:cs typeface="Consolas"/>
              </a:rPr>
              <a:t>:</a:t>
            </a:r>
            <a:endParaRPr sz="1300">
              <a:latin typeface="Consolas"/>
              <a:cs typeface="Consolas"/>
            </a:endParaRPr>
          </a:p>
          <a:p>
            <a:pPr marL="1097280">
              <a:lnSpc>
                <a:spcPct val="100000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300" spc="-5">
                <a:latin typeface="Consolas"/>
                <a:cs typeface="Consolas"/>
              </a:rPr>
              <a:t>;</a:t>
            </a:r>
            <a:endParaRPr sz="1300">
              <a:latin typeface="Consolas"/>
              <a:cs typeface="Consolas"/>
            </a:endParaRPr>
          </a:p>
          <a:p>
            <a:pPr marL="554990">
              <a:lnSpc>
                <a:spcPct val="100000"/>
              </a:lnSpc>
            </a:pPr>
            <a:r>
              <a:rPr dirty="0" sz="1300" spc="-5">
                <a:latin typeface="Consolas"/>
                <a:cs typeface="Consolas"/>
              </a:rPr>
              <a:t>}</a:t>
            </a:r>
            <a:endParaRPr sz="1300">
              <a:latin typeface="Consolas"/>
              <a:cs typeface="Consolas"/>
            </a:endParaRPr>
          </a:p>
          <a:p>
            <a:pPr marL="281940">
              <a:lnSpc>
                <a:spcPct val="100000"/>
              </a:lnSpc>
            </a:pPr>
            <a:r>
              <a:rPr dirty="0" sz="1300" spc="-5">
                <a:latin typeface="Consolas"/>
                <a:cs typeface="Consolas"/>
              </a:rPr>
              <a:t>}</a:t>
            </a:r>
            <a:endParaRPr sz="1300">
              <a:latin typeface="Consolas"/>
              <a:cs typeface="Consolas"/>
            </a:endParaRPr>
          </a:p>
          <a:p>
            <a:pPr marL="281940" marR="5080">
              <a:lnSpc>
                <a:spcPct val="100000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catch </a:t>
            </a:r>
            <a:r>
              <a:rPr dirty="0" sz="1300" spc="-5">
                <a:latin typeface="Consolas"/>
                <a:cs typeface="Consolas"/>
              </a:rPr>
              <a:t>(Exception exception) { ...</a:t>
            </a:r>
            <a:r>
              <a:rPr dirty="0" sz="1300" spc="-50">
                <a:latin typeface="Consolas"/>
                <a:cs typeface="Consolas"/>
              </a:rPr>
              <a:t> </a:t>
            </a:r>
            <a:r>
              <a:rPr dirty="0" sz="1300" spc="-5">
                <a:latin typeface="Consolas"/>
                <a:cs typeface="Consolas"/>
              </a:rPr>
              <a:t>}  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.$PC = </a:t>
            </a:r>
            <a:r>
              <a:rPr dirty="0" sz="1300" spc="-10">
                <a:latin typeface="Consolas"/>
                <a:cs typeface="Consolas"/>
              </a:rPr>
              <a:t>-1;  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.$builder.SetResult();</a:t>
            </a:r>
            <a:endParaRPr sz="13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300" spc="-5">
                <a:latin typeface="Consolas"/>
                <a:cs typeface="Consolas"/>
              </a:rPr>
              <a:t>}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75716" y="455167"/>
            <a:ext cx="7015251" cy="5309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21920" y="2735579"/>
            <a:ext cx="12115800" cy="2032000"/>
          </a:xfrm>
          <a:prstGeom prst="rect">
            <a:avLst/>
          </a:prstGeom>
          <a:solidFill>
            <a:srgbClr val="FFB800">
              <a:alpha val="98823"/>
            </a:srgbClr>
          </a:solidFill>
        </p:spPr>
        <p:txBody>
          <a:bodyPr wrap="square" lIns="0" tIns="3048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40"/>
              </a:spcBef>
            </a:pPr>
            <a:r>
              <a:rPr dirty="0" sz="2100" spc="-5">
                <a:solidFill>
                  <a:srgbClr val="0000FF"/>
                </a:solidFill>
                <a:latin typeface="Consolas"/>
                <a:cs typeface="Consolas"/>
              </a:rPr>
              <a:t>case</a:t>
            </a:r>
            <a:r>
              <a:rPr dirty="0" sz="21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2100" spc="-5">
                <a:latin typeface="Consolas"/>
                <a:cs typeface="Consolas"/>
              </a:rPr>
              <a:t>0:</a:t>
            </a:r>
            <a:endParaRPr sz="2100">
              <a:latin typeface="Consolas"/>
              <a:cs typeface="Consolas"/>
            </a:endParaRPr>
          </a:p>
          <a:p>
            <a:pPr marL="676910">
              <a:lnSpc>
                <a:spcPct val="100000"/>
              </a:lnSpc>
            </a:pPr>
            <a:r>
              <a:rPr dirty="0" sz="21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2100" spc="-10">
                <a:latin typeface="Consolas"/>
                <a:cs typeface="Consolas"/>
              </a:rPr>
              <a:t>.&lt;wc&gt;</a:t>
            </a:r>
            <a:r>
              <a:rPr dirty="0" u="heavy" sz="2100" spc="-1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dirty="0" sz="2100">
                <a:latin typeface="Consolas"/>
                <a:cs typeface="Consolas"/>
              </a:rPr>
              <a:t>0 = </a:t>
            </a:r>
            <a:r>
              <a:rPr dirty="0" sz="2100" spc="-1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21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2100" spc="-10">
                <a:latin typeface="Consolas"/>
                <a:cs typeface="Consolas"/>
              </a:rPr>
              <a:t>WebClient();</a:t>
            </a:r>
            <a:endParaRPr sz="2100">
              <a:latin typeface="Consolas"/>
              <a:cs typeface="Consolas"/>
            </a:endParaRPr>
          </a:p>
          <a:p>
            <a:pPr marL="676910" marR="479425">
              <a:lnSpc>
                <a:spcPct val="100000"/>
              </a:lnSpc>
              <a:spcBef>
                <a:spcPts val="5"/>
              </a:spcBef>
            </a:pPr>
            <a:r>
              <a:rPr dirty="0" sz="21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2100" spc="-5">
                <a:latin typeface="Consolas"/>
                <a:cs typeface="Consolas"/>
              </a:rPr>
              <a:t>.$awaiter0 </a:t>
            </a:r>
            <a:r>
              <a:rPr dirty="0" sz="2100">
                <a:latin typeface="Consolas"/>
                <a:cs typeface="Consolas"/>
              </a:rPr>
              <a:t>= </a:t>
            </a:r>
            <a:r>
              <a:rPr dirty="0" sz="21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2100" spc="-10">
                <a:latin typeface="Consolas"/>
                <a:cs typeface="Consolas"/>
              </a:rPr>
              <a:t>.&lt;wc&gt;</a:t>
            </a:r>
            <a:r>
              <a:rPr dirty="0" u="heavy" sz="2100" spc="-1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dirty="0" sz="2100" spc="-10">
                <a:latin typeface="Consolas"/>
                <a:cs typeface="Consolas"/>
              </a:rPr>
              <a:t>0.DownloadDataTaskAsync(</a:t>
            </a:r>
            <a:r>
              <a:rPr dirty="0" sz="21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2100" spc="-10">
                <a:latin typeface="Consolas"/>
                <a:cs typeface="Consolas"/>
              </a:rPr>
              <a:t>.url).GetAwaiter();  </a:t>
            </a:r>
            <a:r>
              <a:rPr dirty="0" sz="21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2100" spc="-10">
                <a:latin typeface="Consolas"/>
                <a:cs typeface="Consolas"/>
              </a:rPr>
              <a:t>.$PC </a:t>
            </a:r>
            <a:r>
              <a:rPr dirty="0" sz="2100">
                <a:latin typeface="Consolas"/>
                <a:cs typeface="Consolas"/>
              </a:rPr>
              <a:t>=</a:t>
            </a:r>
            <a:r>
              <a:rPr dirty="0" sz="2100" spc="-15">
                <a:latin typeface="Consolas"/>
                <a:cs typeface="Consolas"/>
              </a:rPr>
              <a:t> </a:t>
            </a:r>
            <a:r>
              <a:rPr dirty="0" sz="2100" spc="-5">
                <a:latin typeface="Consolas"/>
                <a:cs typeface="Consolas"/>
              </a:rPr>
              <a:t>1;</a:t>
            </a:r>
            <a:endParaRPr sz="2100">
              <a:latin typeface="Consolas"/>
              <a:cs typeface="Consolas"/>
            </a:endParaRPr>
          </a:p>
          <a:p>
            <a:pPr marL="676910">
              <a:lnSpc>
                <a:spcPct val="100000"/>
              </a:lnSpc>
            </a:pPr>
            <a:r>
              <a:rPr dirty="0" sz="2100" spc="-5">
                <a:latin typeface="Consolas"/>
                <a:cs typeface="Consolas"/>
              </a:rPr>
              <a:t>...</a:t>
            </a:r>
            <a:endParaRPr sz="2100">
              <a:latin typeface="Consolas"/>
              <a:cs typeface="Consolas"/>
            </a:endParaRPr>
          </a:p>
          <a:p>
            <a:pPr marL="676910">
              <a:lnSpc>
                <a:spcPct val="100000"/>
              </a:lnSpc>
              <a:spcBef>
                <a:spcPts val="10"/>
              </a:spcBef>
            </a:pPr>
            <a:r>
              <a:rPr dirty="0" sz="2100" spc="-10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2100" spc="-10">
                <a:latin typeface="Consolas"/>
                <a:cs typeface="Consolas"/>
              </a:rPr>
              <a:t>;</a:t>
            </a:r>
            <a:endParaRPr sz="21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435840" cy="1213485"/>
          </a:xfrm>
          <a:custGeom>
            <a:avLst/>
            <a:gdLst/>
            <a:ahLst/>
            <a:cxnLst/>
            <a:rect l="l" t="t" r="r" b="b"/>
            <a:pathLst>
              <a:path w="12435840" h="1213485">
                <a:moveTo>
                  <a:pt x="0" y="1213104"/>
                </a:moveTo>
                <a:lnTo>
                  <a:pt x="12435840" y="1213104"/>
                </a:lnTo>
                <a:lnTo>
                  <a:pt x="12435840" y="0"/>
                </a:lnTo>
                <a:lnTo>
                  <a:pt x="0" y="0"/>
                </a:lnTo>
                <a:lnTo>
                  <a:pt x="0" y="1213104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213103"/>
            <a:ext cx="12435840" cy="5782310"/>
          </a:xfrm>
          <a:custGeom>
            <a:avLst/>
            <a:gdLst/>
            <a:ahLst/>
            <a:cxnLst/>
            <a:rect l="l" t="t" r="r" b="b"/>
            <a:pathLst>
              <a:path w="12435840" h="5782309">
                <a:moveTo>
                  <a:pt x="0" y="5782056"/>
                </a:moveTo>
                <a:lnTo>
                  <a:pt x="12435840" y="5782056"/>
                </a:lnTo>
                <a:lnTo>
                  <a:pt x="12435840" y="0"/>
                </a:lnTo>
                <a:lnTo>
                  <a:pt x="0" y="0"/>
                </a:lnTo>
                <a:lnTo>
                  <a:pt x="0" y="57820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125979" y="6522719"/>
            <a:ext cx="405383" cy="3703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8739" y="1245869"/>
            <a:ext cx="2647315" cy="1412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public void</a:t>
            </a:r>
            <a:r>
              <a:rPr dirty="0" sz="13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300" spc="-5">
                <a:latin typeface="Consolas"/>
                <a:cs typeface="Consolas"/>
              </a:rPr>
              <a:t>MoveNext()</a:t>
            </a:r>
            <a:endParaRPr sz="13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300" spc="-5">
                <a:latin typeface="Consolas"/>
                <a:cs typeface="Consolas"/>
              </a:rPr>
              <a:t>{</a:t>
            </a:r>
            <a:endParaRPr sz="1300">
              <a:latin typeface="Consolas"/>
              <a:cs typeface="Consolas"/>
            </a:endParaRPr>
          </a:p>
          <a:p>
            <a:pPr marL="281940" marR="5080">
              <a:lnSpc>
                <a:spcPct val="100000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uint </a:t>
            </a:r>
            <a:r>
              <a:rPr dirty="0" sz="1300" spc="-5">
                <a:latin typeface="Consolas"/>
                <a:cs typeface="Consolas"/>
              </a:rPr>
              <a:t>num =</a:t>
            </a:r>
            <a:r>
              <a:rPr dirty="0" sz="1300" spc="-60">
                <a:latin typeface="Consolas"/>
                <a:cs typeface="Consolas"/>
              </a:rPr>
              <a:t> </a:t>
            </a:r>
            <a:r>
              <a:rPr dirty="0" sz="1300" spc="-5">
                <a:latin typeface="Consolas"/>
                <a:cs typeface="Consolas"/>
              </a:rPr>
              <a:t>(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uint</a:t>
            </a:r>
            <a:r>
              <a:rPr dirty="0" sz="1300" spc="-5">
                <a:latin typeface="Consolas"/>
                <a:cs typeface="Consolas"/>
              </a:rPr>
              <a:t>)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.$PC;  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.$PC =</a:t>
            </a:r>
            <a:r>
              <a:rPr dirty="0" sz="1300" spc="-10">
                <a:latin typeface="Consolas"/>
                <a:cs typeface="Consolas"/>
              </a:rPr>
              <a:t> -1;</a:t>
            </a:r>
            <a:endParaRPr sz="1300">
              <a:latin typeface="Consolas"/>
              <a:cs typeface="Consolas"/>
            </a:endParaRPr>
          </a:p>
          <a:p>
            <a:pPr marL="281940">
              <a:lnSpc>
                <a:spcPct val="100000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try </a:t>
            </a:r>
            <a:r>
              <a:rPr dirty="0" sz="1300" spc="-5">
                <a:latin typeface="Consolas"/>
                <a:cs typeface="Consolas"/>
              </a:rPr>
              <a:t>{</a:t>
            </a:r>
            <a:endParaRPr sz="1300">
              <a:latin typeface="Consolas"/>
              <a:cs typeface="Consolas"/>
            </a:endParaRPr>
          </a:p>
          <a:p>
            <a:pPr marL="826135" marR="818515" indent="-271780">
              <a:lnSpc>
                <a:spcPct val="100000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switch </a:t>
            </a:r>
            <a:r>
              <a:rPr dirty="0" sz="1300" spc="-5">
                <a:latin typeface="Consolas"/>
                <a:cs typeface="Consolas"/>
              </a:rPr>
              <a:t>(num)</a:t>
            </a:r>
            <a:r>
              <a:rPr dirty="0" sz="1300" spc="-85">
                <a:latin typeface="Consolas"/>
                <a:cs typeface="Consolas"/>
              </a:rPr>
              <a:t> </a:t>
            </a:r>
            <a:r>
              <a:rPr dirty="0" sz="1300" spc="-5">
                <a:latin typeface="Consolas"/>
                <a:cs typeface="Consolas"/>
              </a:rPr>
              <a:t>{  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case</a:t>
            </a:r>
            <a:r>
              <a:rPr dirty="0" sz="13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300" spc="-10">
                <a:latin typeface="Consolas"/>
                <a:cs typeface="Consolas"/>
              </a:rPr>
              <a:t>0: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5255" y="2688017"/>
            <a:ext cx="7056120" cy="194881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1145">
              <a:lnSpc>
                <a:spcPts val="1225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.&lt;wc&gt;__0 = 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new </a:t>
            </a:r>
            <a:r>
              <a:rPr dirty="0" sz="1300" spc="-5">
                <a:latin typeface="Consolas"/>
                <a:cs typeface="Consolas"/>
              </a:rPr>
              <a:t>WebClient();</a:t>
            </a:r>
            <a:endParaRPr sz="1300">
              <a:latin typeface="Consolas"/>
              <a:cs typeface="Consolas"/>
            </a:endParaRPr>
          </a:p>
          <a:p>
            <a:pPr marL="271145">
              <a:lnSpc>
                <a:spcPct val="100000"/>
              </a:lnSpc>
            </a:pPr>
            <a:r>
              <a:rPr dirty="0" sz="13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10">
                <a:latin typeface="Consolas"/>
                <a:cs typeface="Consolas"/>
              </a:rPr>
              <a:t>.$awaiter0 </a:t>
            </a:r>
            <a:r>
              <a:rPr dirty="0" sz="1300" spc="-5">
                <a:latin typeface="Consolas"/>
                <a:cs typeface="Consolas"/>
              </a:rPr>
              <a:t>=</a:t>
            </a:r>
            <a:r>
              <a:rPr dirty="0" sz="1300" spc="225">
                <a:latin typeface="Consolas"/>
                <a:cs typeface="Consolas"/>
              </a:rPr>
              <a:t> </a:t>
            </a:r>
            <a:r>
              <a:rPr dirty="0" sz="13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10">
                <a:latin typeface="Consolas"/>
                <a:cs typeface="Consolas"/>
              </a:rPr>
              <a:t>.&lt;wc&gt;__0.DownloadDataTaskAsync(</a:t>
            </a:r>
            <a:r>
              <a:rPr dirty="0" sz="13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10">
                <a:latin typeface="Consolas"/>
                <a:cs typeface="Consolas"/>
              </a:rPr>
              <a:t>.url).GetAwaiter();</a:t>
            </a:r>
            <a:endParaRPr sz="1300">
              <a:latin typeface="Consolas"/>
              <a:cs typeface="Consolas"/>
            </a:endParaRPr>
          </a:p>
          <a:p>
            <a:pPr marL="271145">
              <a:lnSpc>
                <a:spcPct val="100000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.$PC =</a:t>
            </a:r>
            <a:r>
              <a:rPr dirty="0" sz="1300">
                <a:latin typeface="Consolas"/>
                <a:cs typeface="Consolas"/>
              </a:rPr>
              <a:t> </a:t>
            </a:r>
            <a:r>
              <a:rPr dirty="0" sz="1300" spc="-10">
                <a:latin typeface="Consolas"/>
                <a:cs typeface="Consolas"/>
              </a:rPr>
              <a:t>1;</a:t>
            </a:r>
            <a:endParaRPr sz="1300">
              <a:latin typeface="Consolas"/>
              <a:cs typeface="Consolas"/>
            </a:endParaRPr>
          </a:p>
          <a:p>
            <a:pPr marL="271145">
              <a:lnSpc>
                <a:spcPct val="100000"/>
              </a:lnSpc>
            </a:pPr>
            <a:r>
              <a:rPr dirty="0" sz="1300" spc="-5">
                <a:latin typeface="Consolas"/>
                <a:cs typeface="Consolas"/>
              </a:rPr>
              <a:t>...</a:t>
            </a:r>
            <a:endParaRPr sz="1300">
              <a:latin typeface="Consolas"/>
              <a:cs typeface="Consolas"/>
            </a:endParaRPr>
          </a:p>
          <a:p>
            <a:pPr marL="271145" marR="6143625">
              <a:lnSpc>
                <a:spcPct val="100000"/>
              </a:lnSpc>
            </a:pPr>
            <a:r>
              <a:rPr dirty="0" sz="1300" spc="-10">
                <a:solidFill>
                  <a:srgbClr val="0000FF"/>
                </a:solidFill>
                <a:latin typeface="Consolas"/>
                <a:cs typeface="Consolas"/>
              </a:rPr>
              <a:t>r</a:t>
            </a:r>
            <a:r>
              <a:rPr dirty="0" sz="1300">
                <a:solidFill>
                  <a:srgbClr val="0000FF"/>
                </a:solidFill>
                <a:latin typeface="Consolas"/>
                <a:cs typeface="Consolas"/>
              </a:rPr>
              <a:t>e</a:t>
            </a:r>
            <a:r>
              <a:rPr dirty="0" sz="1300" spc="-10">
                <a:solidFill>
                  <a:srgbClr val="0000FF"/>
                </a:solidFill>
                <a:latin typeface="Consolas"/>
                <a:cs typeface="Consolas"/>
              </a:rPr>
              <a:t>tu</a:t>
            </a:r>
            <a:r>
              <a:rPr dirty="0" sz="1300">
                <a:solidFill>
                  <a:srgbClr val="0000FF"/>
                </a:solidFill>
                <a:latin typeface="Consolas"/>
                <a:cs typeface="Consolas"/>
              </a:rPr>
              <a:t>r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n</a:t>
            </a:r>
            <a:r>
              <a:rPr dirty="0" sz="1300" spc="-5">
                <a:latin typeface="Consolas"/>
                <a:cs typeface="Consolas"/>
              </a:rPr>
              <a:t>;  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break</a:t>
            </a:r>
            <a:r>
              <a:rPr dirty="0" sz="1300" spc="-5">
                <a:latin typeface="Consolas"/>
                <a:cs typeface="Consolas"/>
              </a:rPr>
              <a:t>;</a:t>
            </a:r>
            <a:endParaRPr sz="13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case </a:t>
            </a:r>
            <a:r>
              <a:rPr dirty="0" sz="1300" spc="-10">
                <a:latin typeface="Consolas"/>
                <a:cs typeface="Consolas"/>
              </a:rPr>
              <a:t>1:</a:t>
            </a:r>
            <a:endParaRPr sz="1300">
              <a:latin typeface="Consolas"/>
              <a:cs typeface="Consolas"/>
            </a:endParaRPr>
          </a:p>
          <a:p>
            <a:pPr marL="271145" marR="1350645">
              <a:lnSpc>
                <a:spcPct val="100000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.&lt;result&gt;__1 = 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.$awaiter0.GetResult();  </a:t>
            </a:r>
            <a:r>
              <a:rPr dirty="0" sz="13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10">
                <a:latin typeface="Consolas"/>
                <a:cs typeface="Consolas"/>
              </a:rPr>
              <a:t>.&lt;data&gt;__2 </a:t>
            </a:r>
            <a:r>
              <a:rPr dirty="0" sz="1300" spc="-5">
                <a:latin typeface="Consolas"/>
                <a:cs typeface="Consolas"/>
              </a:rPr>
              <a:t>= </a:t>
            </a:r>
            <a:r>
              <a:rPr dirty="0" sz="1300" spc="-10">
                <a:latin typeface="Consolas"/>
                <a:cs typeface="Consolas"/>
              </a:rPr>
              <a:t>Encoding.ASCII.GetString(</a:t>
            </a:r>
            <a:r>
              <a:rPr dirty="0" sz="13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10">
                <a:latin typeface="Consolas"/>
                <a:cs typeface="Consolas"/>
              </a:rPr>
              <a:t>.&lt;result&gt;__1);  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.$this.LoadData(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.&lt;data&gt;__2);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8488" y="4614798"/>
            <a:ext cx="1474470" cy="1016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56260" marR="94615" indent="271145">
              <a:lnSpc>
                <a:spcPct val="100000"/>
              </a:lnSpc>
              <a:spcBef>
                <a:spcPts val="95"/>
              </a:spcBef>
            </a:pPr>
            <a:r>
              <a:rPr dirty="0" sz="1300" spc="-10">
                <a:solidFill>
                  <a:srgbClr val="0000FF"/>
                </a:solidFill>
                <a:latin typeface="Consolas"/>
                <a:cs typeface="Consolas"/>
              </a:rPr>
              <a:t>b</a:t>
            </a:r>
            <a:r>
              <a:rPr dirty="0" sz="1300">
                <a:solidFill>
                  <a:srgbClr val="0000FF"/>
                </a:solidFill>
                <a:latin typeface="Consolas"/>
                <a:cs typeface="Consolas"/>
              </a:rPr>
              <a:t>r</a:t>
            </a:r>
            <a:r>
              <a:rPr dirty="0" sz="1300" spc="-10">
                <a:solidFill>
                  <a:srgbClr val="0000FF"/>
                </a:solidFill>
                <a:latin typeface="Consolas"/>
                <a:cs typeface="Consolas"/>
              </a:rPr>
              <a:t>ea</a:t>
            </a:r>
            <a:r>
              <a:rPr dirty="0" sz="1300" spc="5">
                <a:solidFill>
                  <a:srgbClr val="0000FF"/>
                </a:solidFill>
                <a:latin typeface="Consolas"/>
                <a:cs typeface="Consolas"/>
              </a:rPr>
              <a:t>k</a:t>
            </a:r>
            <a:r>
              <a:rPr dirty="0" sz="1300" spc="-5">
                <a:latin typeface="Consolas"/>
                <a:cs typeface="Consolas"/>
              </a:rPr>
              <a:t>;  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default</a:t>
            </a:r>
            <a:r>
              <a:rPr dirty="0" sz="1300" spc="-5">
                <a:latin typeface="Consolas"/>
                <a:cs typeface="Consolas"/>
              </a:rPr>
              <a:t>:</a:t>
            </a:r>
            <a:endParaRPr sz="1300">
              <a:latin typeface="Consolas"/>
              <a:cs typeface="Consolas"/>
            </a:endParaRPr>
          </a:p>
          <a:p>
            <a:pPr marL="828040">
              <a:lnSpc>
                <a:spcPct val="100000"/>
              </a:lnSpc>
            </a:pPr>
            <a:r>
              <a:rPr dirty="0" sz="1300" spc="-10">
                <a:solidFill>
                  <a:srgbClr val="0000FF"/>
                </a:solidFill>
                <a:latin typeface="Consolas"/>
                <a:cs typeface="Consolas"/>
              </a:rPr>
              <a:t>r</a:t>
            </a:r>
            <a:r>
              <a:rPr dirty="0" sz="1300">
                <a:solidFill>
                  <a:srgbClr val="0000FF"/>
                </a:solidFill>
                <a:latin typeface="Consolas"/>
                <a:cs typeface="Consolas"/>
              </a:rPr>
              <a:t>e</a:t>
            </a:r>
            <a:r>
              <a:rPr dirty="0" sz="1300" spc="-10">
                <a:solidFill>
                  <a:srgbClr val="0000FF"/>
                </a:solidFill>
                <a:latin typeface="Consolas"/>
                <a:cs typeface="Consolas"/>
              </a:rPr>
              <a:t>tu</a:t>
            </a:r>
            <a:r>
              <a:rPr dirty="0" sz="1300">
                <a:solidFill>
                  <a:srgbClr val="0000FF"/>
                </a:solidFill>
                <a:latin typeface="Consolas"/>
                <a:cs typeface="Consolas"/>
              </a:rPr>
              <a:t>r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n</a:t>
            </a:r>
            <a:r>
              <a:rPr dirty="0" sz="1300" spc="-5">
                <a:latin typeface="Consolas"/>
                <a:cs typeface="Consolas"/>
              </a:rPr>
              <a:t>;</a:t>
            </a:r>
            <a:endParaRPr sz="1300">
              <a:latin typeface="Consolas"/>
              <a:cs typeface="Consolas"/>
            </a:endParaRPr>
          </a:p>
          <a:p>
            <a:pPr marL="285115">
              <a:lnSpc>
                <a:spcPct val="100000"/>
              </a:lnSpc>
            </a:pPr>
            <a:r>
              <a:rPr dirty="0" sz="1300" spc="-5">
                <a:latin typeface="Consolas"/>
                <a:cs typeface="Consolas"/>
              </a:rPr>
              <a:t>}</a:t>
            </a:r>
            <a:endParaRPr sz="13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300" spc="-5">
                <a:latin typeface="Consolas"/>
                <a:cs typeface="Consolas"/>
              </a:rPr>
              <a:t>}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5716" y="455167"/>
            <a:ext cx="7015251" cy="5309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07719" y="4597907"/>
            <a:ext cx="7848600" cy="271780"/>
          </a:xfrm>
          <a:custGeom>
            <a:avLst/>
            <a:gdLst/>
            <a:ahLst/>
            <a:cxnLst/>
            <a:rect l="l" t="t" r="r" b="b"/>
            <a:pathLst>
              <a:path w="7848600" h="271779">
                <a:moveTo>
                  <a:pt x="0" y="271271"/>
                </a:moveTo>
                <a:lnTo>
                  <a:pt x="7848600" y="271271"/>
                </a:lnTo>
                <a:lnTo>
                  <a:pt x="7848600" y="0"/>
                </a:lnTo>
                <a:lnTo>
                  <a:pt x="0" y="0"/>
                </a:lnTo>
                <a:lnTo>
                  <a:pt x="0" y="271271"/>
                </a:lnTo>
                <a:close/>
              </a:path>
            </a:pathLst>
          </a:custGeom>
          <a:solidFill>
            <a:srgbClr val="FFB800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1920" y="2659379"/>
            <a:ext cx="12115800" cy="1938655"/>
          </a:xfrm>
          <a:custGeom>
            <a:avLst/>
            <a:gdLst/>
            <a:ahLst/>
            <a:cxnLst/>
            <a:rect l="l" t="t" r="r" b="b"/>
            <a:pathLst>
              <a:path w="12115800" h="1938654">
                <a:moveTo>
                  <a:pt x="0" y="1938527"/>
                </a:moveTo>
                <a:lnTo>
                  <a:pt x="12115800" y="1938527"/>
                </a:lnTo>
                <a:lnTo>
                  <a:pt x="12115800" y="0"/>
                </a:lnTo>
                <a:lnTo>
                  <a:pt x="0" y="0"/>
                </a:lnTo>
                <a:lnTo>
                  <a:pt x="0" y="1938527"/>
                </a:lnTo>
                <a:close/>
              </a:path>
            </a:pathLst>
          </a:custGeom>
          <a:solidFill>
            <a:srgbClr val="FFB800">
              <a:alpha val="98823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00964" y="2675889"/>
            <a:ext cx="10797540" cy="1856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00FF"/>
                </a:solidFill>
                <a:latin typeface="Consolas"/>
                <a:cs typeface="Consolas"/>
              </a:rPr>
              <a:t>case</a:t>
            </a:r>
            <a:r>
              <a:rPr dirty="0" sz="2400" spc="-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2400" spc="10">
                <a:latin typeface="Consolas"/>
                <a:cs typeface="Consolas"/>
              </a:rPr>
              <a:t>1:</a:t>
            </a:r>
            <a:endParaRPr sz="2400">
              <a:latin typeface="Consolas"/>
              <a:cs typeface="Consolas"/>
            </a:endParaRPr>
          </a:p>
          <a:p>
            <a:pPr marL="684530">
              <a:lnSpc>
                <a:spcPct val="100000"/>
              </a:lnSpc>
            </a:pPr>
            <a:r>
              <a:rPr dirty="0" sz="24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2400">
                <a:latin typeface="Consolas"/>
                <a:cs typeface="Consolas"/>
              </a:rPr>
              <a:t>.&lt;result&gt;</a:t>
            </a:r>
            <a:r>
              <a:rPr dirty="0" u="heavy" sz="240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dirty="0" sz="2400">
                <a:latin typeface="Consolas"/>
                <a:cs typeface="Consolas"/>
              </a:rPr>
              <a:t>1 =</a:t>
            </a:r>
            <a:r>
              <a:rPr dirty="0" sz="2400" spc="30">
                <a:latin typeface="Consolas"/>
                <a:cs typeface="Consolas"/>
              </a:rPr>
              <a:t> </a:t>
            </a:r>
            <a:r>
              <a:rPr dirty="0" sz="24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2400">
                <a:latin typeface="Consolas"/>
                <a:cs typeface="Consolas"/>
              </a:rPr>
              <a:t>.$awaiter0.GetResult();</a:t>
            </a:r>
            <a:endParaRPr sz="2400">
              <a:latin typeface="Consolas"/>
              <a:cs typeface="Consolas"/>
            </a:endParaRPr>
          </a:p>
          <a:p>
            <a:pPr marL="684530" marR="5080">
              <a:lnSpc>
                <a:spcPct val="100000"/>
              </a:lnSpc>
            </a:pPr>
            <a:r>
              <a:rPr dirty="0" sz="2400" spc="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2400" spc="5">
                <a:latin typeface="Consolas"/>
                <a:cs typeface="Consolas"/>
              </a:rPr>
              <a:t>.&lt;data&gt;</a:t>
            </a:r>
            <a:r>
              <a:rPr dirty="0" u="heavy" sz="2400" spc="5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dirty="0" sz="2400">
                <a:latin typeface="Consolas"/>
                <a:cs typeface="Consolas"/>
              </a:rPr>
              <a:t>2 = Encoding.ASCII.GetString(</a:t>
            </a:r>
            <a:r>
              <a:rPr dirty="0" sz="24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2400">
                <a:latin typeface="Consolas"/>
                <a:cs typeface="Consolas"/>
              </a:rPr>
              <a:t>.&lt;result&gt;</a:t>
            </a:r>
            <a:r>
              <a:rPr dirty="0" u="heavy" sz="240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dirty="0" sz="2400" spc="5">
                <a:latin typeface="Consolas"/>
                <a:cs typeface="Consolas"/>
              </a:rPr>
              <a:t>1);  </a:t>
            </a:r>
            <a:r>
              <a:rPr dirty="0" sz="2400" spc="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2400" spc="5">
                <a:latin typeface="Consolas"/>
                <a:cs typeface="Consolas"/>
              </a:rPr>
              <a:t>.$this.LoadData(</a:t>
            </a:r>
            <a:r>
              <a:rPr dirty="0" sz="2400" spc="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2400" spc="5">
                <a:latin typeface="Consolas"/>
                <a:cs typeface="Consolas"/>
              </a:rPr>
              <a:t>.&lt;data&gt;__2);</a:t>
            </a:r>
            <a:endParaRPr sz="2400">
              <a:latin typeface="Consolas"/>
              <a:cs typeface="Consolas"/>
            </a:endParaRPr>
          </a:p>
          <a:p>
            <a:pPr marL="684530">
              <a:lnSpc>
                <a:spcPct val="100000"/>
              </a:lnSpc>
              <a:spcBef>
                <a:spcPts val="15"/>
              </a:spcBef>
            </a:pPr>
            <a:r>
              <a:rPr dirty="0" sz="2400" spc="5">
                <a:solidFill>
                  <a:srgbClr val="0000FF"/>
                </a:solidFill>
                <a:latin typeface="Consolas"/>
                <a:cs typeface="Consolas"/>
              </a:rPr>
              <a:t>break</a:t>
            </a:r>
            <a:r>
              <a:rPr dirty="0" sz="2400" spc="5">
                <a:latin typeface="Consolas"/>
                <a:cs typeface="Consolas"/>
              </a:rPr>
              <a:t>;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8488" y="5647726"/>
            <a:ext cx="3192145" cy="5867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25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catch </a:t>
            </a:r>
            <a:r>
              <a:rPr dirty="0" sz="1300" spc="-5">
                <a:latin typeface="Consolas"/>
                <a:cs typeface="Consolas"/>
              </a:rPr>
              <a:t>(Exception exception) { ...</a:t>
            </a:r>
            <a:r>
              <a:rPr dirty="0" sz="1300" spc="-45">
                <a:latin typeface="Consolas"/>
                <a:cs typeface="Consolas"/>
              </a:rPr>
              <a:t> </a:t>
            </a:r>
            <a:r>
              <a:rPr dirty="0" sz="1300" spc="-5">
                <a:latin typeface="Consolas"/>
                <a:cs typeface="Consolas"/>
              </a:rPr>
              <a:t>}</a:t>
            </a:r>
            <a:endParaRPr sz="1300">
              <a:latin typeface="Consolas"/>
              <a:cs typeface="Consolas"/>
            </a:endParaRPr>
          </a:p>
          <a:p>
            <a:pPr marL="12700" marR="819150">
              <a:lnSpc>
                <a:spcPct val="100000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.$PC = </a:t>
            </a:r>
            <a:r>
              <a:rPr dirty="0" sz="1300" spc="-10">
                <a:latin typeface="Consolas"/>
                <a:cs typeface="Consolas"/>
              </a:rPr>
              <a:t>-1;  </a:t>
            </a:r>
            <a:r>
              <a:rPr dirty="0" sz="1300">
                <a:solidFill>
                  <a:srgbClr val="0000FF"/>
                </a:solidFill>
                <a:latin typeface="Consolas"/>
                <a:cs typeface="Consolas"/>
              </a:rPr>
              <a:t>t</a:t>
            </a:r>
            <a:r>
              <a:rPr dirty="0" sz="1300" spc="-10">
                <a:solidFill>
                  <a:srgbClr val="0000FF"/>
                </a:solidFill>
                <a:latin typeface="Consolas"/>
                <a:cs typeface="Consolas"/>
              </a:rPr>
              <a:t>h</a:t>
            </a:r>
            <a:r>
              <a:rPr dirty="0" sz="1300">
                <a:solidFill>
                  <a:srgbClr val="0000FF"/>
                </a:solidFill>
                <a:latin typeface="Consolas"/>
                <a:cs typeface="Consolas"/>
              </a:rPr>
              <a:t>i</a:t>
            </a:r>
            <a:r>
              <a:rPr dirty="0" sz="1300" spc="-10">
                <a:solidFill>
                  <a:srgbClr val="0000FF"/>
                </a:solidFill>
                <a:latin typeface="Consolas"/>
                <a:cs typeface="Consolas"/>
              </a:rPr>
              <a:t>s</a:t>
            </a:r>
            <a:r>
              <a:rPr dirty="0" sz="1300" spc="-10">
                <a:latin typeface="Consolas"/>
                <a:cs typeface="Consolas"/>
              </a:rPr>
              <a:t>.</a:t>
            </a:r>
            <a:r>
              <a:rPr dirty="0" sz="1300">
                <a:latin typeface="Consolas"/>
                <a:cs typeface="Consolas"/>
              </a:rPr>
              <a:t>$</a:t>
            </a:r>
            <a:r>
              <a:rPr dirty="0" sz="1300" spc="-10">
                <a:latin typeface="Consolas"/>
                <a:cs typeface="Consolas"/>
              </a:rPr>
              <a:t>bu</a:t>
            </a:r>
            <a:r>
              <a:rPr dirty="0" sz="1300">
                <a:latin typeface="Consolas"/>
                <a:cs typeface="Consolas"/>
              </a:rPr>
              <a:t>i</a:t>
            </a:r>
            <a:r>
              <a:rPr dirty="0" sz="1300" spc="-10">
                <a:latin typeface="Consolas"/>
                <a:cs typeface="Consolas"/>
              </a:rPr>
              <a:t>l</a:t>
            </a:r>
            <a:r>
              <a:rPr dirty="0" sz="1300">
                <a:latin typeface="Consolas"/>
                <a:cs typeface="Consolas"/>
              </a:rPr>
              <a:t>d</a:t>
            </a:r>
            <a:r>
              <a:rPr dirty="0" sz="1300" spc="-10">
                <a:latin typeface="Consolas"/>
                <a:cs typeface="Consolas"/>
              </a:rPr>
              <a:t>er</a:t>
            </a:r>
            <a:r>
              <a:rPr dirty="0" sz="1300">
                <a:latin typeface="Consolas"/>
                <a:cs typeface="Consolas"/>
              </a:rPr>
              <a:t>.</a:t>
            </a:r>
            <a:r>
              <a:rPr dirty="0" sz="1300" spc="-10">
                <a:latin typeface="Consolas"/>
                <a:cs typeface="Consolas"/>
              </a:rPr>
              <a:t>Set</a:t>
            </a:r>
            <a:r>
              <a:rPr dirty="0" sz="1300">
                <a:latin typeface="Consolas"/>
                <a:cs typeface="Consolas"/>
              </a:rPr>
              <a:t>R</a:t>
            </a:r>
            <a:r>
              <a:rPr dirty="0" sz="1300" spc="-10">
                <a:latin typeface="Consolas"/>
                <a:cs typeface="Consolas"/>
              </a:rPr>
              <a:t>e</a:t>
            </a:r>
            <a:r>
              <a:rPr dirty="0" sz="1300">
                <a:latin typeface="Consolas"/>
                <a:cs typeface="Consolas"/>
              </a:rPr>
              <a:t>s</a:t>
            </a:r>
            <a:r>
              <a:rPr dirty="0" sz="1300" spc="-10">
                <a:latin typeface="Consolas"/>
                <a:cs typeface="Consolas"/>
              </a:rPr>
              <a:t>ul</a:t>
            </a:r>
            <a:r>
              <a:rPr dirty="0" sz="1300" spc="10">
                <a:latin typeface="Consolas"/>
                <a:cs typeface="Consolas"/>
              </a:rPr>
              <a:t>t</a:t>
            </a:r>
            <a:r>
              <a:rPr dirty="0" sz="1300" spc="-10">
                <a:latin typeface="Consolas"/>
                <a:cs typeface="Consolas"/>
              </a:rPr>
              <a:t>();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739" y="6243915"/>
            <a:ext cx="116205" cy="190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25"/>
              </a:lnSpc>
            </a:pPr>
            <a:r>
              <a:rPr dirty="0" sz="1300" spc="-5">
                <a:latin typeface="Consolas"/>
                <a:cs typeface="Consolas"/>
              </a:rPr>
              <a:t>}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5">
                <a:solidFill>
                  <a:srgbClr val="353535"/>
                </a:solidFill>
              </a:rPr>
              <a:t>@</a:t>
            </a:r>
            <a:r>
              <a:rPr dirty="0">
                <a:solidFill>
                  <a:srgbClr val="353535"/>
                </a:solidFill>
              </a:rPr>
              <a:t>T</a:t>
            </a:r>
            <a:r>
              <a:rPr dirty="0" spc="5">
                <a:solidFill>
                  <a:srgbClr val="353535"/>
                </a:solidFill>
              </a:rPr>
              <a:t>h</a:t>
            </a:r>
            <a:r>
              <a:rPr dirty="0">
                <a:solidFill>
                  <a:srgbClr val="353535"/>
                </a:solidFill>
              </a:rPr>
              <a:t>eCodeTraveler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238492" y="6538876"/>
            <a:ext cx="5027930" cy="32956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800" spc="-5" b="0">
                <a:solidFill>
                  <a:srgbClr val="353535"/>
                </a:solidFill>
                <a:latin typeface="Segoe UI Semilight"/>
                <a:cs typeface="Segoe UI Semilight"/>
              </a:rPr>
              <a:t>https://</a:t>
            </a:r>
            <a:r>
              <a:rPr dirty="0" sz="1800" spc="-5" b="0">
                <a:solidFill>
                  <a:srgbClr val="353535"/>
                </a:solidFill>
                <a:latin typeface="Segoe UI Semilight"/>
                <a:cs typeface="Segoe UI Semilight"/>
                <a:hlinkClick r:id="rId4"/>
              </a:rPr>
              <a:t>www.codetraveler.io/NDCOslo-AsyncAwait/</a:t>
            </a:r>
            <a:endParaRPr sz="1800">
              <a:latin typeface="Segoe UI Semilight"/>
              <a:cs typeface="Segoe UI Semi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435840" cy="1213485"/>
          </a:xfrm>
          <a:custGeom>
            <a:avLst/>
            <a:gdLst/>
            <a:ahLst/>
            <a:cxnLst/>
            <a:rect l="l" t="t" r="r" b="b"/>
            <a:pathLst>
              <a:path w="12435840" h="1213485">
                <a:moveTo>
                  <a:pt x="0" y="1213104"/>
                </a:moveTo>
                <a:lnTo>
                  <a:pt x="12435840" y="1213104"/>
                </a:lnTo>
                <a:lnTo>
                  <a:pt x="12435840" y="0"/>
                </a:lnTo>
                <a:lnTo>
                  <a:pt x="0" y="0"/>
                </a:lnTo>
                <a:lnTo>
                  <a:pt x="0" y="1213104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213103"/>
            <a:ext cx="12435840" cy="5782310"/>
          </a:xfrm>
          <a:custGeom>
            <a:avLst/>
            <a:gdLst/>
            <a:ahLst/>
            <a:cxnLst/>
            <a:rect l="l" t="t" r="r" b="b"/>
            <a:pathLst>
              <a:path w="12435840" h="5782309">
                <a:moveTo>
                  <a:pt x="0" y="5782056"/>
                </a:moveTo>
                <a:lnTo>
                  <a:pt x="12435840" y="5782056"/>
                </a:lnTo>
                <a:lnTo>
                  <a:pt x="12435840" y="0"/>
                </a:lnTo>
                <a:lnTo>
                  <a:pt x="0" y="0"/>
                </a:lnTo>
                <a:lnTo>
                  <a:pt x="0" y="57820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125979" y="6522719"/>
            <a:ext cx="405383" cy="3703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8739" y="1245869"/>
            <a:ext cx="2647315" cy="1016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public void</a:t>
            </a:r>
            <a:r>
              <a:rPr dirty="0" sz="13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300" spc="-5">
                <a:latin typeface="Consolas"/>
                <a:cs typeface="Consolas"/>
              </a:rPr>
              <a:t>MoveNext()</a:t>
            </a:r>
            <a:endParaRPr sz="13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300" spc="-5">
                <a:latin typeface="Consolas"/>
                <a:cs typeface="Consolas"/>
              </a:rPr>
              <a:t>{</a:t>
            </a:r>
            <a:endParaRPr sz="1300">
              <a:latin typeface="Consolas"/>
              <a:cs typeface="Consolas"/>
            </a:endParaRPr>
          </a:p>
          <a:p>
            <a:pPr marL="281940" marR="5080">
              <a:lnSpc>
                <a:spcPct val="100000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uint </a:t>
            </a:r>
            <a:r>
              <a:rPr dirty="0" sz="1300" spc="-5">
                <a:latin typeface="Consolas"/>
                <a:cs typeface="Consolas"/>
              </a:rPr>
              <a:t>num =</a:t>
            </a:r>
            <a:r>
              <a:rPr dirty="0" sz="1300" spc="-60">
                <a:latin typeface="Consolas"/>
                <a:cs typeface="Consolas"/>
              </a:rPr>
              <a:t> </a:t>
            </a:r>
            <a:r>
              <a:rPr dirty="0" sz="1300" spc="-5">
                <a:latin typeface="Consolas"/>
                <a:cs typeface="Consolas"/>
              </a:rPr>
              <a:t>(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uint</a:t>
            </a:r>
            <a:r>
              <a:rPr dirty="0" sz="1300" spc="-5">
                <a:latin typeface="Consolas"/>
                <a:cs typeface="Consolas"/>
              </a:rPr>
              <a:t>)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.$PC;  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.$PC =</a:t>
            </a:r>
            <a:r>
              <a:rPr dirty="0" sz="1300" spc="-10">
                <a:latin typeface="Consolas"/>
                <a:cs typeface="Consolas"/>
              </a:rPr>
              <a:t> -1;</a:t>
            </a:r>
            <a:endParaRPr sz="1300">
              <a:latin typeface="Consolas"/>
              <a:cs typeface="Consolas"/>
            </a:endParaRPr>
          </a:p>
          <a:p>
            <a:pPr marL="281940">
              <a:lnSpc>
                <a:spcPct val="100000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try </a:t>
            </a:r>
            <a:r>
              <a:rPr dirty="0" sz="1300" spc="-5">
                <a:latin typeface="Consolas"/>
                <a:cs typeface="Consolas"/>
              </a:rPr>
              <a:t>{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3983" y="2291777"/>
            <a:ext cx="1266190" cy="3632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25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switch </a:t>
            </a:r>
            <a:r>
              <a:rPr dirty="0" sz="1300" spc="-5">
                <a:latin typeface="Consolas"/>
                <a:cs typeface="Consolas"/>
              </a:rPr>
              <a:t>(num)</a:t>
            </a:r>
            <a:r>
              <a:rPr dirty="0" sz="1300" spc="-90">
                <a:latin typeface="Consolas"/>
                <a:cs typeface="Consolas"/>
              </a:rPr>
              <a:t> </a:t>
            </a:r>
            <a:r>
              <a:rPr dirty="0" sz="1300" spc="-5">
                <a:latin typeface="Consolas"/>
                <a:cs typeface="Consolas"/>
              </a:rPr>
              <a:t>{</a:t>
            </a:r>
            <a:endParaRPr sz="1300">
              <a:latin typeface="Consolas"/>
              <a:cs typeface="Consolas"/>
            </a:endParaRPr>
          </a:p>
          <a:p>
            <a:pPr marL="271145">
              <a:lnSpc>
                <a:spcPct val="100000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case</a:t>
            </a:r>
            <a:r>
              <a:rPr dirty="0" sz="13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300" spc="-10">
                <a:latin typeface="Consolas"/>
                <a:cs typeface="Consolas"/>
              </a:rPr>
              <a:t>0: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2555" y="2632963"/>
            <a:ext cx="7081520" cy="26015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3845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.&lt;wc&gt;</a:t>
            </a:r>
            <a:r>
              <a:rPr dirty="0" u="sng" sz="1300" spc="-5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dirty="0" sz="1300" spc="-5">
                <a:latin typeface="Consolas"/>
                <a:cs typeface="Consolas"/>
              </a:rPr>
              <a:t>0 = 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new </a:t>
            </a:r>
            <a:r>
              <a:rPr dirty="0" sz="1300" spc="-5">
                <a:latin typeface="Consolas"/>
                <a:cs typeface="Consolas"/>
              </a:rPr>
              <a:t>WebClient();</a:t>
            </a:r>
            <a:endParaRPr sz="1300">
              <a:latin typeface="Consolas"/>
              <a:cs typeface="Consolas"/>
            </a:endParaRPr>
          </a:p>
          <a:p>
            <a:pPr marL="283845">
              <a:lnSpc>
                <a:spcPct val="100000"/>
              </a:lnSpc>
            </a:pPr>
            <a:r>
              <a:rPr dirty="0" sz="13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10">
                <a:latin typeface="Consolas"/>
                <a:cs typeface="Consolas"/>
              </a:rPr>
              <a:t>.$awaiter0 </a:t>
            </a:r>
            <a:r>
              <a:rPr dirty="0" sz="1300" spc="-5">
                <a:latin typeface="Consolas"/>
                <a:cs typeface="Consolas"/>
              </a:rPr>
              <a:t>= </a:t>
            </a:r>
            <a:r>
              <a:rPr dirty="0" sz="13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10">
                <a:latin typeface="Consolas"/>
                <a:cs typeface="Consolas"/>
              </a:rPr>
              <a:t>.&lt;wc&gt;</a:t>
            </a:r>
            <a:r>
              <a:rPr dirty="0" u="sng" sz="1300" spc="225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dirty="0" sz="1300" spc="-10">
                <a:latin typeface="Consolas"/>
                <a:cs typeface="Consolas"/>
              </a:rPr>
              <a:t>0.DownloadDataTaskAsync(</a:t>
            </a:r>
            <a:r>
              <a:rPr dirty="0" sz="13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10">
                <a:latin typeface="Consolas"/>
                <a:cs typeface="Consolas"/>
              </a:rPr>
              <a:t>.url).GetAwaiter();</a:t>
            </a:r>
            <a:endParaRPr sz="1300">
              <a:latin typeface="Consolas"/>
              <a:cs typeface="Consolas"/>
            </a:endParaRPr>
          </a:p>
          <a:p>
            <a:pPr marL="283845">
              <a:lnSpc>
                <a:spcPct val="100000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.$PC =</a:t>
            </a:r>
            <a:r>
              <a:rPr dirty="0" sz="1300">
                <a:latin typeface="Consolas"/>
                <a:cs typeface="Consolas"/>
              </a:rPr>
              <a:t> </a:t>
            </a:r>
            <a:r>
              <a:rPr dirty="0" sz="1300" spc="-10">
                <a:latin typeface="Consolas"/>
                <a:cs typeface="Consolas"/>
              </a:rPr>
              <a:t>1;</a:t>
            </a:r>
            <a:endParaRPr sz="1300">
              <a:latin typeface="Consolas"/>
              <a:cs typeface="Consolas"/>
            </a:endParaRPr>
          </a:p>
          <a:p>
            <a:pPr marL="283845">
              <a:lnSpc>
                <a:spcPct val="100000"/>
              </a:lnSpc>
            </a:pPr>
            <a:r>
              <a:rPr dirty="0" sz="1300" spc="-5">
                <a:latin typeface="Consolas"/>
                <a:cs typeface="Consolas"/>
              </a:rPr>
              <a:t>...</a:t>
            </a:r>
            <a:endParaRPr sz="1300">
              <a:latin typeface="Consolas"/>
              <a:cs typeface="Consolas"/>
            </a:endParaRPr>
          </a:p>
          <a:p>
            <a:pPr marL="283845" marR="6156325">
              <a:lnSpc>
                <a:spcPct val="100000"/>
              </a:lnSpc>
            </a:pPr>
            <a:r>
              <a:rPr dirty="0" sz="1300" spc="-10">
                <a:solidFill>
                  <a:srgbClr val="0000FF"/>
                </a:solidFill>
                <a:latin typeface="Consolas"/>
                <a:cs typeface="Consolas"/>
              </a:rPr>
              <a:t>r</a:t>
            </a:r>
            <a:r>
              <a:rPr dirty="0" sz="1300">
                <a:solidFill>
                  <a:srgbClr val="0000FF"/>
                </a:solidFill>
                <a:latin typeface="Consolas"/>
                <a:cs typeface="Consolas"/>
              </a:rPr>
              <a:t>e</a:t>
            </a:r>
            <a:r>
              <a:rPr dirty="0" sz="1300" spc="-10">
                <a:solidFill>
                  <a:srgbClr val="0000FF"/>
                </a:solidFill>
                <a:latin typeface="Consolas"/>
                <a:cs typeface="Consolas"/>
              </a:rPr>
              <a:t>tu</a:t>
            </a:r>
            <a:r>
              <a:rPr dirty="0" sz="1300">
                <a:solidFill>
                  <a:srgbClr val="0000FF"/>
                </a:solidFill>
                <a:latin typeface="Consolas"/>
                <a:cs typeface="Consolas"/>
              </a:rPr>
              <a:t>r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n</a:t>
            </a:r>
            <a:r>
              <a:rPr dirty="0" sz="1300" spc="-5">
                <a:latin typeface="Consolas"/>
                <a:cs typeface="Consolas"/>
              </a:rPr>
              <a:t>;  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break</a:t>
            </a:r>
            <a:r>
              <a:rPr dirty="0" sz="1300" spc="-5">
                <a:latin typeface="Consolas"/>
                <a:cs typeface="Consolas"/>
              </a:rPr>
              <a:t>;</a:t>
            </a:r>
            <a:endParaRPr sz="13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case </a:t>
            </a:r>
            <a:r>
              <a:rPr dirty="0" sz="1300" spc="-10">
                <a:latin typeface="Consolas"/>
                <a:cs typeface="Consolas"/>
              </a:rPr>
              <a:t>1:</a:t>
            </a:r>
            <a:endParaRPr sz="1300">
              <a:latin typeface="Consolas"/>
              <a:cs typeface="Consolas"/>
            </a:endParaRPr>
          </a:p>
          <a:p>
            <a:pPr marL="283845">
              <a:lnSpc>
                <a:spcPct val="100000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.&lt;result&gt;</a:t>
            </a:r>
            <a:r>
              <a:rPr dirty="0" u="sng" sz="1300" spc="-5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dirty="0" sz="1300" spc="-5">
                <a:latin typeface="Consolas"/>
                <a:cs typeface="Consolas"/>
              </a:rPr>
              <a:t>1 =</a:t>
            </a:r>
            <a:r>
              <a:rPr dirty="0" sz="1300">
                <a:latin typeface="Consolas"/>
                <a:cs typeface="Consolas"/>
              </a:rPr>
              <a:t> 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.$awaiter0.GetResult();</a:t>
            </a:r>
            <a:endParaRPr sz="1300">
              <a:latin typeface="Consolas"/>
              <a:cs typeface="Consolas"/>
            </a:endParaRPr>
          </a:p>
          <a:p>
            <a:pPr marL="283845">
              <a:lnSpc>
                <a:spcPct val="100000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.&lt;data&gt;</a:t>
            </a:r>
            <a:r>
              <a:rPr dirty="0" u="sng" sz="1300" spc="-5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dirty="0" sz="1300" spc="-5">
                <a:latin typeface="Consolas"/>
                <a:cs typeface="Consolas"/>
              </a:rPr>
              <a:t>2 = </a:t>
            </a:r>
            <a:r>
              <a:rPr dirty="0" sz="1300" spc="-10">
                <a:latin typeface="Consolas"/>
                <a:cs typeface="Consolas"/>
              </a:rPr>
              <a:t>Encoding.ASCII.GetString(</a:t>
            </a:r>
            <a:r>
              <a:rPr dirty="0" sz="13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10">
                <a:latin typeface="Consolas"/>
                <a:cs typeface="Consolas"/>
              </a:rPr>
              <a:t>.&lt;result&gt;</a:t>
            </a:r>
            <a:r>
              <a:rPr dirty="0" u="sng" sz="1300" spc="3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dirty="0" sz="1300" spc="-10">
                <a:latin typeface="Consolas"/>
                <a:cs typeface="Consolas"/>
              </a:rPr>
              <a:t>1);</a:t>
            </a:r>
            <a:endParaRPr sz="1300">
              <a:latin typeface="Consolas"/>
              <a:cs typeface="Consolas"/>
            </a:endParaRPr>
          </a:p>
          <a:p>
            <a:pPr marL="283845" marR="3534410">
              <a:lnSpc>
                <a:spcPct val="100000"/>
              </a:lnSpc>
              <a:spcBef>
                <a:spcPts val="5"/>
              </a:spcBef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.$this.LoadData(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.&lt;data&gt;</a:t>
            </a:r>
            <a:r>
              <a:rPr dirty="0" u="sng" sz="1300" spc="-5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dirty="0" sz="1300" spc="-5">
                <a:latin typeface="Consolas"/>
                <a:cs typeface="Consolas"/>
              </a:rPr>
              <a:t>2);  </a:t>
            </a: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break</a:t>
            </a:r>
            <a:r>
              <a:rPr dirty="0" sz="1300" spc="-5">
                <a:latin typeface="Consolas"/>
                <a:cs typeface="Consolas"/>
              </a:rPr>
              <a:t>;</a:t>
            </a:r>
            <a:endParaRPr sz="13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default</a:t>
            </a:r>
            <a:r>
              <a:rPr dirty="0" sz="1300" spc="-5">
                <a:latin typeface="Consolas"/>
                <a:cs typeface="Consolas"/>
              </a:rPr>
              <a:t>:</a:t>
            </a:r>
            <a:endParaRPr sz="1300">
              <a:latin typeface="Consolas"/>
              <a:cs typeface="Consolas"/>
            </a:endParaRPr>
          </a:p>
          <a:p>
            <a:pPr marL="283845">
              <a:lnSpc>
                <a:spcPct val="100000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return</a:t>
            </a:r>
            <a:r>
              <a:rPr dirty="0" sz="1300" spc="-5">
                <a:latin typeface="Consolas"/>
                <a:cs typeface="Consolas"/>
              </a:rPr>
              <a:t>;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1188" y="5264212"/>
            <a:ext cx="363855" cy="3632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72415">
              <a:lnSpc>
                <a:spcPts val="1225"/>
              </a:lnSpc>
            </a:pPr>
            <a:r>
              <a:rPr dirty="0" sz="1300" spc="-5">
                <a:latin typeface="Consolas"/>
                <a:cs typeface="Consolas"/>
              </a:rPr>
              <a:t>}</a:t>
            </a:r>
            <a:endParaRPr sz="13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dirty="0" sz="1300" spc="-5">
                <a:latin typeface="Consolas"/>
                <a:cs typeface="Consolas"/>
              </a:rPr>
              <a:t>}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5716" y="455167"/>
            <a:ext cx="7015251" cy="5309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95656" y="2049779"/>
            <a:ext cx="7848600" cy="207645"/>
          </a:xfrm>
          <a:custGeom>
            <a:avLst/>
            <a:gdLst/>
            <a:ahLst/>
            <a:cxnLst/>
            <a:rect l="l" t="t" r="r" b="b"/>
            <a:pathLst>
              <a:path w="7848600" h="207644">
                <a:moveTo>
                  <a:pt x="0" y="207263"/>
                </a:moveTo>
                <a:lnTo>
                  <a:pt x="7848600" y="207263"/>
                </a:lnTo>
                <a:lnTo>
                  <a:pt x="7848600" y="0"/>
                </a:lnTo>
                <a:lnTo>
                  <a:pt x="0" y="0"/>
                </a:lnTo>
                <a:lnTo>
                  <a:pt x="0" y="207263"/>
                </a:lnTo>
                <a:close/>
              </a:path>
            </a:pathLst>
          </a:custGeom>
          <a:solidFill>
            <a:srgbClr val="FFB800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74320" y="5650991"/>
            <a:ext cx="7848600" cy="208915"/>
          </a:xfrm>
          <a:custGeom>
            <a:avLst/>
            <a:gdLst/>
            <a:ahLst/>
            <a:cxnLst/>
            <a:rect l="l" t="t" r="r" b="b"/>
            <a:pathLst>
              <a:path w="7848600" h="208914">
                <a:moveTo>
                  <a:pt x="0" y="208788"/>
                </a:moveTo>
                <a:lnTo>
                  <a:pt x="7848600" y="208788"/>
                </a:lnTo>
                <a:lnTo>
                  <a:pt x="7848600" y="0"/>
                </a:lnTo>
                <a:lnTo>
                  <a:pt x="0" y="0"/>
                </a:lnTo>
                <a:lnTo>
                  <a:pt x="0" y="208788"/>
                </a:lnTo>
                <a:close/>
              </a:path>
            </a:pathLst>
          </a:custGeom>
          <a:solidFill>
            <a:srgbClr val="FFB800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21920" y="2257043"/>
            <a:ext cx="8458200" cy="462280"/>
          </a:xfrm>
          <a:prstGeom prst="rect">
            <a:avLst/>
          </a:prstGeom>
          <a:solidFill>
            <a:srgbClr val="FFB800">
              <a:alpha val="98823"/>
            </a:srgbClr>
          </a:solidFill>
        </p:spPr>
        <p:txBody>
          <a:bodyPr wrap="square" lIns="0" tIns="3111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45"/>
              </a:spcBef>
            </a:pPr>
            <a:r>
              <a:rPr dirty="0" sz="2400">
                <a:solidFill>
                  <a:srgbClr val="0000FF"/>
                </a:solidFill>
                <a:latin typeface="Consolas"/>
                <a:cs typeface="Consolas"/>
              </a:rPr>
              <a:t>try</a:t>
            </a:r>
            <a:r>
              <a:rPr dirty="0" sz="2400" spc="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2400">
                <a:solidFill>
                  <a:srgbClr val="1A1A1A"/>
                </a:solidFill>
                <a:latin typeface="Consolas"/>
                <a:cs typeface="Consolas"/>
              </a:rPr>
              <a:t>{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8488" y="5647726"/>
            <a:ext cx="3192145" cy="5867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25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catch </a:t>
            </a:r>
            <a:r>
              <a:rPr dirty="0" sz="1300" spc="-5">
                <a:latin typeface="Consolas"/>
                <a:cs typeface="Consolas"/>
              </a:rPr>
              <a:t>(Exception exception) { ...</a:t>
            </a:r>
            <a:r>
              <a:rPr dirty="0" sz="1300" spc="-45">
                <a:latin typeface="Consolas"/>
                <a:cs typeface="Consolas"/>
              </a:rPr>
              <a:t> </a:t>
            </a:r>
            <a:r>
              <a:rPr dirty="0" sz="1300" spc="-5">
                <a:latin typeface="Consolas"/>
                <a:cs typeface="Consolas"/>
              </a:rPr>
              <a:t>}</a:t>
            </a:r>
            <a:endParaRPr sz="1300">
              <a:latin typeface="Consolas"/>
              <a:cs typeface="Consolas"/>
            </a:endParaRPr>
          </a:p>
          <a:p>
            <a:pPr marL="12700" marR="819150">
              <a:lnSpc>
                <a:spcPct val="100000"/>
              </a:lnSpc>
            </a:pPr>
            <a:r>
              <a:rPr dirty="0" sz="1300" spc="-5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300" spc="-5">
                <a:latin typeface="Consolas"/>
                <a:cs typeface="Consolas"/>
              </a:rPr>
              <a:t>.$PC = </a:t>
            </a:r>
            <a:r>
              <a:rPr dirty="0" sz="1300" spc="-10">
                <a:latin typeface="Consolas"/>
                <a:cs typeface="Consolas"/>
              </a:rPr>
              <a:t>-1;  </a:t>
            </a:r>
            <a:r>
              <a:rPr dirty="0" sz="1300">
                <a:solidFill>
                  <a:srgbClr val="0000FF"/>
                </a:solidFill>
                <a:latin typeface="Consolas"/>
                <a:cs typeface="Consolas"/>
              </a:rPr>
              <a:t>t</a:t>
            </a:r>
            <a:r>
              <a:rPr dirty="0" sz="1300" spc="-10">
                <a:solidFill>
                  <a:srgbClr val="0000FF"/>
                </a:solidFill>
                <a:latin typeface="Consolas"/>
                <a:cs typeface="Consolas"/>
              </a:rPr>
              <a:t>h</a:t>
            </a:r>
            <a:r>
              <a:rPr dirty="0" sz="1300">
                <a:solidFill>
                  <a:srgbClr val="0000FF"/>
                </a:solidFill>
                <a:latin typeface="Consolas"/>
                <a:cs typeface="Consolas"/>
              </a:rPr>
              <a:t>i</a:t>
            </a:r>
            <a:r>
              <a:rPr dirty="0" sz="1300" spc="-10">
                <a:solidFill>
                  <a:srgbClr val="0000FF"/>
                </a:solidFill>
                <a:latin typeface="Consolas"/>
                <a:cs typeface="Consolas"/>
              </a:rPr>
              <a:t>s</a:t>
            </a:r>
            <a:r>
              <a:rPr dirty="0" sz="1300" spc="-10">
                <a:latin typeface="Consolas"/>
                <a:cs typeface="Consolas"/>
              </a:rPr>
              <a:t>.</a:t>
            </a:r>
            <a:r>
              <a:rPr dirty="0" sz="1300">
                <a:latin typeface="Consolas"/>
                <a:cs typeface="Consolas"/>
              </a:rPr>
              <a:t>$</a:t>
            </a:r>
            <a:r>
              <a:rPr dirty="0" sz="1300" spc="-10">
                <a:latin typeface="Consolas"/>
                <a:cs typeface="Consolas"/>
              </a:rPr>
              <a:t>bu</a:t>
            </a:r>
            <a:r>
              <a:rPr dirty="0" sz="1300">
                <a:latin typeface="Consolas"/>
                <a:cs typeface="Consolas"/>
              </a:rPr>
              <a:t>i</a:t>
            </a:r>
            <a:r>
              <a:rPr dirty="0" sz="1300" spc="-10">
                <a:latin typeface="Consolas"/>
                <a:cs typeface="Consolas"/>
              </a:rPr>
              <a:t>l</a:t>
            </a:r>
            <a:r>
              <a:rPr dirty="0" sz="1300">
                <a:latin typeface="Consolas"/>
                <a:cs typeface="Consolas"/>
              </a:rPr>
              <a:t>d</a:t>
            </a:r>
            <a:r>
              <a:rPr dirty="0" sz="1300" spc="-10">
                <a:latin typeface="Consolas"/>
                <a:cs typeface="Consolas"/>
              </a:rPr>
              <a:t>er</a:t>
            </a:r>
            <a:r>
              <a:rPr dirty="0" sz="1300">
                <a:latin typeface="Consolas"/>
                <a:cs typeface="Consolas"/>
              </a:rPr>
              <a:t>.</a:t>
            </a:r>
            <a:r>
              <a:rPr dirty="0" sz="1300" spc="-10">
                <a:latin typeface="Consolas"/>
                <a:cs typeface="Consolas"/>
              </a:rPr>
              <a:t>Set</a:t>
            </a:r>
            <a:r>
              <a:rPr dirty="0" sz="1300">
                <a:latin typeface="Consolas"/>
                <a:cs typeface="Consolas"/>
              </a:rPr>
              <a:t>R</a:t>
            </a:r>
            <a:r>
              <a:rPr dirty="0" sz="1300" spc="-10">
                <a:latin typeface="Consolas"/>
                <a:cs typeface="Consolas"/>
              </a:rPr>
              <a:t>e</a:t>
            </a:r>
            <a:r>
              <a:rPr dirty="0" sz="1300">
                <a:latin typeface="Consolas"/>
                <a:cs typeface="Consolas"/>
              </a:rPr>
              <a:t>s</a:t>
            </a:r>
            <a:r>
              <a:rPr dirty="0" sz="1300" spc="-10">
                <a:latin typeface="Consolas"/>
                <a:cs typeface="Consolas"/>
              </a:rPr>
              <a:t>ul</a:t>
            </a:r>
            <a:r>
              <a:rPr dirty="0" sz="1300" spc="10">
                <a:latin typeface="Consolas"/>
                <a:cs typeface="Consolas"/>
              </a:rPr>
              <a:t>t</a:t>
            </a:r>
            <a:r>
              <a:rPr dirty="0" sz="1300" spc="-10">
                <a:latin typeface="Consolas"/>
                <a:cs typeface="Consolas"/>
              </a:rPr>
              <a:t>();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739" y="6243915"/>
            <a:ext cx="116205" cy="190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25"/>
              </a:lnSpc>
            </a:pPr>
            <a:r>
              <a:rPr dirty="0" sz="1300" spc="-5">
                <a:latin typeface="Consolas"/>
                <a:cs typeface="Consolas"/>
              </a:rPr>
              <a:t>}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5">
                <a:solidFill>
                  <a:srgbClr val="353535"/>
                </a:solidFill>
              </a:rPr>
              <a:t>@</a:t>
            </a:r>
            <a:r>
              <a:rPr dirty="0">
                <a:solidFill>
                  <a:srgbClr val="353535"/>
                </a:solidFill>
              </a:rPr>
              <a:t>T</a:t>
            </a:r>
            <a:r>
              <a:rPr dirty="0" spc="5">
                <a:solidFill>
                  <a:srgbClr val="353535"/>
                </a:solidFill>
              </a:rPr>
              <a:t>h</a:t>
            </a:r>
            <a:r>
              <a:rPr dirty="0">
                <a:solidFill>
                  <a:srgbClr val="353535"/>
                </a:solidFill>
              </a:rPr>
              <a:t>eCodeTraveler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238492" y="6538876"/>
            <a:ext cx="5027930" cy="32956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800" spc="-5" b="0">
                <a:solidFill>
                  <a:srgbClr val="353535"/>
                </a:solidFill>
                <a:latin typeface="Segoe UI Semilight"/>
                <a:cs typeface="Segoe UI Semilight"/>
              </a:rPr>
              <a:t>https://</a:t>
            </a:r>
            <a:r>
              <a:rPr dirty="0" sz="1800" spc="-5" b="0">
                <a:solidFill>
                  <a:srgbClr val="353535"/>
                </a:solidFill>
                <a:latin typeface="Segoe UI Semilight"/>
                <a:cs typeface="Segoe UI Semilight"/>
                <a:hlinkClick r:id="rId4"/>
              </a:rPr>
              <a:t>www.codetraveler.io/NDCOslo-AsyncAwait/</a:t>
            </a:r>
            <a:endParaRPr sz="1800">
              <a:latin typeface="Segoe UI Semilight"/>
              <a:cs typeface="Segoe UI Semiligh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1920" y="5189219"/>
            <a:ext cx="8458200" cy="462280"/>
          </a:xfrm>
          <a:prstGeom prst="rect">
            <a:avLst/>
          </a:prstGeom>
          <a:solidFill>
            <a:srgbClr val="FFB800">
              <a:alpha val="98823"/>
            </a:srgbClr>
          </a:solidFill>
        </p:spPr>
        <p:txBody>
          <a:bodyPr wrap="square" lIns="0" tIns="3175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50"/>
              </a:spcBef>
            </a:pPr>
            <a:r>
              <a:rPr dirty="0" sz="2400">
                <a:solidFill>
                  <a:srgbClr val="0000FF"/>
                </a:solidFill>
                <a:latin typeface="Consolas"/>
                <a:cs typeface="Consolas"/>
              </a:rPr>
              <a:t>catch </a:t>
            </a:r>
            <a:r>
              <a:rPr dirty="0" sz="2400">
                <a:solidFill>
                  <a:srgbClr val="1A1A1A"/>
                </a:solidFill>
                <a:latin typeface="Consolas"/>
                <a:cs typeface="Consolas"/>
              </a:rPr>
              <a:t>(Exception </a:t>
            </a:r>
            <a:r>
              <a:rPr dirty="0" sz="2400" spc="5">
                <a:solidFill>
                  <a:srgbClr val="1A1A1A"/>
                </a:solidFill>
                <a:latin typeface="Consolas"/>
                <a:cs typeface="Consolas"/>
              </a:rPr>
              <a:t>exception) </a:t>
            </a:r>
            <a:r>
              <a:rPr dirty="0" sz="2400">
                <a:solidFill>
                  <a:srgbClr val="1A1A1A"/>
                </a:solidFill>
                <a:latin typeface="Consolas"/>
                <a:cs typeface="Consolas"/>
              </a:rPr>
              <a:t>{ . . .</a:t>
            </a:r>
            <a:r>
              <a:rPr dirty="0" sz="2400" spc="60">
                <a:solidFill>
                  <a:srgbClr val="1A1A1A"/>
                </a:solidFill>
                <a:latin typeface="Consolas"/>
                <a:cs typeface="Consolas"/>
              </a:rPr>
              <a:t> </a:t>
            </a:r>
            <a:r>
              <a:rPr dirty="0" sz="2400">
                <a:solidFill>
                  <a:srgbClr val="1A1A1A"/>
                </a:solidFill>
                <a:latin typeface="Consolas"/>
                <a:cs typeface="Consolas"/>
              </a:rPr>
              <a:t>}</a:t>
            </a:r>
            <a:endParaRPr sz="2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6217920" cy="6995159"/>
          </a:xfrm>
          <a:custGeom>
            <a:avLst/>
            <a:gdLst/>
            <a:ahLst/>
            <a:cxnLst/>
            <a:rect l="l" t="t" r="r" b="b"/>
            <a:pathLst>
              <a:path w="6217920" h="6995159">
                <a:moveTo>
                  <a:pt x="0" y="6995159"/>
                </a:moveTo>
                <a:lnTo>
                  <a:pt x="6217920" y="6995159"/>
                </a:lnTo>
                <a:lnTo>
                  <a:pt x="6217920" y="0"/>
                </a:lnTo>
                <a:lnTo>
                  <a:pt x="0" y="0"/>
                </a:lnTo>
                <a:lnTo>
                  <a:pt x="0" y="6995159"/>
                </a:lnTo>
                <a:close/>
              </a:path>
            </a:pathLst>
          </a:custGeom>
          <a:solidFill>
            <a:srgbClr val="FFB8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217920" y="0"/>
            <a:ext cx="6217920" cy="6995159"/>
          </a:xfrm>
          <a:custGeom>
            <a:avLst/>
            <a:gdLst/>
            <a:ahLst/>
            <a:cxnLst/>
            <a:rect l="l" t="t" r="r" b="b"/>
            <a:pathLst>
              <a:path w="6217920" h="6995159">
                <a:moveTo>
                  <a:pt x="0" y="6995159"/>
                </a:moveTo>
                <a:lnTo>
                  <a:pt x="6217920" y="6995159"/>
                </a:lnTo>
                <a:lnTo>
                  <a:pt x="6217920" y="0"/>
                </a:lnTo>
                <a:lnTo>
                  <a:pt x="0" y="0"/>
                </a:lnTo>
                <a:lnTo>
                  <a:pt x="0" y="6995159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360919" y="1363979"/>
            <a:ext cx="4181855" cy="41818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69607" y="2320543"/>
            <a:ext cx="4879251" cy="7630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435840" cy="6995159"/>
          </a:xfrm>
          <a:custGeom>
            <a:avLst/>
            <a:gdLst/>
            <a:ahLst/>
            <a:cxnLst/>
            <a:rect l="l" t="t" r="r" b="b"/>
            <a:pathLst>
              <a:path w="12435840" h="6995159">
                <a:moveTo>
                  <a:pt x="0" y="6995159"/>
                </a:moveTo>
                <a:lnTo>
                  <a:pt x="12435840" y="6995159"/>
                </a:lnTo>
                <a:lnTo>
                  <a:pt x="12435840" y="0"/>
                </a:lnTo>
                <a:lnTo>
                  <a:pt x="0" y="0"/>
                </a:lnTo>
                <a:lnTo>
                  <a:pt x="0" y="6995159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25979" y="6522719"/>
            <a:ext cx="405383" cy="3703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62660" y="2299715"/>
            <a:ext cx="10175290" cy="8172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96429" y="4323206"/>
            <a:ext cx="1006995" cy="42748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146554" y="4323206"/>
            <a:ext cx="1089787" cy="42748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421126" y="4304919"/>
            <a:ext cx="4727194" cy="3439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5"/>
              <a:t>@</a:t>
            </a:r>
            <a:r>
              <a:rPr dirty="0"/>
              <a:t>T</a:t>
            </a:r>
            <a:r>
              <a:rPr dirty="0" spc="5"/>
              <a:t>h</a:t>
            </a:r>
            <a:r>
              <a:rPr dirty="0"/>
              <a:t>eCodeTraveler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238492" y="6538876"/>
            <a:ext cx="5027930" cy="32956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800" spc="-5" b="0">
                <a:solidFill>
                  <a:srgbClr val="FFFFFF"/>
                </a:solidFill>
                <a:latin typeface="Segoe UI Semilight"/>
                <a:cs typeface="Segoe UI Semilight"/>
              </a:rPr>
              <a:t>https://</a:t>
            </a:r>
            <a:r>
              <a:rPr dirty="0" sz="1800" spc="-5" b="0">
                <a:solidFill>
                  <a:srgbClr val="FFFFFF"/>
                </a:solidFill>
                <a:latin typeface="Segoe UI Semilight"/>
                <a:cs typeface="Segoe UI Semilight"/>
                <a:hlinkClick r:id="rId7"/>
              </a:rPr>
              <a:t>www.codetraveler.io/NDCOslo-AsyncAwait/</a:t>
            </a:r>
            <a:endParaRPr sz="1800">
              <a:latin typeface="Segoe UI Semilight"/>
              <a:cs typeface="Segoe UI Semiligh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435840" cy="1516380"/>
          </a:xfrm>
          <a:custGeom>
            <a:avLst/>
            <a:gdLst/>
            <a:ahLst/>
            <a:cxnLst/>
            <a:rect l="l" t="t" r="r" b="b"/>
            <a:pathLst>
              <a:path w="12435840" h="1516380">
                <a:moveTo>
                  <a:pt x="0" y="1516380"/>
                </a:moveTo>
                <a:lnTo>
                  <a:pt x="12435840" y="1516380"/>
                </a:lnTo>
                <a:lnTo>
                  <a:pt x="12435840" y="0"/>
                </a:lnTo>
                <a:lnTo>
                  <a:pt x="0" y="0"/>
                </a:lnTo>
                <a:lnTo>
                  <a:pt x="0" y="1516380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5478779"/>
            <a:ext cx="12435840" cy="1516380"/>
          </a:xfrm>
          <a:custGeom>
            <a:avLst/>
            <a:gdLst/>
            <a:ahLst/>
            <a:cxnLst/>
            <a:rect l="l" t="t" r="r" b="b"/>
            <a:pathLst>
              <a:path w="12435840" h="1516379">
                <a:moveTo>
                  <a:pt x="0" y="1516379"/>
                </a:moveTo>
                <a:lnTo>
                  <a:pt x="12435840" y="1516379"/>
                </a:lnTo>
                <a:lnTo>
                  <a:pt x="12435840" y="0"/>
                </a:lnTo>
                <a:lnTo>
                  <a:pt x="0" y="0"/>
                </a:lnTo>
                <a:lnTo>
                  <a:pt x="0" y="1516379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125979" y="6522719"/>
            <a:ext cx="405383" cy="3703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1516379"/>
            <a:ext cx="12435840" cy="3962400"/>
          </a:xfrm>
          <a:custGeom>
            <a:avLst/>
            <a:gdLst/>
            <a:ahLst/>
            <a:cxnLst/>
            <a:rect l="l" t="t" r="r" b="b"/>
            <a:pathLst>
              <a:path w="12435840" h="3962400">
                <a:moveTo>
                  <a:pt x="0" y="3962400"/>
                </a:moveTo>
                <a:lnTo>
                  <a:pt x="12435840" y="3962400"/>
                </a:lnTo>
                <a:lnTo>
                  <a:pt x="12435840" y="0"/>
                </a:lnTo>
                <a:lnTo>
                  <a:pt x="0" y="0"/>
                </a:lnTo>
                <a:lnTo>
                  <a:pt x="0" y="3962400"/>
                </a:lnTo>
                <a:close/>
              </a:path>
            </a:pathLst>
          </a:custGeom>
          <a:solidFill>
            <a:srgbClr val="FFB8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96429" y="4399406"/>
            <a:ext cx="752106" cy="3256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62660" y="2375915"/>
            <a:ext cx="5101259" cy="8172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813686" y="4575530"/>
            <a:ext cx="122113" cy="200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986407" y="4381119"/>
            <a:ext cx="3518534" cy="3439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690361" y="4399406"/>
            <a:ext cx="1956562" cy="42519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5"/>
              <a:t>@</a:t>
            </a:r>
            <a:r>
              <a:rPr dirty="0"/>
              <a:t>T</a:t>
            </a:r>
            <a:r>
              <a:rPr dirty="0" spc="5"/>
              <a:t>h</a:t>
            </a:r>
            <a:r>
              <a:rPr dirty="0"/>
              <a:t>eCodeTraveler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238492" y="6538876"/>
            <a:ext cx="5027930" cy="32956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800" spc="-5" b="0">
                <a:solidFill>
                  <a:srgbClr val="FFFFFF"/>
                </a:solidFill>
                <a:latin typeface="Segoe UI Semilight"/>
                <a:cs typeface="Segoe UI Semilight"/>
              </a:rPr>
              <a:t>https://</a:t>
            </a:r>
            <a:r>
              <a:rPr dirty="0" sz="1800" spc="-5" b="0">
                <a:solidFill>
                  <a:srgbClr val="FFFFFF"/>
                </a:solidFill>
                <a:latin typeface="Segoe UI Semilight"/>
                <a:cs typeface="Segoe UI Semilight"/>
                <a:hlinkClick r:id="rId8"/>
              </a:rPr>
              <a:t>www.codetraveler.io/NDCOslo-AsyncAwait/</a:t>
            </a:r>
            <a:endParaRPr sz="1800">
              <a:latin typeface="Segoe UI Semilight"/>
              <a:cs typeface="Segoe UI Semiligh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6217920" cy="6995159"/>
          </a:xfrm>
          <a:custGeom>
            <a:avLst/>
            <a:gdLst/>
            <a:ahLst/>
            <a:cxnLst/>
            <a:rect l="l" t="t" r="r" b="b"/>
            <a:pathLst>
              <a:path w="6217920" h="6995159">
                <a:moveTo>
                  <a:pt x="0" y="6995159"/>
                </a:moveTo>
                <a:lnTo>
                  <a:pt x="6217920" y="6995159"/>
                </a:lnTo>
                <a:lnTo>
                  <a:pt x="6217920" y="0"/>
                </a:lnTo>
                <a:lnTo>
                  <a:pt x="0" y="0"/>
                </a:lnTo>
                <a:lnTo>
                  <a:pt x="0" y="6995159"/>
                </a:lnTo>
                <a:close/>
              </a:path>
            </a:pathLst>
          </a:custGeom>
          <a:solidFill>
            <a:srgbClr val="0078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217920" y="0"/>
            <a:ext cx="6217920" cy="6995159"/>
          </a:xfrm>
          <a:custGeom>
            <a:avLst/>
            <a:gdLst/>
            <a:ahLst/>
            <a:cxnLst/>
            <a:rect l="l" t="t" r="r" b="b"/>
            <a:pathLst>
              <a:path w="6217920" h="6995159">
                <a:moveTo>
                  <a:pt x="0" y="6995159"/>
                </a:moveTo>
                <a:lnTo>
                  <a:pt x="6217920" y="6995159"/>
                </a:lnTo>
                <a:lnTo>
                  <a:pt x="6217920" y="0"/>
                </a:lnTo>
                <a:lnTo>
                  <a:pt x="0" y="0"/>
                </a:lnTo>
                <a:lnTo>
                  <a:pt x="0" y="6995159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132319" y="1300479"/>
            <a:ext cx="4495800" cy="4406900"/>
          </a:xfrm>
          <a:custGeom>
            <a:avLst/>
            <a:gdLst/>
            <a:ahLst/>
            <a:cxnLst/>
            <a:rect l="l" t="t" r="r" b="b"/>
            <a:pathLst>
              <a:path w="4495800" h="4406900">
                <a:moveTo>
                  <a:pt x="2537148" y="4394200"/>
                </a:moveTo>
                <a:lnTo>
                  <a:pt x="1958651" y="4394200"/>
                </a:lnTo>
                <a:lnTo>
                  <a:pt x="2006152" y="4406900"/>
                </a:lnTo>
                <a:lnTo>
                  <a:pt x="2489647" y="4406900"/>
                </a:lnTo>
                <a:lnTo>
                  <a:pt x="2537148" y="4394200"/>
                </a:lnTo>
                <a:close/>
              </a:path>
              <a:path w="4495800" h="4406900">
                <a:moveTo>
                  <a:pt x="2677766" y="4368800"/>
                </a:moveTo>
                <a:lnTo>
                  <a:pt x="1818033" y="4368800"/>
                </a:lnTo>
                <a:lnTo>
                  <a:pt x="1911457" y="4394200"/>
                </a:lnTo>
                <a:lnTo>
                  <a:pt x="2584342" y="4394200"/>
                </a:lnTo>
                <a:lnTo>
                  <a:pt x="2677766" y="4368800"/>
                </a:lnTo>
                <a:close/>
              </a:path>
              <a:path w="4495800" h="4406900">
                <a:moveTo>
                  <a:pt x="2769834" y="50800"/>
                </a:moveTo>
                <a:lnTo>
                  <a:pt x="1725965" y="50800"/>
                </a:lnTo>
                <a:lnTo>
                  <a:pt x="1546234" y="101600"/>
                </a:lnTo>
                <a:lnTo>
                  <a:pt x="1502280" y="127000"/>
                </a:lnTo>
                <a:lnTo>
                  <a:pt x="1372939" y="165100"/>
                </a:lnTo>
                <a:lnTo>
                  <a:pt x="1330700" y="190500"/>
                </a:lnTo>
                <a:lnTo>
                  <a:pt x="1288916" y="203200"/>
                </a:lnTo>
                <a:lnTo>
                  <a:pt x="1247597" y="228600"/>
                </a:lnTo>
                <a:lnTo>
                  <a:pt x="1206755" y="241300"/>
                </a:lnTo>
                <a:lnTo>
                  <a:pt x="1126540" y="292100"/>
                </a:lnTo>
                <a:lnTo>
                  <a:pt x="1048356" y="342900"/>
                </a:lnTo>
                <a:lnTo>
                  <a:pt x="1010052" y="355600"/>
                </a:lnTo>
                <a:lnTo>
                  <a:pt x="935073" y="406400"/>
                </a:lnTo>
                <a:lnTo>
                  <a:pt x="898418" y="444500"/>
                </a:lnTo>
                <a:lnTo>
                  <a:pt x="862335" y="469900"/>
                </a:lnTo>
                <a:lnTo>
                  <a:pt x="826833" y="495300"/>
                </a:lnTo>
                <a:lnTo>
                  <a:pt x="791923" y="520700"/>
                </a:lnTo>
                <a:lnTo>
                  <a:pt x="757616" y="546100"/>
                </a:lnTo>
                <a:lnTo>
                  <a:pt x="723922" y="584200"/>
                </a:lnTo>
                <a:lnTo>
                  <a:pt x="690851" y="609600"/>
                </a:lnTo>
                <a:lnTo>
                  <a:pt x="658415" y="647700"/>
                </a:lnTo>
                <a:lnTo>
                  <a:pt x="626624" y="673100"/>
                </a:lnTo>
                <a:lnTo>
                  <a:pt x="595488" y="711200"/>
                </a:lnTo>
                <a:lnTo>
                  <a:pt x="565017" y="736600"/>
                </a:lnTo>
                <a:lnTo>
                  <a:pt x="535224" y="774700"/>
                </a:lnTo>
                <a:lnTo>
                  <a:pt x="506117" y="812800"/>
                </a:lnTo>
                <a:lnTo>
                  <a:pt x="477708" y="838200"/>
                </a:lnTo>
                <a:lnTo>
                  <a:pt x="450006" y="876300"/>
                </a:lnTo>
                <a:lnTo>
                  <a:pt x="423024" y="914400"/>
                </a:lnTo>
                <a:lnTo>
                  <a:pt x="396770" y="952500"/>
                </a:lnTo>
                <a:lnTo>
                  <a:pt x="371256" y="990600"/>
                </a:lnTo>
                <a:lnTo>
                  <a:pt x="346493" y="1028700"/>
                </a:lnTo>
                <a:lnTo>
                  <a:pt x="322490" y="1066800"/>
                </a:lnTo>
                <a:lnTo>
                  <a:pt x="299259" y="1104900"/>
                </a:lnTo>
                <a:lnTo>
                  <a:pt x="276809" y="1143000"/>
                </a:lnTo>
                <a:lnTo>
                  <a:pt x="255152" y="1181100"/>
                </a:lnTo>
                <a:lnTo>
                  <a:pt x="234298" y="1219200"/>
                </a:lnTo>
                <a:lnTo>
                  <a:pt x="214257" y="1257300"/>
                </a:lnTo>
                <a:lnTo>
                  <a:pt x="195041" y="1308100"/>
                </a:lnTo>
                <a:lnTo>
                  <a:pt x="176658" y="1346200"/>
                </a:lnTo>
                <a:lnTo>
                  <a:pt x="159122" y="1384300"/>
                </a:lnTo>
                <a:lnTo>
                  <a:pt x="142440" y="1435100"/>
                </a:lnTo>
                <a:lnTo>
                  <a:pt x="126625" y="1473200"/>
                </a:lnTo>
                <a:lnTo>
                  <a:pt x="111687" y="1511300"/>
                </a:lnTo>
                <a:lnTo>
                  <a:pt x="97636" y="1562100"/>
                </a:lnTo>
                <a:lnTo>
                  <a:pt x="84484" y="1600200"/>
                </a:lnTo>
                <a:lnTo>
                  <a:pt x="72239" y="1651000"/>
                </a:lnTo>
                <a:lnTo>
                  <a:pt x="60913" y="1689100"/>
                </a:lnTo>
                <a:lnTo>
                  <a:pt x="50517" y="1739900"/>
                </a:lnTo>
                <a:lnTo>
                  <a:pt x="41061" y="1778000"/>
                </a:lnTo>
                <a:lnTo>
                  <a:pt x="32556" y="1828800"/>
                </a:lnTo>
                <a:lnTo>
                  <a:pt x="25012" y="1879600"/>
                </a:lnTo>
                <a:lnTo>
                  <a:pt x="18439" y="1917700"/>
                </a:lnTo>
                <a:lnTo>
                  <a:pt x="12849" y="1968500"/>
                </a:lnTo>
                <a:lnTo>
                  <a:pt x="8251" y="2019300"/>
                </a:lnTo>
                <a:lnTo>
                  <a:pt x="4657" y="2057400"/>
                </a:lnTo>
                <a:lnTo>
                  <a:pt x="2076" y="2108200"/>
                </a:lnTo>
                <a:lnTo>
                  <a:pt x="520" y="2159000"/>
                </a:lnTo>
                <a:lnTo>
                  <a:pt x="0" y="2209800"/>
                </a:lnTo>
                <a:lnTo>
                  <a:pt x="520" y="2247900"/>
                </a:lnTo>
                <a:lnTo>
                  <a:pt x="2076" y="2298700"/>
                </a:lnTo>
                <a:lnTo>
                  <a:pt x="4657" y="2349500"/>
                </a:lnTo>
                <a:lnTo>
                  <a:pt x="8251" y="2400300"/>
                </a:lnTo>
                <a:lnTo>
                  <a:pt x="12849" y="2438400"/>
                </a:lnTo>
                <a:lnTo>
                  <a:pt x="18439" y="2489199"/>
                </a:lnTo>
                <a:lnTo>
                  <a:pt x="25012" y="2539999"/>
                </a:lnTo>
                <a:lnTo>
                  <a:pt x="32556" y="2578099"/>
                </a:lnTo>
                <a:lnTo>
                  <a:pt x="41061" y="2628899"/>
                </a:lnTo>
                <a:lnTo>
                  <a:pt x="50517" y="2666999"/>
                </a:lnTo>
                <a:lnTo>
                  <a:pt x="60913" y="2717799"/>
                </a:lnTo>
                <a:lnTo>
                  <a:pt x="72239" y="2768599"/>
                </a:lnTo>
                <a:lnTo>
                  <a:pt x="84484" y="2806699"/>
                </a:lnTo>
                <a:lnTo>
                  <a:pt x="97636" y="2844799"/>
                </a:lnTo>
                <a:lnTo>
                  <a:pt x="111687" y="2895599"/>
                </a:lnTo>
                <a:lnTo>
                  <a:pt x="126625" y="2933699"/>
                </a:lnTo>
                <a:lnTo>
                  <a:pt x="142440" y="2984499"/>
                </a:lnTo>
                <a:lnTo>
                  <a:pt x="159122" y="3022599"/>
                </a:lnTo>
                <a:lnTo>
                  <a:pt x="176658" y="3060699"/>
                </a:lnTo>
                <a:lnTo>
                  <a:pt x="195041" y="3111499"/>
                </a:lnTo>
                <a:lnTo>
                  <a:pt x="214257" y="3149599"/>
                </a:lnTo>
                <a:lnTo>
                  <a:pt x="234298" y="3187699"/>
                </a:lnTo>
                <a:lnTo>
                  <a:pt x="255152" y="3225799"/>
                </a:lnTo>
                <a:lnTo>
                  <a:pt x="276809" y="3263900"/>
                </a:lnTo>
                <a:lnTo>
                  <a:pt x="299259" y="3302000"/>
                </a:lnTo>
                <a:lnTo>
                  <a:pt x="322490" y="3340100"/>
                </a:lnTo>
                <a:lnTo>
                  <a:pt x="346493" y="3378200"/>
                </a:lnTo>
                <a:lnTo>
                  <a:pt x="371256" y="3416300"/>
                </a:lnTo>
                <a:lnTo>
                  <a:pt x="396770" y="3454400"/>
                </a:lnTo>
                <a:lnTo>
                  <a:pt x="423024" y="3492500"/>
                </a:lnTo>
                <a:lnTo>
                  <a:pt x="450006" y="3530600"/>
                </a:lnTo>
                <a:lnTo>
                  <a:pt x="477708" y="3568700"/>
                </a:lnTo>
                <a:lnTo>
                  <a:pt x="506117" y="3606800"/>
                </a:lnTo>
                <a:lnTo>
                  <a:pt x="535224" y="3632200"/>
                </a:lnTo>
                <a:lnTo>
                  <a:pt x="565017" y="3670300"/>
                </a:lnTo>
                <a:lnTo>
                  <a:pt x="595488" y="3708400"/>
                </a:lnTo>
                <a:lnTo>
                  <a:pt x="626624" y="3733800"/>
                </a:lnTo>
                <a:lnTo>
                  <a:pt x="658415" y="3771900"/>
                </a:lnTo>
                <a:lnTo>
                  <a:pt x="690851" y="3797300"/>
                </a:lnTo>
                <a:lnTo>
                  <a:pt x="723922" y="3822700"/>
                </a:lnTo>
                <a:lnTo>
                  <a:pt x="757616" y="3860800"/>
                </a:lnTo>
                <a:lnTo>
                  <a:pt x="791923" y="3886200"/>
                </a:lnTo>
                <a:lnTo>
                  <a:pt x="826833" y="3911600"/>
                </a:lnTo>
                <a:lnTo>
                  <a:pt x="862335" y="3949700"/>
                </a:lnTo>
                <a:lnTo>
                  <a:pt x="898418" y="3975100"/>
                </a:lnTo>
                <a:lnTo>
                  <a:pt x="935073" y="4000500"/>
                </a:lnTo>
                <a:lnTo>
                  <a:pt x="1010052" y="4051300"/>
                </a:lnTo>
                <a:lnTo>
                  <a:pt x="1087189" y="4102100"/>
                </a:lnTo>
                <a:lnTo>
                  <a:pt x="1126540" y="4114800"/>
                </a:lnTo>
                <a:lnTo>
                  <a:pt x="1206755" y="4165600"/>
                </a:lnTo>
                <a:lnTo>
                  <a:pt x="1247597" y="4178300"/>
                </a:lnTo>
                <a:lnTo>
                  <a:pt x="1288916" y="4203700"/>
                </a:lnTo>
                <a:lnTo>
                  <a:pt x="1330700" y="4216400"/>
                </a:lnTo>
                <a:lnTo>
                  <a:pt x="1372939" y="4241800"/>
                </a:lnTo>
                <a:lnTo>
                  <a:pt x="1458740" y="4267200"/>
                </a:lnTo>
                <a:lnTo>
                  <a:pt x="1502280" y="4292600"/>
                </a:lnTo>
                <a:lnTo>
                  <a:pt x="1771824" y="4368800"/>
                </a:lnTo>
                <a:lnTo>
                  <a:pt x="2723975" y="4368800"/>
                </a:lnTo>
                <a:lnTo>
                  <a:pt x="2993519" y="4292600"/>
                </a:lnTo>
                <a:lnTo>
                  <a:pt x="3037059" y="4267200"/>
                </a:lnTo>
                <a:lnTo>
                  <a:pt x="3122860" y="4241800"/>
                </a:lnTo>
                <a:lnTo>
                  <a:pt x="3165099" y="4216400"/>
                </a:lnTo>
                <a:lnTo>
                  <a:pt x="3206883" y="4203700"/>
                </a:lnTo>
                <a:lnTo>
                  <a:pt x="3248202" y="4178300"/>
                </a:lnTo>
                <a:lnTo>
                  <a:pt x="3289044" y="4165600"/>
                </a:lnTo>
                <a:lnTo>
                  <a:pt x="3369259" y="4114800"/>
                </a:lnTo>
                <a:lnTo>
                  <a:pt x="3408610" y="4102100"/>
                </a:lnTo>
                <a:lnTo>
                  <a:pt x="3485747" y="4051300"/>
                </a:lnTo>
                <a:lnTo>
                  <a:pt x="3560726" y="4000500"/>
                </a:lnTo>
                <a:lnTo>
                  <a:pt x="3597381" y="3975100"/>
                </a:lnTo>
                <a:lnTo>
                  <a:pt x="3633464" y="3949700"/>
                </a:lnTo>
                <a:lnTo>
                  <a:pt x="3668966" y="3911600"/>
                </a:lnTo>
                <a:lnTo>
                  <a:pt x="3703876" y="3886200"/>
                </a:lnTo>
                <a:lnTo>
                  <a:pt x="3738183" y="3860800"/>
                </a:lnTo>
                <a:lnTo>
                  <a:pt x="3771877" y="3822700"/>
                </a:lnTo>
                <a:lnTo>
                  <a:pt x="3804948" y="3797300"/>
                </a:lnTo>
                <a:lnTo>
                  <a:pt x="3837384" y="3771900"/>
                </a:lnTo>
                <a:lnTo>
                  <a:pt x="3869175" y="3733800"/>
                </a:lnTo>
                <a:lnTo>
                  <a:pt x="3900311" y="3708400"/>
                </a:lnTo>
                <a:lnTo>
                  <a:pt x="3930782" y="3670300"/>
                </a:lnTo>
                <a:lnTo>
                  <a:pt x="3960575" y="3632200"/>
                </a:lnTo>
                <a:lnTo>
                  <a:pt x="3989682" y="3606800"/>
                </a:lnTo>
                <a:lnTo>
                  <a:pt x="4018091" y="3568700"/>
                </a:lnTo>
                <a:lnTo>
                  <a:pt x="4045793" y="3530600"/>
                </a:lnTo>
                <a:lnTo>
                  <a:pt x="4072775" y="3492500"/>
                </a:lnTo>
                <a:lnTo>
                  <a:pt x="4099029" y="3454400"/>
                </a:lnTo>
                <a:lnTo>
                  <a:pt x="4124543" y="3416300"/>
                </a:lnTo>
                <a:lnTo>
                  <a:pt x="4149306" y="3378200"/>
                </a:lnTo>
                <a:lnTo>
                  <a:pt x="4173309" y="3340100"/>
                </a:lnTo>
                <a:lnTo>
                  <a:pt x="4196540" y="3302000"/>
                </a:lnTo>
                <a:lnTo>
                  <a:pt x="4218990" y="3263900"/>
                </a:lnTo>
                <a:lnTo>
                  <a:pt x="4240647" y="3225799"/>
                </a:lnTo>
                <a:lnTo>
                  <a:pt x="4261501" y="3187699"/>
                </a:lnTo>
                <a:lnTo>
                  <a:pt x="4281542" y="3149599"/>
                </a:lnTo>
                <a:lnTo>
                  <a:pt x="4300758" y="3111499"/>
                </a:lnTo>
                <a:lnTo>
                  <a:pt x="4319141" y="3060699"/>
                </a:lnTo>
                <a:lnTo>
                  <a:pt x="4336677" y="3022599"/>
                </a:lnTo>
                <a:lnTo>
                  <a:pt x="4353359" y="2984499"/>
                </a:lnTo>
                <a:lnTo>
                  <a:pt x="4369174" y="2933699"/>
                </a:lnTo>
                <a:lnTo>
                  <a:pt x="4384112" y="2895599"/>
                </a:lnTo>
                <a:lnTo>
                  <a:pt x="4398163" y="2844799"/>
                </a:lnTo>
                <a:lnTo>
                  <a:pt x="4411315" y="2806699"/>
                </a:lnTo>
                <a:lnTo>
                  <a:pt x="4423560" y="2768599"/>
                </a:lnTo>
                <a:lnTo>
                  <a:pt x="4434886" y="2717799"/>
                </a:lnTo>
                <a:lnTo>
                  <a:pt x="4445282" y="2666999"/>
                </a:lnTo>
                <a:lnTo>
                  <a:pt x="4454738" y="2628899"/>
                </a:lnTo>
                <a:lnTo>
                  <a:pt x="4463243" y="2578099"/>
                </a:lnTo>
                <a:lnTo>
                  <a:pt x="4470787" y="2539999"/>
                </a:lnTo>
                <a:lnTo>
                  <a:pt x="4477360" y="2489199"/>
                </a:lnTo>
                <a:lnTo>
                  <a:pt x="4482950" y="2438400"/>
                </a:lnTo>
                <a:lnTo>
                  <a:pt x="4487548" y="2400300"/>
                </a:lnTo>
                <a:lnTo>
                  <a:pt x="4491142" y="2349500"/>
                </a:lnTo>
                <a:lnTo>
                  <a:pt x="4493723" y="2298700"/>
                </a:lnTo>
                <a:lnTo>
                  <a:pt x="4495279" y="2247900"/>
                </a:lnTo>
                <a:lnTo>
                  <a:pt x="4495800" y="2209800"/>
                </a:lnTo>
                <a:lnTo>
                  <a:pt x="4495279" y="2159000"/>
                </a:lnTo>
                <a:lnTo>
                  <a:pt x="4493723" y="2108200"/>
                </a:lnTo>
                <a:lnTo>
                  <a:pt x="4491142" y="2057400"/>
                </a:lnTo>
                <a:lnTo>
                  <a:pt x="4487548" y="2019300"/>
                </a:lnTo>
                <a:lnTo>
                  <a:pt x="4482950" y="1968500"/>
                </a:lnTo>
                <a:lnTo>
                  <a:pt x="4477360" y="1917700"/>
                </a:lnTo>
                <a:lnTo>
                  <a:pt x="4470787" y="1879600"/>
                </a:lnTo>
                <a:lnTo>
                  <a:pt x="4463243" y="1828800"/>
                </a:lnTo>
                <a:lnTo>
                  <a:pt x="4454738" y="1778000"/>
                </a:lnTo>
                <a:lnTo>
                  <a:pt x="4445282" y="1739900"/>
                </a:lnTo>
                <a:lnTo>
                  <a:pt x="4434886" y="1689100"/>
                </a:lnTo>
                <a:lnTo>
                  <a:pt x="4423560" y="1651000"/>
                </a:lnTo>
                <a:lnTo>
                  <a:pt x="4411315" y="1600200"/>
                </a:lnTo>
                <a:lnTo>
                  <a:pt x="4398163" y="1562100"/>
                </a:lnTo>
                <a:lnTo>
                  <a:pt x="4384112" y="1511300"/>
                </a:lnTo>
                <a:lnTo>
                  <a:pt x="4369174" y="1473200"/>
                </a:lnTo>
                <a:lnTo>
                  <a:pt x="4353359" y="1435100"/>
                </a:lnTo>
                <a:lnTo>
                  <a:pt x="4336677" y="1384300"/>
                </a:lnTo>
                <a:lnTo>
                  <a:pt x="4319141" y="1346200"/>
                </a:lnTo>
                <a:lnTo>
                  <a:pt x="4300758" y="1308100"/>
                </a:lnTo>
                <a:lnTo>
                  <a:pt x="4281542" y="1257300"/>
                </a:lnTo>
                <a:lnTo>
                  <a:pt x="4261501" y="1219200"/>
                </a:lnTo>
                <a:lnTo>
                  <a:pt x="4240647" y="1181100"/>
                </a:lnTo>
                <a:lnTo>
                  <a:pt x="4218990" y="1143000"/>
                </a:lnTo>
                <a:lnTo>
                  <a:pt x="4196540" y="1104900"/>
                </a:lnTo>
                <a:lnTo>
                  <a:pt x="4173309" y="1066800"/>
                </a:lnTo>
                <a:lnTo>
                  <a:pt x="4149306" y="1028700"/>
                </a:lnTo>
                <a:lnTo>
                  <a:pt x="4124543" y="990600"/>
                </a:lnTo>
                <a:lnTo>
                  <a:pt x="4099029" y="952500"/>
                </a:lnTo>
                <a:lnTo>
                  <a:pt x="4072775" y="914400"/>
                </a:lnTo>
                <a:lnTo>
                  <a:pt x="4045793" y="876300"/>
                </a:lnTo>
                <a:lnTo>
                  <a:pt x="4018091" y="838200"/>
                </a:lnTo>
                <a:lnTo>
                  <a:pt x="3989682" y="812800"/>
                </a:lnTo>
                <a:lnTo>
                  <a:pt x="3960575" y="774700"/>
                </a:lnTo>
                <a:lnTo>
                  <a:pt x="3930782" y="736600"/>
                </a:lnTo>
                <a:lnTo>
                  <a:pt x="3900311" y="711200"/>
                </a:lnTo>
                <a:lnTo>
                  <a:pt x="3869175" y="673100"/>
                </a:lnTo>
                <a:lnTo>
                  <a:pt x="3837384" y="647700"/>
                </a:lnTo>
                <a:lnTo>
                  <a:pt x="3804948" y="609600"/>
                </a:lnTo>
                <a:lnTo>
                  <a:pt x="3771877" y="584200"/>
                </a:lnTo>
                <a:lnTo>
                  <a:pt x="3738183" y="546100"/>
                </a:lnTo>
                <a:lnTo>
                  <a:pt x="3703876" y="520700"/>
                </a:lnTo>
                <a:lnTo>
                  <a:pt x="3668966" y="495300"/>
                </a:lnTo>
                <a:lnTo>
                  <a:pt x="3633464" y="469900"/>
                </a:lnTo>
                <a:lnTo>
                  <a:pt x="3597381" y="444500"/>
                </a:lnTo>
                <a:lnTo>
                  <a:pt x="3560726" y="406400"/>
                </a:lnTo>
                <a:lnTo>
                  <a:pt x="3485747" y="355600"/>
                </a:lnTo>
                <a:lnTo>
                  <a:pt x="3447443" y="342900"/>
                </a:lnTo>
                <a:lnTo>
                  <a:pt x="3369259" y="292100"/>
                </a:lnTo>
                <a:lnTo>
                  <a:pt x="3289044" y="241300"/>
                </a:lnTo>
                <a:lnTo>
                  <a:pt x="3248202" y="228600"/>
                </a:lnTo>
                <a:lnTo>
                  <a:pt x="3206883" y="203200"/>
                </a:lnTo>
                <a:lnTo>
                  <a:pt x="3165099" y="190500"/>
                </a:lnTo>
                <a:lnTo>
                  <a:pt x="3122860" y="165100"/>
                </a:lnTo>
                <a:lnTo>
                  <a:pt x="2993519" y="127000"/>
                </a:lnTo>
                <a:lnTo>
                  <a:pt x="2949565" y="101600"/>
                </a:lnTo>
                <a:lnTo>
                  <a:pt x="2769834" y="50800"/>
                </a:lnTo>
                <a:close/>
              </a:path>
              <a:path w="4495800" h="4406900">
                <a:moveTo>
                  <a:pt x="2631219" y="25400"/>
                </a:moveTo>
                <a:lnTo>
                  <a:pt x="1864580" y="25400"/>
                </a:lnTo>
                <a:lnTo>
                  <a:pt x="1771824" y="50800"/>
                </a:lnTo>
                <a:lnTo>
                  <a:pt x="2723975" y="50800"/>
                </a:lnTo>
                <a:lnTo>
                  <a:pt x="2631219" y="25400"/>
                </a:lnTo>
                <a:close/>
              </a:path>
              <a:path w="4495800" h="4406900">
                <a:moveTo>
                  <a:pt x="2537148" y="12700"/>
                </a:moveTo>
                <a:lnTo>
                  <a:pt x="1958651" y="12700"/>
                </a:lnTo>
                <a:lnTo>
                  <a:pt x="1911457" y="25400"/>
                </a:lnTo>
                <a:lnTo>
                  <a:pt x="2584342" y="25400"/>
                </a:lnTo>
                <a:lnTo>
                  <a:pt x="2537148" y="12700"/>
                </a:lnTo>
                <a:close/>
              </a:path>
              <a:path w="4495800" h="4406900">
                <a:moveTo>
                  <a:pt x="2441849" y="0"/>
                </a:moveTo>
                <a:lnTo>
                  <a:pt x="2053950" y="0"/>
                </a:lnTo>
                <a:lnTo>
                  <a:pt x="2006152" y="12700"/>
                </a:lnTo>
                <a:lnTo>
                  <a:pt x="2489647" y="12700"/>
                </a:lnTo>
                <a:lnTo>
                  <a:pt x="2441849" y="0"/>
                </a:lnTo>
                <a:close/>
              </a:path>
            </a:pathLst>
          </a:custGeom>
          <a:solidFill>
            <a:srgbClr val="D6D6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132319" y="1290827"/>
            <a:ext cx="4495800" cy="4417060"/>
          </a:xfrm>
          <a:custGeom>
            <a:avLst/>
            <a:gdLst/>
            <a:ahLst/>
            <a:cxnLst/>
            <a:rect l="l" t="t" r="r" b="b"/>
            <a:pathLst>
              <a:path w="4495800" h="4417060">
                <a:moveTo>
                  <a:pt x="0" y="2208276"/>
                </a:moveTo>
                <a:lnTo>
                  <a:pt x="520" y="2160256"/>
                </a:lnTo>
                <a:lnTo>
                  <a:pt x="2076" y="2112486"/>
                </a:lnTo>
                <a:lnTo>
                  <a:pt x="4657" y="2064977"/>
                </a:lnTo>
                <a:lnTo>
                  <a:pt x="8251" y="2017739"/>
                </a:lnTo>
                <a:lnTo>
                  <a:pt x="12849" y="1970783"/>
                </a:lnTo>
                <a:lnTo>
                  <a:pt x="18439" y="1924117"/>
                </a:lnTo>
                <a:lnTo>
                  <a:pt x="25012" y="1877754"/>
                </a:lnTo>
                <a:lnTo>
                  <a:pt x="32556" y="1831703"/>
                </a:lnTo>
                <a:lnTo>
                  <a:pt x="41061" y="1785975"/>
                </a:lnTo>
                <a:lnTo>
                  <a:pt x="50517" y="1740580"/>
                </a:lnTo>
                <a:lnTo>
                  <a:pt x="60913" y="1695529"/>
                </a:lnTo>
                <a:lnTo>
                  <a:pt x="72239" y="1650831"/>
                </a:lnTo>
                <a:lnTo>
                  <a:pt x="84484" y="1606497"/>
                </a:lnTo>
                <a:lnTo>
                  <a:pt x="97636" y="1562538"/>
                </a:lnTo>
                <a:lnTo>
                  <a:pt x="111687" y="1518963"/>
                </a:lnTo>
                <a:lnTo>
                  <a:pt x="126625" y="1475784"/>
                </a:lnTo>
                <a:lnTo>
                  <a:pt x="142440" y="1433011"/>
                </a:lnTo>
                <a:lnTo>
                  <a:pt x="159122" y="1390653"/>
                </a:lnTo>
                <a:lnTo>
                  <a:pt x="176658" y="1348722"/>
                </a:lnTo>
                <a:lnTo>
                  <a:pt x="195041" y="1307227"/>
                </a:lnTo>
                <a:lnTo>
                  <a:pt x="214257" y="1266179"/>
                </a:lnTo>
                <a:lnTo>
                  <a:pt x="234298" y="1225589"/>
                </a:lnTo>
                <a:lnTo>
                  <a:pt x="255152" y="1185466"/>
                </a:lnTo>
                <a:lnTo>
                  <a:pt x="276809" y="1145821"/>
                </a:lnTo>
                <a:lnTo>
                  <a:pt x="299259" y="1106665"/>
                </a:lnTo>
                <a:lnTo>
                  <a:pt x="322490" y="1068008"/>
                </a:lnTo>
                <a:lnTo>
                  <a:pt x="346493" y="1029860"/>
                </a:lnTo>
                <a:lnTo>
                  <a:pt x="371256" y="992231"/>
                </a:lnTo>
                <a:lnTo>
                  <a:pt x="396770" y="955132"/>
                </a:lnTo>
                <a:lnTo>
                  <a:pt x="423024" y="918573"/>
                </a:lnTo>
                <a:lnTo>
                  <a:pt x="450006" y="882565"/>
                </a:lnTo>
                <a:lnTo>
                  <a:pt x="477708" y="847118"/>
                </a:lnTo>
                <a:lnTo>
                  <a:pt x="506117" y="812242"/>
                </a:lnTo>
                <a:lnTo>
                  <a:pt x="535224" y="777948"/>
                </a:lnTo>
                <a:lnTo>
                  <a:pt x="565017" y="744246"/>
                </a:lnTo>
                <a:lnTo>
                  <a:pt x="595488" y="711146"/>
                </a:lnTo>
                <a:lnTo>
                  <a:pt x="626624" y="678659"/>
                </a:lnTo>
                <a:lnTo>
                  <a:pt x="658415" y="646795"/>
                </a:lnTo>
                <a:lnTo>
                  <a:pt x="690851" y="615564"/>
                </a:lnTo>
                <a:lnTo>
                  <a:pt x="723922" y="584977"/>
                </a:lnTo>
                <a:lnTo>
                  <a:pt x="757616" y="555045"/>
                </a:lnTo>
                <a:lnTo>
                  <a:pt x="791923" y="525776"/>
                </a:lnTo>
                <a:lnTo>
                  <a:pt x="826833" y="497183"/>
                </a:lnTo>
                <a:lnTo>
                  <a:pt x="862335" y="469275"/>
                </a:lnTo>
                <a:lnTo>
                  <a:pt x="898418" y="442063"/>
                </a:lnTo>
                <a:lnTo>
                  <a:pt x="935073" y="415556"/>
                </a:lnTo>
                <a:lnTo>
                  <a:pt x="972288" y="389766"/>
                </a:lnTo>
                <a:lnTo>
                  <a:pt x="1010052" y="364702"/>
                </a:lnTo>
                <a:lnTo>
                  <a:pt x="1048356" y="340376"/>
                </a:lnTo>
                <a:lnTo>
                  <a:pt x="1087189" y="316797"/>
                </a:lnTo>
                <a:lnTo>
                  <a:pt x="1126540" y="293975"/>
                </a:lnTo>
                <a:lnTo>
                  <a:pt x="1166399" y="271922"/>
                </a:lnTo>
                <a:lnTo>
                  <a:pt x="1206755" y="250647"/>
                </a:lnTo>
                <a:lnTo>
                  <a:pt x="1247597" y="230161"/>
                </a:lnTo>
                <a:lnTo>
                  <a:pt x="1288916" y="210474"/>
                </a:lnTo>
                <a:lnTo>
                  <a:pt x="1330700" y="191597"/>
                </a:lnTo>
                <a:lnTo>
                  <a:pt x="1372939" y="173539"/>
                </a:lnTo>
                <a:lnTo>
                  <a:pt x="1415622" y="156312"/>
                </a:lnTo>
                <a:lnTo>
                  <a:pt x="1458740" y="139925"/>
                </a:lnTo>
                <a:lnTo>
                  <a:pt x="1502280" y="124389"/>
                </a:lnTo>
                <a:lnTo>
                  <a:pt x="1546234" y="109715"/>
                </a:lnTo>
                <a:lnTo>
                  <a:pt x="1590590" y="95912"/>
                </a:lnTo>
                <a:lnTo>
                  <a:pt x="1635337" y="82991"/>
                </a:lnTo>
                <a:lnTo>
                  <a:pt x="1680466" y="70963"/>
                </a:lnTo>
                <a:lnTo>
                  <a:pt x="1725965" y="59838"/>
                </a:lnTo>
                <a:lnTo>
                  <a:pt x="1771824" y="49625"/>
                </a:lnTo>
                <a:lnTo>
                  <a:pt x="1818033" y="40336"/>
                </a:lnTo>
                <a:lnTo>
                  <a:pt x="1864580" y="31981"/>
                </a:lnTo>
                <a:lnTo>
                  <a:pt x="1911457" y="24570"/>
                </a:lnTo>
                <a:lnTo>
                  <a:pt x="1958651" y="18113"/>
                </a:lnTo>
                <a:lnTo>
                  <a:pt x="2006152" y="12622"/>
                </a:lnTo>
                <a:lnTo>
                  <a:pt x="2053950" y="8105"/>
                </a:lnTo>
                <a:lnTo>
                  <a:pt x="2102034" y="4575"/>
                </a:lnTo>
                <a:lnTo>
                  <a:pt x="2150394" y="2040"/>
                </a:lnTo>
                <a:lnTo>
                  <a:pt x="2199020" y="511"/>
                </a:lnTo>
                <a:lnTo>
                  <a:pt x="2247900" y="0"/>
                </a:lnTo>
                <a:lnTo>
                  <a:pt x="2296779" y="511"/>
                </a:lnTo>
                <a:lnTo>
                  <a:pt x="2345405" y="2040"/>
                </a:lnTo>
                <a:lnTo>
                  <a:pt x="2393765" y="4575"/>
                </a:lnTo>
                <a:lnTo>
                  <a:pt x="2441849" y="8105"/>
                </a:lnTo>
                <a:lnTo>
                  <a:pt x="2489647" y="12622"/>
                </a:lnTo>
                <a:lnTo>
                  <a:pt x="2537148" y="18113"/>
                </a:lnTo>
                <a:lnTo>
                  <a:pt x="2584342" y="24570"/>
                </a:lnTo>
                <a:lnTo>
                  <a:pt x="2631219" y="31981"/>
                </a:lnTo>
                <a:lnTo>
                  <a:pt x="2677766" y="40336"/>
                </a:lnTo>
                <a:lnTo>
                  <a:pt x="2723975" y="49625"/>
                </a:lnTo>
                <a:lnTo>
                  <a:pt x="2769834" y="59838"/>
                </a:lnTo>
                <a:lnTo>
                  <a:pt x="2815333" y="70963"/>
                </a:lnTo>
                <a:lnTo>
                  <a:pt x="2860462" y="82991"/>
                </a:lnTo>
                <a:lnTo>
                  <a:pt x="2905209" y="95912"/>
                </a:lnTo>
                <a:lnTo>
                  <a:pt x="2949565" y="109715"/>
                </a:lnTo>
                <a:lnTo>
                  <a:pt x="2993519" y="124389"/>
                </a:lnTo>
                <a:lnTo>
                  <a:pt x="3037059" y="139925"/>
                </a:lnTo>
                <a:lnTo>
                  <a:pt x="3080177" y="156312"/>
                </a:lnTo>
                <a:lnTo>
                  <a:pt x="3122860" y="173539"/>
                </a:lnTo>
                <a:lnTo>
                  <a:pt x="3165099" y="191597"/>
                </a:lnTo>
                <a:lnTo>
                  <a:pt x="3206883" y="210474"/>
                </a:lnTo>
                <a:lnTo>
                  <a:pt x="3248202" y="230161"/>
                </a:lnTo>
                <a:lnTo>
                  <a:pt x="3289044" y="250647"/>
                </a:lnTo>
                <a:lnTo>
                  <a:pt x="3329400" y="271922"/>
                </a:lnTo>
                <a:lnTo>
                  <a:pt x="3369259" y="293975"/>
                </a:lnTo>
                <a:lnTo>
                  <a:pt x="3408610" y="316797"/>
                </a:lnTo>
                <a:lnTo>
                  <a:pt x="3447443" y="340376"/>
                </a:lnTo>
                <a:lnTo>
                  <a:pt x="3485747" y="364702"/>
                </a:lnTo>
                <a:lnTo>
                  <a:pt x="3523511" y="389766"/>
                </a:lnTo>
                <a:lnTo>
                  <a:pt x="3560726" y="415556"/>
                </a:lnTo>
                <a:lnTo>
                  <a:pt x="3597381" y="442063"/>
                </a:lnTo>
                <a:lnTo>
                  <a:pt x="3633464" y="469275"/>
                </a:lnTo>
                <a:lnTo>
                  <a:pt x="3668966" y="497183"/>
                </a:lnTo>
                <a:lnTo>
                  <a:pt x="3703876" y="525776"/>
                </a:lnTo>
                <a:lnTo>
                  <a:pt x="3738183" y="555045"/>
                </a:lnTo>
                <a:lnTo>
                  <a:pt x="3771877" y="584977"/>
                </a:lnTo>
                <a:lnTo>
                  <a:pt x="3804948" y="615564"/>
                </a:lnTo>
                <a:lnTo>
                  <a:pt x="3837384" y="646795"/>
                </a:lnTo>
                <a:lnTo>
                  <a:pt x="3869175" y="678659"/>
                </a:lnTo>
                <a:lnTo>
                  <a:pt x="3900311" y="711146"/>
                </a:lnTo>
                <a:lnTo>
                  <a:pt x="3930782" y="744246"/>
                </a:lnTo>
                <a:lnTo>
                  <a:pt x="3960575" y="777948"/>
                </a:lnTo>
                <a:lnTo>
                  <a:pt x="3989682" y="812242"/>
                </a:lnTo>
                <a:lnTo>
                  <a:pt x="4018091" y="847118"/>
                </a:lnTo>
                <a:lnTo>
                  <a:pt x="4045793" y="882565"/>
                </a:lnTo>
                <a:lnTo>
                  <a:pt x="4072775" y="918573"/>
                </a:lnTo>
                <a:lnTo>
                  <a:pt x="4099029" y="955132"/>
                </a:lnTo>
                <a:lnTo>
                  <a:pt x="4124543" y="992231"/>
                </a:lnTo>
                <a:lnTo>
                  <a:pt x="4149306" y="1029860"/>
                </a:lnTo>
                <a:lnTo>
                  <a:pt x="4173309" y="1068008"/>
                </a:lnTo>
                <a:lnTo>
                  <a:pt x="4196540" y="1106665"/>
                </a:lnTo>
                <a:lnTo>
                  <a:pt x="4218990" y="1145821"/>
                </a:lnTo>
                <a:lnTo>
                  <a:pt x="4240647" y="1185466"/>
                </a:lnTo>
                <a:lnTo>
                  <a:pt x="4261501" y="1225589"/>
                </a:lnTo>
                <a:lnTo>
                  <a:pt x="4281542" y="1266179"/>
                </a:lnTo>
                <a:lnTo>
                  <a:pt x="4300758" y="1307227"/>
                </a:lnTo>
                <a:lnTo>
                  <a:pt x="4319141" y="1348722"/>
                </a:lnTo>
                <a:lnTo>
                  <a:pt x="4336677" y="1390653"/>
                </a:lnTo>
                <a:lnTo>
                  <a:pt x="4353359" y="1433011"/>
                </a:lnTo>
                <a:lnTo>
                  <a:pt x="4369174" y="1475784"/>
                </a:lnTo>
                <a:lnTo>
                  <a:pt x="4384112" y="1518963"/>
                </a:lnTo>
                <a:lnTo>
                  <a:pt x="4398163" y="1562538"/>
                </a:lnTo>
                <a:lnTo>
                  <a:pt x="4411315" y="1606497"/>
                </a:lnTo>
                <a:lnTo>
                  <a:pt x="4423560" y="1650831"/>
                </a:lnTo>
                <a:lnTo>
                  <a:pt x="4434886" y="1695529"/>
                </a:lnTo>
                <a:lnTo>
                  <a:pt x="4445282" y="1740580"/>
                </a:lnTo>
                <a:lnTo>
                  <a:pt x="4454738" y="1785975"/>
                </a:lnTo>
                <a:lnTo>
                  <a:pt x="4463243" y="1831703"/>
                </a:lnTo>
                <a:lnTo>
                  <a:pt x="4470787" y="1877754"/>
                </a:lnTo>
                <a:lnTo>
                  <a:pt x="4477360" y="1924117"/>
                </a:lnTo>
                <a:lnTo>
                  <a:pt x="4482950" y="1970783"/>
                </a:lnTo>
                <a:lnTo>
                  <a:pt x="4487548" y="2017739"/>
                </a:lnTo>
                <a:lnTo>
                  <a:pt x="4491142" y="2064977"/>
                </a:lnTo>
                <a:lnTo>
                  <a:pt x="4493723" y="2112486"/>
                </a:lnTo>
                <a:lnTo>
                  <a:pt x="4495279" y="2160256"/>
                </a:lnTo>
                <a:lnTo>
                  <a:pt x="4495800" y="2208276"/>
                </a:lnTo>
                <a:lnTo>
                  <a:pt x="4495279" y="2256295"/>
                </a:lnTo>
                <a:lnTo>
                  <a:pt x="4493723" y="2304065"/>
                </a:lnTo>
                <a:lnTo>
                  <a:pt x="4491142" y="2351574"/>
                </a:lnTo>
                <a:lnTo>
                  <a:pt x="4487548" y="2398812"/>
                </a:lnTo>
                <a:lnTo>
                  <a:pt x="4482950" y="2445768"/>
                </a:lnTo>
                <a:lnTo>
                  <a:pt x="4477360" y="2492434"/>
                </a:lnTo>
                <a:lnTo>
                  <a:pt x="4470787" y="2538797"/>
                </a:lnTo>
                <a:lnTo>
                  <a:pt x="4463243" y="2584848"/>
                </a:lnTo>
                <a:lnTo>
                  <a:pt x="4454738" y="2630576"/>
                </a:lnTo>
                <a:lnTo>
                  <a:pt x="4445282" y="2675971"/>
                </a:lnTo>
                <a:lnTo>
                  <a:pt x="4434886" y="2721022"/>
                </a:lnTo>
                <a:lnTo>
                  <a:pt x="4423560" y="2765720"/>
                </a:lnTo>
                <a:lnTo>
                  <a:pt x="4411315" y="2810054"/>
                </a:lnTo>
                <a:lnTo>
                  <a:pt x="4398163" y="2854013"/>
                </a:lnTo>
                <a:lnTo>
                  <a:pt x="4384112" y="2897588"/>
                </a:lnTo>
                <a:lnTo>
                  <a:pt x="4369174" y="2940767"/>
                </a:lnTo>
                <a:lnTo>
                  <a:pt x="4353359" y="2983540"/>
                </a:lnTo>
                <a:lnTo>
                  <a:pt x="4336677" y="3025898"/>
                </a:lnTo>
                <a:lnTo>
                  <a:pt x="4319141" y="3067829"/>
                </a:lnTo>
                <a:lnTo>
                  <a:pt x="4300758" y="3109324"/>
                </a:lnTo>
                <a:lnTo>
                  <a:pt x="4281542" y="3150372"/>
                </a:lnTo>
                <a:lnTo>
                  <a:pt x="4261501" y="3190962"/>
                </a:lnTo>
                <a:lnTo>
                  <a:pt x="4240647" y="3231085"/>
                </a:lnTo>
                <a:lnTo>
                  <a:pt x="4218990" y="3270730"/>
                </a:lnTo>
                <a:lnTo>
                  <a:pt x="4196540" y="3309886"/>
                </a:lnTo>
                <a:lnTo>
                  <a:pt x="4173309" y="3348543"/>
                </a:lnTo>
                <a:lnTo>
                  <a:pt x="4149306" y="3386691"/>
                </a:lnTo>
                <a:lnTo>
                  <a:pt x="4124543" y="3424320"/>
                </a:lnTo>
                <a:lnTo>
                  <a:pt x="4099029" y="3461419"/>
                </a:lnTo>
                <a:lnTo>
                  <a:pt x="4072775" y="3497978"/>
                </a:lnTo>
                <a:lnTo>
                  <a:pt x="4045793" y="3533986"/>
                </a:lnTo>
                <a:lnTo>
                  <a:pt x="4018091" y="3569433"/>
                </a:lnTo>
                <a:lnTo>
                  <a:pt x="3989682" y="3604309"/>
                </a:lnTo>
                <a:lnTo>
                  <a:pt x="3960575" y="3638603"/>
                </a:lnTo>
                <a:lnTo>
                  <a:pt x="3930782" y="3672305"/>
                </a:lnTo>
                <a:lnTo>
                  <a:pt x="3900311" y="3705405"/>
                </a:lnTo>
                <a:lnTo>
                  <a:pt x="3869175" y="3737892"/>
                </a:lnTo>
                <a:lnTo>
                  <a:pt x="3837384" y="3769756"/>
                </a:lnTo>
                <a:lnTo>
                  <a:pt x="3804948" y="3800987"/>
                </a:lnTo>
                <a:lnTo>
                  <a:pt x="3771877" y="3831574"/>
                </a:lnTo>
                <a:lnTo>
                  <a:pt x="3738183" y="3861506"/>
                </a:lnTo>
                <a:lnTo>
                  <a:pt x="3703876" y="3890775"/>
                </a:lnTo>
                <a:lnTo>
                  <a:pt x="3668966" y="3919368"/>
                </a:lnTo>
                <a:lnTo>
                  <a:pt x="3633464" y="3947276"/>
                </a:lnTo>
                <a:lnTo>
                  <a:pt x="3597381" y="3974488"/>
                </a:lnTo>
                <a:lnTo>
                  <a:pt x="3560726" y="4000995"/>
                </a:lnTo>
                <a:lnTo>
                  <a:pt x="3523511" y="4026785"/>
                </a:lnTo>
                <a:lnTo>
                  <a:pt x="3485747" y="4051849"/>
                </a:lnTo>
                <a:lnTo>
                  <a:pt x="3447443" y="4076175"/>
                </a:lnTo>
                <a:lnTo>
                  <a:pt x="3408610" y="4099754"/>
                </a:lnTo>
                <a:lnTo>
                  <a:pt x="3369259" y="4122576"/>
                </a:lnTo>
                <a:lnTo>
                  <a:pt x="3329400" y="4144629"/>
                </a:lnTo>
                <a:lnTo>
                  <a:pt x="3289044" y="4165904"/>
                </a:lnTo>
                <a:lnTo>
                  <a:pt x="3248202" y="4186390"/>
                </a:lnTo>
                <a:lnTo>
                  <a:pt x="3206883" y="4206077"/>
                </a:lnTo>
                <a:lnTo>
                  <a:pt x="3165099" y="4224954"/>
                </a:lnTo>
                <a:lnTo>
                  <a:pt x="3122860" y="4243012"/>
                </a:lnTo>
                <a:lnTo>
                  <a:pt x="3080177" y="4260239"/>
                </a:lnTo>
                <a:lnTo>
                  <a:pt x="3037059" y="4276626"/>
                </a:lnTo>
                <a:lnTo>
                  <a:pt x="2993519" y="4292162"/>
                </a:lnTo>
                <a:lnTo>
                  <a:pt x="2949565" y="4306836"/>
                </a:lnTo>
                <a:lnTo>
                  <a:pt x="2905209" y="4320639"/>
                </a:lnTo>
                <a:lnTo>
                  <a:pt x="2860462" y="4333560"/>
                </a:lnTo>
                <a:lnTo>
                  <a:pt x="2815333" y="4345588"/>
                </a:lnTo>
                <a:lnTo>
                  <a:pt x="2769834" y="4356713"/>
                </a:lnTo>
                <a:lnTo>
                  <a:pt x="2723975" y="4366926"/>
                </a:lnTo>
                <a:lnTo>
                  <a:pt x="2677766" y="4376215"/>
                </a:lnTo>
                <a:lnTo>
                  <a:pt x="2631219" y="4384570"/>
                </a:lnTo>
                <a:lnTo>
                  <a:pt x="2584342" y="4391981"/>
                </a:lnTo>
                <a:lnTo>
                  <a:pt x="2537148" y="4398438"/>
                </a:lnTo>
                <a:lnTo>
                  <a:pt x="2489647" y="4403929"/>
                </a:lnTo>
                <a:lnTo>
                  <a:pt x="2441849" y="4408446"/>
                </a:lnTo>
                <a:lnTo>
                  <a:pt x="2393765" y="4411976"/>
                </a:lnTo>
                <a:lnTo>
                  <a:pt x="2345405" y="4414511"/>
                </a:lnTo>
                <a:lnTo>
                  <a:pt x="2296779" y="4416040"/>
                </a:lnTo>
                <a:lnTo>
                  <a:pt x="2247900" y="4416552"/>
                </a:lnTo>
                <a:lnTo>
                  <a:pt x="2199020" y="4416040"/>
                </a:lnTo>
                <a:lnTo>
                  <a:pt x="2150394" y="4414511"/>
                </a:lnTo>
                <a:lnTo>
                  <a:pt x="2102034" y="4411976"/>
                </a:lnTo>
                <a:lnTo>
                  <a:pt x="2053950" y="4408446"/>
                </a:lnTo>
                <a:lnTo>
                  <a:pt x="2006152" y="4403929"/>
                </a:lnTo>
                <a:lnTo>
                  <a:pt x="1958651" y="4398438"/>
                </a:lnTo>
                <a:lnTo>
                  <a:pt x="1911457" y="4391981"/>
                </a:lnTo>
                <a:lnTo>
                  <a:pt x="1864580" y="4384570"/>
                </a:lnTo>
                <a:lnTo>
                  <a:pt x="1818033" y="4376215"/>
                </a:lnTo>
                <a:lnTo>
                  <a:pt x="1771824" y="4366926"/>
                </a:lnTo>
                <a:lnTo>
                  <a:pt x="1725965" y="4356713"/>
                </a:lnTo>
                <a:lnTo>
                  <a:pt x="1680466" y="4345588"/>
                </a:lnTo>
                <a:lnTo>
                  <a:pt x="1635337" y="4333560"/>
                </a:lnTo>
                <a:lnTo>
                  <a:pt x="1590590" y="4320639"/>
                </a:lnTo>
                <a:lnTo>
                  <a:pt x="1546234" y="4306836"/>
                </a:lnTo>
                <a:lnTo>
                  <a:pt x="1502280" y="4292162"/>
                </a:lnTo>
                <a:lnTo>
                  <a:pt x="1458740" y="4276626"/>
                </a:lnTo>
                <a:lnTo>
                  <a:pt x="1415622" y="4260239"/>
                </a:lnTo>
                <a:lnTo>
                  <a:pt x="1372939" y="4243012"/>
                </a:lnTo>
                <a:lnTo>
                  <a:pt x="1330700" y="4224954"/>
                </a:lnTo>
                <a:lnTo>
                  <a:pt x="1288916" y="4206077"/>
                </a:lnTo>
                <a:lnTo>
                  <a:pt x="1247597" y="4186390"/>
                </a:lnTo>
                <a:lnTo>
                  <a:pt x="1206755" y="4165904"/>
                </a:lnTo>
                <a:lnTo>
                  <a:pt x="1166399" y="4144629"/>
                </a:lnTo>
                <a:lnTo>
                  <a:pt x="1126540" y="4122576"/>
                </a:lnTo>
                <a:lnTo>
                  <a:pt x="1087189" y="4099754"/>
                </a:lnTo>
                <a:lnTo>
                  <a:pt x="1048356" y="4076175"/>
                </a:lnTo>
                <a:lnTo>
                  <a:pt x="1010052" y="4051849"/>
                </a:lnTo>
                <a:lnTo>
                  <a:pt x="972288" y="4026785"/>
                </a:lnTo>
                <a:lnTo>
                  <a:pt x="935073" y="4000995"/>
                </a:lnTo>
                <a:lnTo>
                  <a:pt x="898418" y="3974488"/>
                </a:lnTo>
                <a:lnTo>
                  <a:pt x="862335" y="3947276"/>
                </a:lnTo>
                <a:lnTo>
                  <a:pt x="826833" y="3919368"/>
                </a:lnTo>
                <a:lnTo>
                  <a:pt x="791923" y="3890775"/>
                </a:lnTo>
                <a:lnTo>
                  <a:pt x="757616" y="3861506"/>
                </a:lnTo>
                <a:lnTo>
                  <a:pt x="723922" y="3831574"/>
                </a:lnTo>
                <a:lnTo>
                  <a:pt x="690851" y="3800987"/>
                </a:lnTo>
                <a:lnTo>
                  <a:pt x="658415" y="3769756"/>
                </a:lnTo>
                <a:lnTo>
                  <a:pt x="626624" y="3737892"/>
                </a:lnTo>
                <a:lnTo>
                  <a:pt x="595488" y="3705405"/>
                </a:lnTo>
                <a:lnTo>
                  <a:pt x="565017" y="3672305"/>
                </a:lnTo>
                <a:lnTo>
                  <a:pt x="535224" y="3638603"/>
                </a:lnTo>
                <a:lnTo>
                  <a:pt x="506117" y="3604309"/>
                </a:lnTo>
                <a:lnTo>
                  <a:pt x="477708" y="3569433"/>
                </a:lnTo>
                <a:lnTo>
                  <a:pt x="450006" y="3533986"/>
                </a:lnTo>
                <a:lnTo>
                  <a:pt x="423024" y="3497978"/>
                </a:lnTo>
                <a:lnTo>
                  <a:pt x="396770" y="3461419"/>
                </a:lnTo>
                <a:lnTo>
                  <a:pt x="371256" y="3424320"/>
                </a:lnTo>
                <a:lnTo>
                  <a:pt x="346493" y="3386691"/>
                </a:lnTo>
                <a:lnTo>
                  <a:pt x="322490" y="3348543"/>
                </a:lnTo>
                <a:lnTo>
                  <a:pt x="299259" y="3309886"/>
                </a:lnTo>
                <a:lnTo>
                  <a:pt x="276809" y="3270730"/>
                </a:lnTo>
                <a:lnTo>
                  <a:pt x="255152" y="3231085"/>
                </a:lnTo>
                <a:lnTo>
                  <a:pt x="234298" y="3190962"/>
                </a:lnTo>
                <a:lnTo>
                  <a:pt x="214257" y="3150372"/>
                </a:lnTo>
                <a:lnTo>
                  <a:pt x="195041" y="3109324"/>
                </a:lnTo>
                <a:lnTo>
                  <a:pt x="176658" y="3067829"/>
                </a:lnTo>
                <a:lnTo>
                  <a:pt x="159122" y="3025898"/>
                </a:lnTo>
                <a:lnTo>
                  <a:pt x="142440" y="2983540"/>
                </a:lnTo>
                <a:lnTo>
                  <a:pt x="126625" y="2940767"/>
                </a:lnTo>
                <a:lnTo>
                  <a:pt x="111687" y="2897588"/>
                </a:lnTo>
                <a:lnTo>
                  <a:pt x="97636" y="2854013"/>
                </a:lnTo>
                <a:lnTo>
                  <a:pt x="84484" y="2810054"/>
                </a:lnTo>
                <a:lnTo>
                  <a:pt x="72239" y="2765720"/>
                </a:lnTo>
                <a:lnTo>
                  <a:pt x="60913" y="2721022"/>
                </a:lnTo>
                <a:lnTo>
                  <a:pt x="50517" y="2675971"/>
                </a:lnTo>
                <a:lnTo>
                  <a:pt x="41061" y="2630576"/>
                </a:lnTo>
                <a:lnTo>
                  <a:pt x="32556" y="2584848"/>
                </a:lnTo>
                <a:lnTo>
                  <a:pt x="25012" y="2538797"/>
                </a:lnTo>
                <a:lnTo>
                  <a:pt x="18439" y="2492434"/>
                </a:lnTo>
                <a:lnTo>
                  <a:pt x="12849" y="2445768"/>
                </a:lnTo>
                <a:lnTo>
                  <a:pt x="8251" y="2398812"/>
                </a:lnTo>
                <a:lnTo>
                  <a:pt x="4657" y="2351574"/>
                </a:lnTo>
                <a:lnTo>
                  <a:pt x="2076" y="2304065"/>
                </a:lnTo>
                <a:lnTo>
                  <a:pt x="520" y="2256295"/>
                </a:lnTo>
                <a:lnTo>
                  <a:pt x="0" y="2208276"/>
                </a:lnTo>
                <a:close/>
              </a:path>
            </a:pathLst>
          </a:custGeom>
          <a:ln w="579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827519" y="1973579"/>
            <a:ext cx="5315712" cy="30998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03097" y="2357119"/>
            <a:ext cx="2674569" cy="65138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83006" y="3308095"/>
            <a:ext cx="4283684" cy="6879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6217920" cy="6995159"/>
          </a:xfrm>
          <a:custGeom>
            <a:avLst/>
            <a:gdLst/>
            <a:ahLst/>
            <a:cxnLst/>
            <a:rect l="l" t="t" r="r" b="b"/>
            <a:pathLst>
              <a:path w="6217920" h="6995159">
                <a:moveTo>
                  <a:pt x="0" y="6995159"/>
                </a:moveTo>
                <a:lnTo>
                  <a:pt x="6217920" y="6995159"/>
                </a:lnTo>
                <a:lnTo>
                  <a:pt x="6217920" y="0"/>
                </a:lnTo>
                <a:lnTo>
                  <a:pt x="0" y="0"/>
                </a:lnTo>
                <a:lnTo>
                  <a:pt x="0" y="6995159"/>
                </a:lnTo>
                <a:close/>
              </a:path>
            </a:pathLst>
          </a:custGeom>
          <a:solidFill>
            <a:srgbClr val="FFB8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217920" y="0"/>
            <a:ext cx="6217920" cy="6995159"/>
          </a:xfrm>
          <a:custGeom>
            <a:avLst/>
            <a:gdLst/>
            <a:ahLst/>
            <a:cxnLst/>
            <a:rect l="l" t="t" r="r" b="b"/>
            <a:pathLst>
              <a:path w="6217920" h="6995159">
                <a:moveTo>
                  <a:pt x="0" y="6995159"/>
                </a:moveTo>
                <a:lnTo>
                  <a:pt x="6217920" y="6995159"/>
                </a:lnTo>
                <a:lnTo>
                  <a:pt x="6217920" y="0"/>
                </a:lnTo>
                <a:lnTo>
                  <a:pt x="0" y="0"/>
                </a:lnTo>
                <a:lnTo>
                  <a:pt x="0" y="6995159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360919" y="1363979"/>
            <a:ext cx="4181855" cy="41818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47281" y="2357119"/>
            <a:ext cx="4493399" cy="8550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03097" y="3344671"/>
            <a:ext cx="4888560" cy="65138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435840" cy="6995159"/>
          </a:xfrm>
          <a:custGeom>
            <a:avLst/>
            <a:gdLst/>
            <a:ahLst/>
            <a:cxnLst/>
            <a:rect l="l" t="t" r="r" b="b"/>
            <a:pathLst>
              <a:path w="12435840" h="6995159">
                <a:moveTo>
                  <a:pt x="0" y="6995159"/>
                </a:moveTo>
                <a:lnTo>
                  <a:pt x="12435840" y="6995159"/>
                </a:lnTo>
                <a:lnTo>
                  <a:pt x="12435840" y="0"/>
                </a:lnTo>
                <a:lnTo>
                  <a:pt x="0" y="0"/>
                </a:lnTo>
                <a:lnTo>
                  <a:pt x="0" y="6995159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25979" y="6522719"/>
            <a:ext cx="405383" cy="3703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38505" y="479551"/>
            <a:ext cx="6354470" cy="5699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62013" y="1355978"/>
            <a:ext cx="2149868" cy="34404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664460" y="1353565"/>
            <a:ext cx="1270000" cy="41224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091078" y="1355978"/>
            <a:ext cx="605635" cy="34404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749291" y="1353565"/>
            <a:ext cx="1311148" cy="34645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66572" y="2034920"/>
            <a:ext cx="79235" cy="792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13675" y="1921255"/>
            <a:ext cx="1829930" cy="34886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975101" y="1919350"/>
            <a:ext cx="868680" cy="27152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66572" y="2504312"/>
            <a:ext cx="79235" cy="792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138986" y="2389885"/>
            <a:ext cx="3046679" cy="34963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222369" y="2619882"/>
            <a:ext cx="39877" cy="3962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296917" y="2400172"/>
            <a:ext cx="1664970" cy="26022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986779" y="2405379"/>
            <a:ext cx="245999" cy="30619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265926" y="2391536"/>
            <a:ext cx="1426209" cy="26885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719568" y="2388742"/>
            <a:ext cx="266446" cy="32283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5"/>
              <a:t>@</a:t>
            </a:r>
            <a:r>
              <a:rPr dirty="0"/>
              <a:t>T</a:t>
            </a:r>
            <a:r>
              <a:rPr dirty="0" spc="5"/>
              <a:t>h</a:t>
            </a:r>
            <a:r>
              <a:rPr dirty="0"/>
              <a:t>eCodeTraveler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238492" y="6538876"/>
            <a:ext cx="5027930" cy="32956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800" spc="-5" b="0">
                <a:solidFill>
                  <a:srgbClr val="FFFFFF"/>
                </a:solidFill>
                <a:latin typeface="Segoe UI Semilight"/>
                <a:cs typeface="Segoe UI Semilight"/>
              </a:rPr>
              <a:t>https://</a:t>
            </a:r>
            <a:r>
              <a:rPr dirty="0" sz="1800" spc="-5" b="0">
                <a:solidFill>
                  <a:srgbClr val="FFFFFF"/>
                </a:solidFill>
                <a:latin typeface="Segoe UI Semilight"/>
                <a:cs typeface="Segoe UI Semilight"/>
                <a:hlinkClick r:id="rId17"/>
              </a:rPr>
              <a:t>www.codetraveler.io/NDCOslo-AsyncAwait/</a:t>
            </a:r>
            <a:endParaRPr sz="1800">
              <a:latin typeface="Segoe UI Semilight"/>
              <a:cs typeface="Segoe UI Semi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435840" cy="6995159"/>
          </a:xfrm>
          <a:custGeom>
            <a:avLst/>
            <a:gdLst/>
            <a:ahLst/>
            <a:cxnLst/>
            <a:rect l="l" t="t" r="r" b="b"/>
            <a:pathLst>
              <a:path w="12435840" h="6995159">
                <a:moveTo>
                  <a:pt x="0" y="6995159"/>
                </a:moveTo>
                <a:lnTo>
                  <a:pt x="12435840" y="6995159"/>
                </a:lnTo>
                <a:lnTo>
                  <a:pt x="12435840" y="0"/>
                </a:lnTo>
                <a:lnTo>
                  <a:pt x="0" y="0"/>
                </a:lnTo>
                <a:lnTo>
                  <a:pt x="0" y="6995159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25979" y="6522719"/>
            <a:ext cx="405383" cy="3703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38505" y="479551"/>
            <a:ext cx="6354470" cy="5699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62013" y="1355978"/>
            <a:ext cx="3895102" cy="4458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66572" y="2034920"/>
            <a:ext cx="79235" cy="792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35875" y="1921255"/>
            <a:ext cx="708926" cy="2697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882139" y="1920493"/>
            <a:ext cx="2779776" cy="34963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683252" y="1919350"/>
            <a:ext cx="68834" cy="6273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66572" y="2504312"/>
            <a:ext cx="79235" cy="792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138986" y="2403220"/>
            <a:ext cx="1014044" cy="25717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279523" y="2402077"/>
            <a:ext cx="3681856" cy="33743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5"/>
              <a:t>@</a:t>
            </a:r>
            <a:r>
              <a:rPr dirty="0"/>
              <a:t>T</a:t>
            </a:r>
            <a:r>
              <a:rPr dirty="0" spc="5"/>
              <a:t>h</a:t>
            </a:r>
            <a:r>
              <a:rPr dirty="0"/>
              <a:t>eCodeTraveler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238492" y="6538876"/>
            <a:ext cx="5027930" cy="32956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800" spc="-5" b="0">
                <a:solidFill>
                  <a:srgbClr val="FFFFFF"/>
                </a:solidFill>
                <a:latin typeface="Segoe UI Semilight"/>
                <a:cs typeface="Segoe UI Semilight"/>
              </a:rPr>
              <a:t>https://</a:t>
            </a:r>
            <a:r>
              <a:rPr dirty="0" sz="1800" spc="-5" b="0">
                <a:solidFill>
                  <a:srgbClr val="FFFFFF"/>
                </a:solidFill>
                <a:latin typeface="Segoe UI Semilight"/>
                <a:cs typeface="Segoe UI Semilight"/>
                <a:hlinkClick r:id="rId11"/>
              </a:rPr>
              <a:t>www.codetraveler.io/NDCOslo-AsyncAwait/</a:t>
            </a:r>
            <a:endParaRPr sz="1800">
              <a:latin typeface="Segoe UI Semilight"/>
              <a:cs typeface="Segoe UI Semiligh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435840" cy="6995159"/>
          </a:xfrm>
          <a:custGeom>
            <a:avLst/>
            <a:gdLst/>
            <a:ahLst/>
            <a:cxnLst/>
            <a:rect l="l" t="t" r="r" b="b"/>
            <a:pathLst>
              <a:path w="12435840" h="6995159">
                <a:moveTo>
                  <a:pt x="0" y="6995159"/>
                </a:moveTo>
                <a:lnTo>
                  <a:pt x="12435840" y="6995159"/>
                </a:lnTo>
                <a:lnTo>
                  <a:pt x="12435840" y="0"/>
                </a:lnTo>
                <a:lnTo>
                  <a:pt x="0" y="0"/>
                </a:lnTo>
                <a:lnTo>
                  <a:pt x="0" y="6995159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25979" y="6522719"/>
            <a:ext cx="405383" cy="3703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38505" y="479551"/>
            <a:ext cx="6354470" cy="5699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34111" y="1374266"/>
            <a:ext cx="1089761" cy="4276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691894" y="1355978"/>
            <a:ext cx="2151634" cy="34404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66572" y="2034920"/>
            <a:ext cx="79235" cy="792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35875" y="1921255"/>
            <a:ext cx="708926" cy="2697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451603" y="1919350"/>
            <a:ext cx="68834" cy="6273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891792" y="1923795"/>
            <a:ext cx="2517521" cy="34632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138986" y="2403220"/>
            <a:ext cx="1014044" cy="25717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66572" y="2504312"/>
            <a:ext cx="79235" cy="792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279523" y="2402077"/>
            <a:ext cx="4794377" cy="33743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5"/>
              <a:t>@</a:t>
            </a:r>
            <a:r>
              <a:rPr dirty="0"/>
              <a:t>T</a:t>
            </a:r>
            <a:r>
              <a:rPr dirty="0" spc="5"/>
              <a:t>h</a:t>
            </a:r>
            <a:r>
              <a:rPr dirty="0"/>
              <a:t>eCodeTraveler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238492" y="6538876"/>
            <a:ext cx="5027930" cy="32956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800" spc="-5" b="0">
                <a:solidFill>
                  <a:srgbClr val="FFFFFF"/>
                </a:solidFill>
                <a:latin typeface="Segoe UI Semilight"/>
                <a:cs typeface="Segoe UI Semilight"/>
              </a:rPr>
              <a:t>https://</a:t>
            </a:r>
            <a:r>
              <a:rPr dirty="0" sz="1800" spc="-5" b="0">
                <a:solidFill>
                  <a:srgbClr val="FFFFFF"/>
                </a:solidFill>
                <a:latin typeface="Segoe UI Semilight"/>
                <a:cs typeface="Segoe UI Semilight"/>
                <a:hlinkClick r:id="rId12"/>
              </a:rPr>
              <a:t>www.codetraveler.io/NDCOslo-AsyncAwait/</a:t>
            </a:r>
            <a:endParaRPr sz="1800">
              <a:latin typeface="Segoe UI Semilight"/>
              <a:cs typeface="Segoe UI Semiligh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435840" cy="6995159"/>
          </a:xfrm>
          <a:custGeom>
            <a:avLst/>
            <a:gdLst/>
            <a:ahLst/>
            <a:cxnLst/>
            <a:rect l="l" t="t" r="r" b="b"/>
            <a:pathLst>
              <a:path w="12435840" h="6995159">
                <a:moveTo>
                  <a:pt x="0" y="6995159"/>
                </a:moveTo>
                <a:lnTo>
                  <a:pt x="12435840" y="6995159"/>
                </a:lnTo>
                <a:lnTo>
                  <a:pt x="12435840" y="0"/>
                </a:lnTo>
                <a:lnTo>
                  <a:pt x="0" y="0"/>
                </a:lnTo>
                <a:lnTo>
                  <a:pt x="0" y="6995159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25979" y="6522719"/>
            <a:ext cx="405383" cy="3703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38505" y="479551"/>
            <a:ext cx="6354470" cy="5699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34111" y="1355978"/>
            <a:ext cx="1292326" cy="34404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82826" y="1353565"/>
            <a:ext cx="2331466" cy="3464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66572" y="2034920"/>
            <a:ext cx="79235" cy="792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38986" y="1921255"/>
            <a:ext cx="1365707" cy="2696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536189" y="2001519"/>
            <a:ext cx="824992" cy="26695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384803" y="1919350"/>
            <a:ext cx="68834" cy="6273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584447" y="1923795"/>
            <a:ext cx="1222628" cy="34632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92746" y="2471165"/>
            <a:ext cx="67906" cy="6794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362963" y="2373375"/>
            <a:ext cx="1368552" cy="29794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749804" y="2371724"/>
            <a:ext cx="1231645" cy="29972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093971" y="2375534"/>
            <a:ext cx="786891" cy="22936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92746" y="2873501"/>
            <a:ext cx="67906" cy="6794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362963" y="2775711"/>
            <a:ext cx="1368552" cy="29794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765932" y="2774060"/>
            <a:ext cx="1313053" cy="29972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196079" y="2777870"/>
            <a:ext cx="786892" cy="229362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5"/>
              <a:t>@</a:t>
            </a:r>
            <a:r>
              <a:rPr dirty="0"/>
              <a:t>T</a:t>
            </a:r>
            <a:r>
              <a:rPr dirty="0" spc="5"/>
              <a:t>h</a:t>
            </a:r>
            <a:r>
              <a:rPr dirty="0"/>
              <a:t>eCodeTraveler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238492" y="6538876"/>
            <a:ext cx="5027930" cy="32956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800" spc="-5" b="0">
                <a:solidFill>
                  <a:srgbClr val="FFFFFF"/>
                </a:solidFill>
                <a:latin typeface="Segoe UI Semilight"/>
                <a:cs typeface="Segoe UI Semilight"/>
              </a:rPr>
              <a:t>https://</a:t>
            </a:r>
            <a:r>
              <a:rPr dirty="0" sz="1800" spc="-5" b="0">
                <a:solidFill>
                  <a:srgbClr val="FFFFFF"/>
                </a:solidFill>
                <a:latin typeface="Segoe UI Semilight"/>
                <a:cs typeface="Segoe UI Semilight"/>
                <a:hlinkClick r:id="rId19"/>
              </a:rPr>
              <a:t>www.codetraveler.io/NDCOslo-AsyncAwait/</a:t>
            </a:r>
            <a:endParaRPr sz="1800">
              <a:latin typeface="Segoe UI Semilight"/>
              <a:cs typeface="Segoe UI Semiligh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435840" cy="6995159"/>
          </a:xfrm>
          <a:custGeom>
            <a:avLst/>
            <a:gdLst/>
            <a:ahLst/>
            <a:cxnLst/>
            <a:rect l="l" t="t" r="r" b="b"/>
            <a:pathLst>
              <a:path w="12435840" h="6995159">
                <a:moveTo>
                  <a:pt x="0" y="6995159"/>
                </a:moveTo>
                <a:lnTo>
                  <a:pt x="12435840" y="6995159"/>
                </a:lnTo>
                <a:lnTo>
                  <a:pt x="12435840" y="0"/>
                </a:lnTo>
                <a:lnTo>
                  <a:pt x="0" y="0"/>
                </a:lnTo>
                <a:lnTo>
                  <a:pt x="0" y="6995159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25979" y="6522719"/>
            <a:ext cx="405383" cy="3703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38505" y="479551"/>
            <a:ext cx="6354470" cy="5699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58000" y="1355978"/>
            <a:ext cx="1427949" cy="34404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942973" y="1350136"/>
            <a:ext cx="2900172" cy="44970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877942" y="1350136"/>
            <a:ext cx="1180973" cy="41567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66572" y="2034920"/>
            <a:ext cx="79235" cy="792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38986" y="1923795"/>
            <a:ext cx="7345502" cy="34632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5"/>
              <a:t>@</a:t>
            </a:r>
            <a:r>
              <a:rPr dirty="0"/>
              <a:t>T</a:t>
            </a:r>
            <a:r>
              <a:rPr dirty="0" spc="5"/>
              <a:t>h</a:t>
            </a:r>
            <a:r>
              <a:rPr dirty="0"/>
              <a:t>eCodeTraveler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238492" y="6538876"/>
            <a:ext cx="5027930" cy="32956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800" spc="-5" b="0">
                <a:solidFill>
                  <a:srgbClr val="FFFFFF"/>
                </a:solidFill>
                <a:latin typeface="Segoe UI Semilight"/>
                <a:cs typeface="Segoe UI Semilight"/>
              </a:rPr>
              <a:t>https://</a:t>
            </a:r>
            <a:r>
              <a:rPr dirty="0" sz="1800" spc="-5" b="0">
                <a:solidFill>
                  <a:srgbClr val="FFFFFF"/>
                </a:solidFill>
                <a:latin typeface="Segoe UI Semilight"/>
                <a:cs typeface="Segoe UI Semilight"/>
                <a:hlinkClick r:id="rId9"/>
              </a:rPr>
              <a:t>www.codetraveler.io/NDCOslo-AsyncAwait/</a:t>
            </a:r>
            <a:endParaRPr sz="1800">
              <a:latin typeface="Segoe UI Semilight"/>
              <a:cs typeface="Segoe UI Semiligh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435840" cy="6995159"/>
          </a:xfrm>
          <a:custGeom>
            <a:avLst/>
            <a:gdLst/>
            <a:ahLst/>
            <a:cxnLst/>
            <a:rect l="l" t="t" r="r" b="b"/>
            <a:pathLst>
              <a:path w="12435840" h="6995159">
                <a:moveTo>
                  <a:pt x="0" y="6995159"/>
                </a:moveTo>
                <a:lnTo>
                  <a:pt x="12435840" y="6995159"/>
                </a:lnTo>
                <a:lnTo>
                  <a:pt x="12435840" y="0"/>
                </a:lnTo>
                <a:lnTo>
                  <a:pt x="0" y="0"/>
                </a:lnTo>
                <a:lnTo>
                  <a:pt x="0" y="6995159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25979" y="6522719"/>
            <a:ext cx="405383" cy="3703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38505" y="479551"/>
            <a:ext cx="6354470" cy="5699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58000" y="1355978"/>
            <a:ext cx="1338541" cy="34404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26132" y="1355978"/>
            <a:ext cx="1771395" cy="34404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619753" y="1353565"/>
            <a:ext cx="83058" cy="807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66572" y="2034920"/>
            <a:ext cx="79235" cy="792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13675" y="1921255"/>
            <a:ext cx="5966066" cy="34886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66572" y="2504312"/>
            <a:ext cx="79235" cy="792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138986" y="2403220"/>
            <a:ext cx="1014044" cy="25717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295144" y="2393187"/>
            <a:ext cx="5184139" cy="34632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5"/>
              <a:t>@</a:t>
            </a:r>
            <a:r>
              <a:rPr dirty="0"/>
              <a:t>T</a:t>
            </a:r>
            <a:r>
              <a:rPr dirty="0" spc="5"/>
              <a:t>h</a:t>
            </a:r>
            <a:r>
              <a:rPr dirty="0"/>
              <a:t>eCodeTraveler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238492" y="6538876"/>
            <a:ext cx="5027930" cy="32956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800" spc="-5" b="0">
                <a:solidFill>
                  <a:srgbClr val="FFFFFF"/>
                </a:solidFill>
                <a:latin typeface="Segoe UI Semilight"/>
                <a:cs typeface="Segoe UI Semilight"/>
              </a:rPr>
              <a:t>https://</a:t>
            </a:r>
            <a:r>
              <a:rPr dirty="0" sz="1800" spc="-5" b="0">
                <a:solidFill>
                  <a:srgbClr val="FFFFFF"/>
                </a:solidFill>
                <a:latin typeface="Segoe UI Semilight"/>
                <a:cs typeface="Segoe UI Semilight"/>
                <a:hlinkClick r:id="rId12"/>
              </a:rPr>
              <a:t>www.codetraveler.io/NDCOslo-AsyncAwait/</a:t>
            </a:r>
            <a:endParaRPr sz="1800">
              <a:latin typeface="Segoe UI Semilight"/>
              <a:cs typeface="Segoe UI Semiligh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435840" cy="1516380"/>
          </a:xfrm>
          <a:custGeom>
            <a:avLst/>
            <a:gdLst/>
            <a:ahLst/>
            <a:cxnLst/>
            <a:rect l="l" t="t" r="r" b="b"/>
            <a:pathLst>
              <a:path w="12435840" h="1516380">
                <a:moveTo>
                  <a:pt x="0" y="1516380"/>
                </a:moveTo>
                <a:lnTo>
                  <a:pt x="12435840" y="1516380"/>
                </a:lnTo>
                <a:lnTo>
                  <a:pt x="12435840" y="0"/>
                </a:lnTo>
                <a:lnTo>
                  <a:pt x="0" y="0"/>
                </a:lnTo>
                <a:lnTo>
                  <a:pt x="0" y="1516380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5478779"/>
            <a:ext cx="12435840" cy="1516380"/>
          </a:xfrm>
          <a:custGeom>
            <a:avLst/>
            <a:gdLst/>
            <a:ahLst/>
            <a:cxnLst/>
            <a:rect l="l" t="t" r="r" b="b"/>
            <a:pathLst>
              <a:path w="12435840" h="1516379">
                <a:moveTo>
                  <a:pt x="0" y="1516379"/>
                </a:moveTo>
                <a:lnTo>
                  <a:pt x="12435840" y="1516379"/>
                </a:lnTo>
                <a:lnTo>
                  <a:pt x="12435840" y="0"/>
                </a:lnTo>
                <a:lnTo>
                  <a:pt x="0" y="0"/>
                </a:lnTo>
                <a:lnTo>
                  <a:pt x="0" y="1516379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125979" y="6522719"/>
            <a:ext cx="405383" cy="3703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1516379"/>
            <a:ext cx="12435840" cy="3962400"/>
          </a:xfrm>
          <a:custGeom>
            <a:avLst/>
            <a:gdLst/>
            <a:ahLst/>
            <a:cxnLst/>
            <a:rect l="l" t="t" r="r" b="b"/>
            <a:pathLst>
              <a:path w="12435840" h="3962400">
                <a:moveTo>
                  <a:pt x="0" y="3962400"/>
                </a:moveTo>
                <a:lnTo>
                  <a:pt x="12435840" y="3962400"/>
                </a:lnTo>
                <a:lnTo>
                  <a:pt x="12435840" y="0"/>
                </a:lnTo>
                <a:lnTo>
                  <a:pt x="0" y="0"/>
                </a:lnTo>
                <a:lnTo>
                  <a:pt x="0" y="3962400"/>
                </a:lnTo>
                <a:close/>
              </a:path>
            </a:pathLst>
          </a:custGeom>
          <a:solidFill>
            <a:srgbClr val="FFB8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3828" y="2409443"/>
            <a:ext cx="3096958" cy="59715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1105" y="4375657"/>
            <a:ext cx="4699495" cy="3947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605526" y="4375657"/>
            <a:ext cx="1533237" cy="3061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185786" y="4548657"/>
            <a:ext cx="108681" cy="1788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330313" y="4391913"/>
            <a:ext cx="2064003" cy="38049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5"/>
              <a:t>@</a:t>
            </a:r>
            <a:r>
              <a:rPr dirty="0"/>
              <a:t>T</a:t>
            </a:r>
            <a:r>
              <a:rPr dirty="0" spc="5"/>
              <a:t>h</a:t>
            </a:r>
            <a:r>
              <a:rPr dirty="0"/>
              <a:t>eCodeTraveler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238492" y="6538876"/>
            <a:ext cx="5027930" cy="32956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800" spc="-5" b="0">
                <a:solidFill>
                  <a:srgbClr val="FFFFFF"/>
                </a:solidFill>
                <a:latin typeface="Segoe UI Semilight"/>
                <a:cs typeface="Segoe UI Semilight"/>
              </a:rPr>
              <a:t>https://</a:t>
            </a:r>
            <a:r>
              <a:rPr dirty="0" sz="1800" spc="-5" b="0">
                <a:solidFill>
                  <a:srgbClr val="FFFFFF"/>
                </a:solidFill>
                <a:latin typeface="Segoe UI Semilight"/>
                <a:cs typeface="Segoe UI Semilight"/>
                <a:hlinkClick r:id="rId8"/>
              </a:rPr>
              <a:t>www.codetraveler.io/NDCOslo-AsyncAwait/</a:t>
            </a:r>
            <a:endParaRPr sz="1800">
              <a:latin typeface="Segoe UI Semilight"/>
              <a:cs typeface="Segoe UI Semiligh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435840" cy="1516380"/>
          </a:xfrm>
          <a:custGeom>
            <a:avLst/>
            <a:gdLst/>
            <a:ahLst/>
            <a:cxnLst/>
            <a:rect l="l" t="t" r="r" b="b"/>
            <a:pathLst>
              <a:path w="12435840" h="1516380">
                <a:moveTo>
                  <a:pt x="0" y="1516380"/>
                </a:moveTo>
                <a:lnTo>
                  <a:pt x="12435840" y="1516380"/>
                </a:lnTo>
                <a:lnTo>
                  <a:pt x="12435840" y="0"/>
                </a:lnTo>
                <a:lnTo>
                  <a:pt x="0" y="0"/>
                </a:lnTo>
                <a:lnTo>
                  <a:pt x="0" y="1516380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5478779"/>
            <a:ext cx="12435840" cy="1516380"/>
          </a:xfrm>
          <a:custGeom>
            <a:avLst/>
            <a:gdLst/>
            <a:ahLst/>
            <a:cxnLst/>
            <a:rect l="l" t="t" r="r" b="b"/>
            <a:pathLst>
              <a:path w="12435840" h="1516379">
                <a:moveTo>
                  <a:pt x="0" y="1516379"/>
                </a:moveTo>
                <a:lnTo>
                  <a:pt x="12435840" y="1516379"/>
                </a:lnTo>
                <a:lnTo>
                  <a:pt x="12435840" y="0"/>
                </a:lnTo>
                <a:lnTo>
                  <a:pt x="0" y="0"/>
                </a:lnTo>
                <a:lnTo>
                  <a:pt x="0" y="1516379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125979" y="6522719"/>
            <a:ext cx="405383" cy="3703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1516379"/>
            <a:ext cx="12435840" cy="3962400"/>
          </a:xfrm>
          <a:custGeom>
            <a:avLst/>
            <a:gdLst/>
            <a:ahLst/>
            <a:cxnLst/>
            <a:rect l="l" t="t" r="r" b="b"/>
            <a:pathLst>
              <a:path w="12435840" h="3962400">
                <a:moveTo>
                  <a:pt x="0" y="3962400"/>
                </a:moveTo>
                <a:lnTo>
                  <a:pt x="12435840" y="3962400"/>
                </a:lnTo>
                <a:lnTo>
                  <a:pt x="12435840" y="0"/>
                </a:lnTo>
                <a:lnTo>
                  <a:pt x="0" y="0"/>
                </a:lnTo>
                <a:lnTo>
                  <a:pt x="0" y="3962400"/>
                </a:lnTo>
                <a:close/>
              </a:path>
            </a:pathLst>
          </a:custGeom>
          <a:solidFill>
            <a:srgbClr val="FFB8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63485" y="2375915"/>
            <a:ext cx="3206356" cy="63068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1296" y="4375657"/>
            <a:ext cx="4869738" cy="3947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775071" y="4375657"/>
            <a:ext cx="1564767" cy="3061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386828" y="4549636"/>
            <a:ext cx="108681" cy="2185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527670" y="4385817"/>
            <a:ext cx="2131568" cy="3865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5"/>
              <a:t>@</a:t>
            </a:r>
            <a:r>
              <a:rPr dirty="0"/>
              <a:t>T</a:t>
            </a:r>
            <a:r>
              <a:rPr dirty="0" spc="5"/>
              <a:t>h</a:t>
            </a:r>
            <a:r>
              <a:rPr dirty="0"/>
              <a:t>eCodeTraveler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238492" y="6538876"/>
            <a:ext cx="5027930" cy="32956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800" spc="-5" b="0">
                <a:solidFill>
                  <a:srgbClr val="FFFFFF"/>
                </a:solidFill>
                <a:latin typeface="Segoe UI Semilight"/>
                <a:cs typeface="Segoe UI Semilight"/>
              </a:rPr>
              <a:t>https://</a:t>
            </a:r>
            <a:r>
              <a:rPr dirty="0" sz="1800" spc="-5" b="0">
                <a:solidFill>
                  <a:srgbClr val="FFFFFF"/>
                </a:solidFill>
                <a:latin typeface="Segoe UI Semilight"/>
                <a:cs typeface="Segoe UI Semilight"/>
                <a:hlinkClick r:id="rId8"/>
              </a:rPr>
              <a:t>www.codetraveler.io/NDCOslo-AsyncAwait/</a:t>
            </a:r>
            <a:endParaRPr sz="1800">
              <a:latin typeface="Segoe UI Semilight"/>
              <a:cs typeface="Segoe UI Semi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2019-09-10T09:42:54Z</dcterms:created>
  <dcterms:modified xsi:type="dcterms:W3CDTF">2019-09-10T09:42:54Z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2019-06-20T00:00:00Z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2019-09-10T00:00:00Z</vt:filetime>
  </property>
</Properties>
</file>